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338" r:id="rId3"/>
    <p:sldId id="339" r:id="rId4"/>
    <p:sldId id="343" r:id="rId6"/>
    <p:sldId id="347" r:id="rId7"/>
    <p:sldId id="356" r:id="rId8"/>
    <p:sldId id="340" r:id="rId9"/>
    <p:sldId id="348" r:id="rId10"/>
    <p:sldId id="349" r:id="rId11"/>
    <p:sldId id="350" r:id="rId12"/>
    <p:sldId id="351" r:id="rId13"/>
    <p:sldId id="352" r:id="rId14"/>
    <p:sldId id="353" r:id="rId15"/>
    <p:sldId id="354" r:id="rId16"/>
    <p:sldId id="355" r:id="rId17"/>
    <p:sldId id="357" r:id="rId18"/>
    <p:sldId id="358" r:id="rId23"/>
    <p:sldId id="359" r:id="rId24"/>
    <p:sldId id="360" r:id="rId25"/>
    <p:sldId id="361" r:id="rId26"/>
    <p:sldId id="362" r:id="rId27"/>
    <p:sldId id="363" r:id="rId28"/>
    <p:sldId id="364" r:id="rId29"/>
    <p:sldId id="365" r:id="rId30"/>
    <p:sldId id="366" r:id="rId31"/>
    <p:sldId id="367" r:id="rId32"/>
    <p:sldId id="368" r:id="rId33"/>
    <p:sldId id="369" r:id="rId34"/>
    <p:sldId id="370" r:id="rId35"/>
    <p:sldId id="371" r:id="rId36"/>
    <p:sldId id="372" r:id="rId37"/>
    <p:sldId id="373" r:id="rId38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D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73" autoAdjust="0"/>
    <p:restoredTop sz="84590" autoAdjust="0"/>
  </p:normalViewPr>
  <p:slideViewPr>
    <p:cSldViewPr snapToGrid="0" showGuides="1">
      <p:cViewPr varScale="1">
        <p:scale>
          <a:sx n="71" d="100"/>
          <a:sy n="71" d="100"/>
        </p:scale>
        <p:origin x="720" y="3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ableStyles" Target="tableStyles.xml"/><Relationship Id="rId22" Type="http://schemas.openxmlformats.org/officeDocument/2006/relationships/tags" Target="tags/tag33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37677E-7784-490B-8232-66DA1184CC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BC81B3-9E15-4673-AA53-82D49E516AF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目录页，根据每章内容来</a:t>
            </a:r>
            <a:endParaRPr lang="en-US" altLang="zh-CN" dirty="0"/>
          </a:p>
          <a:p>
            <a:r>
              <a:rPr lang="zh-CN" altLang="en-US" dirty="0"/>
              <a:t>理论篇三个部分示例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目录页，根据每章内容来</a:t>
            </a:r>
            <a:endParaRPr lang="en-US" altLang="zh-CN" dirty="0"/>
          </a:p>
          <a:p>
            <a:r>
              <a:rPr lang="zh-CN" altLang="en-US" dirty="0"/>
              <a:t>方法篇四个方法示例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提纲页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提纲页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提纲页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健康社会决定因素模型说明：教材介绍Dahlgren与Whitehead于1991年提出的五层嵌套模型。页面中心暂用“个体基础因素”；教材正文写“不同基因的个体”，原图则列年龄、性别和遗传因素，二者表述差异保留待学术疑点核对。生活和工作条件的示例来自原图，包括住房、工作环境、保健服务、水与卫生设施。图中嵌套表示层级，外层条件影响内层因素；该结构本身不证明单一因果路径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 userDrawn="1"/>
        </p:nvCxnSpPr>
        <p:spPr>
          <a:xfrm>
            <a:off x="908665" y="694806"/>
            <a:ext cx="1037467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7"/>
          <p:cNvGrpSpPr/>
          <p:nvPr userDrawn="1"/>
        </p:nvGrpSpPr>
        <p:grpSpPr bwMode="auto">
          <a:xfrm>
            <a:off x="353808" y="334778"/>
            <a:ext cx="390372" cy="205979"/>
            <a:chOff x="0" y="0"/>
            <a:chExt cx="1041399" cy="549275"/>
          </a:xfrm>
        </p:grpSpPr>
        <p:sp>
          <p:nvSpPr>
            <p:cNvPr id="8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9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0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12" name="TextBox 15"/>
          <p:cNvSpPr txBox="1"/>
          <p:nvPr userDrawn="1"/>
        </p:nvSpPr>
        <p:spPr>
          <a:xfrm>
            <a:off x="11816551" y="6581001"/>
            <a:ext cx="37544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000" b="0" smtClean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</a:fld>
            <a:r>
              <a:rPr lang="zh-CN" altLang="en-US" sz="1000" b="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 </a:t>
            </a:r>
            <a:endParaRPr lang="zh-CN" altLang="en-US" sz="1000" b="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922655" y="37465"/>
            <a:ext cx="10515600" cy="612140"/>
          </a:xfrm>
          <a:prstGeom prst="rect">
            <a:avLst/>
          </a:prstGeom>
        </p:spPr>
        <p:txBody>
          <a:bodyPr/>
          <a:lstStyle>
            <a:lvl1pPr marL="0" marR="0" lvl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  <a:defRPr kumimoji="0" lang="zh-CN" altLang="en-US" sz="3200" b="1" i="0" u="none" strike="noStrike" kern="1200" cap="none" spc="0" normalizeH="0" baseline="0" noProof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922655" y="1131570"/>
            <a:ext cx="10515600" cy="5050790"/>
          </a:xfrm>
          <a:prstGeom prst="rect">
            <a:avLst/>
          </a:prstGeom>
        </p:spPr>
        <p:txBody>
          <a:bodyPr/>
          <a:lstStyle>
            <a:lvl1pPr eaLnBrk="1" fontAlgn="auto" latinLnBrk="0" hangingPunct="1">
              <a:lnSpc>
                <a:spcPct val="150000"/>
              </a:lnSpc>
              <a:buFont typeface="Wingdings" panose="05000000000000000000" charset="0"/>
              <a:buChar char="l"/>
              <a:defRPr kumimoji="0" lang="zh-CN" altLang="en-US" sz="2800" b="1" i="0" u="none" strike="noStrike" kern="1200" cap="none" spc="0" normalizeH="0" baseline="0" noProof="1" dirty="0">
                <a:solidFill>
                  <a:srgbClr val="4B649F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defRPr>
            </a:lvl1pPr>
            <a:lvl2pPr eaLnBrk="1" fontAlgn="auto" latinLnBrk="0" hangingPunct="1">
              <a:lnSpc>
                <a:spcPct val="150000"/>
              </a:lnSpc>
              <a:buFont typeface="Wingdings" panose="05000000000000000000" charset="0"/>
              <a:buChar char="n"/>
              <a:defRPr kumimoji="0" lang="zh-CN" altLang="en-US" sz="2400" b="0" i="0" u="none" strike="noStrike" kern="1200" cap="none" spc="0" normalizeH="0" baseline="0" noProof="1" dirty="0">
                <a:solidFill>
                  <a:srgbClr val="4B649F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defRPr>
            </a:lvl2pPr>
            <a:lvl3pPr eaLnBrk="1" fontAlgn="auto" latinLnBrk="0" hangingPunct="1">
              <a:lnSpc>
                <a:spcPct val="150000"/>
              </a:lnSpc>
              <a:buFont typeface="Wingdings" panose="05000000000000000000" charset="0"/>
              <a:buChar char="u"/>
              <a:defRPr kumimoji="0" lang="zh-CN" altLang="en-US" sz="2000" b="0" i="0" u="none" strike="noStrike" kern="1200" cap="none" spc="0" normalizeH="0" baseline="0" noProof="1" dirty="0">
                <a:solidFill>
                  <a:srgbClr val="4B649F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defRPr>
            </a:lvl3pPr>
            <a:lvl4pPr eaLnBrk="1" fontAlgn="auto" latinLnBrk="0" hangingPunct="1">
              <a:lnSpc>
                <a:spcPct val="150000"/>
              </a:lnSpc>
              <a:defRPr/>
            </a:lvl4pPr>
            <a:lvl5pPr eaLnBrk="1" fontAlgn="auto" latinLnBrk="0" hangingPunct="1">
              <a:lnSpc>
                <a:spcPct val="15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908665" y="694806"/>
            <a:ext cx="1037467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 userDrawn="1"/>
        </p:nvGrpSpPr>
        <p:grpSpPr bwMode="auto">
          <a:xfrm>
            <a:off x="353808" y="334778"/>
            <a:ext cx="390372" cy="205979"/>
            <a:chOff x="0" y="0"/>
            <a:chExt cx="1041399" cy="549275"/>
          </a:xfrm>
        </p:grpSpPr>
        <p:sp>
          <p:nvSpPr>
            <p:cNvPr id="9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0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1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922655" y="37465"/>
            <a:ext cx="10515600" cy="612140"/>
          </a:xfrm>
          <a:prstGeom prst="rect">
            <a:avLst/>
          </a:prstGeom>
        </p:spPr>
        <p:txBody>
          <a:bodyPr/>
          <a:lstStyle>
            <a:lvl1pPr marL="0" marR="0" lvl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  <a:defRPr kumimoji="0" lang="zh-CN" altLang="en-US" sz="3200" b="1" i="0" u="none" strike="noStrike" kern="1200" cap="none" spc="0" normalizeH="0" baseline="0" noProof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3" name="内容占位符 2"/>
          <p:cNvSpPr>
            <a:spLocks noGrp="1"/>
          </p:cNvSpPr>
          <p:nvPr>
            <p:ph idx="1"/>
          </p:nvPr>
        </p:nvSpPr>
        <p:spPr>
          <a:xfrm>
            <a:off x="922655" y="1131570"/>
            <a:ext cx="10515600" cy="5050790"/>
          </a:xfrm>
          <a:prstGeom prst="rect">
            <a:avLst/>
          </a:prstGeom>
        </p:spPr>
        <p:txBody>
          <a:bodyPr/>
          <a:lstStyle>
            <a:lvl1pPr eaLnBrk="1" fontAlgn="auto" latinLnBrk="0" hangingPunct="1">
              <a:lnSpc>
                <a:spcPct val="150000"/>
              </a:lnSpc>
              <a:buFont typeface="Wingdings" panose="05000000000000000000" charset="0"/>
              <a:buChar char="l"/>
              <a:defRPr kumimoji="0" lang="zh-CN" altLang="en-US" sz="2800" b="1" i="0" u="none" strike="noStrike" kern="1200" cap="none" spc="0" normalizeH="0" baseline="0" noProof="1" dirty="0">
                <a:solidFill>
                  <a:srgbClr val="4B649F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defRPr>
            </a:lvl1pPr>
            <a:lvl2pPr eaLnBrk="1" fontAlgn="auto" latinLnBrk="0" hangingPunct="1">
              <a:lnSpc>
                <a:spcPct val="150000"/>
              </a:lnSpc>
              <a:buFont typeface="Wingdings" panose="05000000000000000000" charset="0"/>
              <a:buChar char="n"/>
              <a:defRPr kumimoji="0" lang="zh-CN" altLang="en-US" sz="2400" b="0" i="0" u="none" strike="noStrike" kern="1200" cap="none" spc="0" normalizeH="0" baseline="0" noProof="1" dirty="0">
                <a:solidFill>
                  <a:srgbClr val="4B649F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defRPr>
            </a:lvl2pPr>
            <a:lvl3pPr eaLnBrk="1" fontAlgn="auto" latinLnBrk="0" hangingPunct="1">
              <a:lnSpc>
                <a:spcPct val="150000"/>
              </a:lnSpc>
              <a:buFont typeface="Wingdings" panose="05000000000000000000" charset="0"/>
              <a:buChar char="u"/>
              <a:defRPr kumimoji="0" lang="zh-CN" altLang="en-US" sz="2000" b="0" i="0" u="none" strike="noStrike" kern="1200" cap="none" spc="0" normalizeH="0" baseline="0" noProof="1" dirty="0">
                <a:solidFill>
                  <a:srgbClr val="4B649F"/>
                </a:solidFill>
                <a:latin typeface="Arial" panose="020B0604020202020204" pitchFamily="34" charset="0"/>
                <a:ea typeface="微软雅黑" panose="020B0503020204020204" charset="-122"/>
                <a:cs typeface="+mn-cs"/>
                <a:sym typeface="Arial" panose="020B0604020202020204" pitchFamily="34" charset="0"/>
              </a:defRPr>
            </a:lvl3pPr>
            <a:lvl4pPr eaLnBrk="1" fontAlgn="auto" latinLnBrk="0" hangingPunct="1">
              <a:lnSpc>
                <a:spcPct val="150000"/>
              </a:lnSpc>
              <a:defRPr/>
            </a:lvl4pPr>
            <a:lvl5pPr eaLnBrk="1" fontAlgn="auto" latinLnBrk="0" hangingPunct="1">
              <a:lnSpc>
                <a:spcPct val="15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2A434B-B7BB-40FF-8A6C-5073EE7075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AC11A5-AE75-4948-AE6D-C3F23B4C90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2A434B-B7BB-40FF-8A6C-5073EE7075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AC11A5-AE75-4948-AE6D-C3F23B4C90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2A434B-B7BB-40FF-8A6C-5073EE7075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AC11A5-AE75-4948-AE6D-C3F23B4C90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2A434B-B7BB-40FF-8A6C-5073EE7075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AC11A5-AE75-4948-AE6D-C3F23B4C90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2A434B-B7BB-40FF-8A6C-5073EE7075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AC11A5-AE75-4948-AE6D-C3F23B4C90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2A434B-B7BB-40FF-8A6C-5073EE7075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AC11A5-AE75-4948-AE6D-C3F23B4C90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2A434B-B7BB-40FF-8A6C-5073EE7075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AC11A5-AE75-4948-AE6D-C3F23B4C90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2A434B-B7BB-40FF-8A6C-5073EE7075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AC11A5-AE75-4948-AE6D-C3F23B4C90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2A434B-B7BB-40FF-8A6C-5073EE7075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AC11A5-AE75-4948-AE6D-C3F23B4C90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2A434B-B7BB-40FF-8A6C-5073EE7075D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AC11A5-AE75-4948-AE6D-C3F23B4C904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image" Target="../media/image2.png"/><Relationship Id="rId5" Type="http://schemas.microsoft.com/office/2007/relationships/hdphoto" Target="../media/image3.wdp"/><Relationship Id="rId6" Type="http://schemas.openxmlformats.org/officeDocument/2006/relationships/image" Target="../media/image4.jpeg"/><Relationship Id="rId7" Type="http://schemas.openxmlformats.org/officeDocument/2006/relationships/slideLayout" Target="../slideLayouts/slideLayout8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tags" Target="../tags/tag3.xml"/><Relationship Id="rId3" Type="http://schemas.openxmlformats.org/officeDocument/2006/relationships/tags" Target="../tags/tag4.xml"/><Relationship Id="rId4" Type="http://schemas.openxmlformats.org/officeDocument/2006/relationships/tags" Target="../tags/tag5.xml"/><Relationship Id="rId5" Type="http://schemas.openxmlformats.org/officeDocument/2006/relationships/tags" Target="../tags/tag6.xml"/><Relationship Id="rId6" Type="http://schemas.openxmlformats.org/officeDocument/2006/relationships/tags" Target="../tags/tag7.xml"/><Relationship Id="rId7" Type="http://schemas.openxmlformats.org/officeDocument/2006/relationships/tags" Target="../tags/tag8.xml"/><Relationship Id="rId8" Type="http://schemas.openxmlformats.org/officeDocument/2006/relationships/tags" Target="../tags/tag9.xml"/><Relationship Id="rId9" Type="http://schemas.openxmlformats.org/officeDocument/2006/relationships/tags" Target="../tags/tag10.xml"/><Relationship Id="rId10" Type="http://schemas.openxmlformats.org/officeDocument/2006/relationships/tags" Target="../tags/tag11.xml"/><Relationship Id="rId11" Type="http://schemas.openxmlformats.org/officeDocument/2006/relationships/tags" Target="../tags/tag12.xml"/><Relationship Id="rId12" Type="http://schemas.openxmlformats.org/officeDocument/2006/relationships/tags" Target="../tags/tag13.xml"/><Relationship Id="rId13" Type="http://schemas.openxmlformats.org/officeDocument/2006/relationships/tags" Target="../tags/tag14.xml"/><Relationship Id="rId14" Type="http://schemas.openxmlformats.org/officeDocument/2006/relationships/slideLayout" Target="../slideLayouts/slideLayout13.xml"/><Relationship Id="rId15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Relationship Id="rId8" Type="http://schemas.openxmlformats.org/officeDocument/2006/relationships/tags" Target="../tags/tag22.xml"/><Relationship Id="rId9" Type="http://schemas.openxmlformats.org/officeDocument/2006/relationships/tags" Target="../tags/tag23.xml"/><Relationship Id="rId10" Type="http://schemas.openxmlformats.org/officeDocument/2006/relationships/tags" Target="../tags/tag24.xml"/><Relationship Id="rId11" Type="http://schemas.openxmlformats.org/officeDocument/2006/relationships/tags" Target="../tags/tag25.xml"/><Relationship Id="rId12" Type="http://schemas.openxmlformats.org/officeDocument/2006/relationships/tags" Target="../tags/tag26.xml"/><Relationship Id="rId13" Type="http://schemas.openxmlformats.org/officeDocument/2006/relationships/tags" Target="../tags/tag27.xml"/><Relationship Id="rId14" Type="http://schemas.openxmlformats.org/officeDocument/2006/relationships/tags" Target="../tags/tag28.xml"/><Relationship Id="rId15" Type="http://schemas.openxmlformats.org/officeDocument/2006/relationships/tags" Target="../tags/tag29.xml"/><Relationship Id="rId16" Type="http://schemas.openxmlformats.org/officeDocument/2006/relationships/tags" Target="../tags/tag30.xml"/><Relationship Id="rId17" Type="http://schemas.openxmlformats.org/officeDocument/2006/relationships/slideLayout" Target="../slideLayouts/slideLayout13.xml"/><Relationship Id="rId18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a14="http://schemas.microsoft.com/office/drawing/2010/main" xmlns:p="http://schemas.openxmlformats.org/presentationml/2006/main" xmlns:r="http://schemas.openxmlformats.org/officeDocument/2006/relationships">
  <p:cSld>
    <p:bg>
      <p:bgPr>
        <a:blipFill dpi="0" rotWithShape="1">
          <a:blip r:embed="rId1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9668" y="-20538"/>
            <a:ext cx="12201668" cy="3995908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3" name="Rectangle 3"/>
          <p:cNvSpPr/>
          <p:nvPr/>
        </p:nvSpPr>
        <p:spPr>
          <a:xfrm>
            <a:off x="-9525" y="1274445"/>
            <a:ext cx="12201525" cy="1595152"/>
          </a:xfrm>
          <a:prstGeom prst="rect">
            <a:avLst/>
          </a:prstGeom>
          <a:noFill/>
          <a:ln>
            <a:noFill/>
          </a:ln>
        </p:spPr>
        <p:txBody>
          <a:bodyPr wrap="none" lIns="0" tIns="491744" rIns="0" bIns="0" anchor="t" anchorCtr="0">
            <a:noAutofit/>
          </a:bodyPr>
          <a:lstStyle/>
          <a:p>
            <a:pPr algn="ctr"/>
            <a:r>
              <a:rPr lang="zh-CN" sz="5400" b="1" dirty="0">
                <a:solidFill>
                  <a:srgbClr val="FFFFFF"/>
                </a:solidFill>
                <a:latin typeface="Calibri Light"/>
                <a:ea typeface="Microsoft YaHei"/>
                <a:cs typeface="Calibri Light"/>
              </a:rPr>
              <a:t>卫生政策与管理研究框架</a:t>
            </a:r>
          </a:p>
        </p:txBody>
      </p:sp>
      <p:sp>
        <p:nvSpPr>
          <p:cNvPr id="5" name="文本框 12"/>
          <p:cNvSpPr/>
          <p:nvPr/>
        </p:nvSpPr>
        <p:spPr>
          <a:xfrm>
            <a:off x="0" y="4665345"/>
            <a:ext cx="12192000" cy="1308925"/>
          </a:xfrm>
          <a:prstGeom prst="rect">
            <a:avLst/>
          </a:prstGeom>
          <a:noFill/>
          <a:ln>
            <a:noFill/>
          </a:ln>
        </p:spPr>
      </p:sp>
      <p:sp>
        <p:nvSpPr>
          <p:cNvPr id="6" name="文本框 5"/>
          <p:cNvSpPr/>
          <p:nvPr/>
        </p:nvSpPr>
        <p:spPr>
          <a:xfrm>
            <a:off x="-9525" y="12097"/>
            <a:ext cx="6715125" cy="770858"/>
          </a:xfrm>
          <a:prstGeom prst="rect">
            <a:avLst/>
          </a:prstGeom>
          <a:noFill/>
          <a:ln>
            <a:noFill/>
          </a:ln>
        </p:spPr>
        <p:txBody>
          <a:bodyPr wrap="none" lIns="91440" tIns="185388" rIns="0" bIns="0" anchor="t" anchorCtr="0">
            <a:noAutofit/>
          </a:bodyPr>
          <a:lstStyle/>
          <a:p>
            <a:pPr algn="l"/>
            <a:r>
              <a:rPr lang="zh-CN" sz="28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《卫生政策与管理研究前沿》第六章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9951586" y="168640"/>
            <a:ext cx="2022766" cy="980898"/>
            <a:chOff x="8149680" y="2295050"/>
            <a:chExt cx="2022766" cy="980898"/>
          </a:xfrm>
        </p:grpSpPr>
        <p:sp>
          <p:nvSpPr>
            <p:cNvPr id="10" name="椭圆 9"/>
            <p:cNvSpPr>
              <a:spLocks noChangeAspect="1"/>
            </p:cNvSpPr>
            <p:nvPr/>
          </p:nvSpPr>
          <p:spPr>
            <a:xfrm>
              <a:off x="8149680" y="2295050"/>
              <a:ext cx="980898" cy="9808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>
              <a:spLocks noChangeAspect="1"/>
            </p:cNvSpPr>
            <p:nvPr/>
          </p:nvSpPr>
          <p:spPr>
            <a:xfrm>
              <a:off x="9191548" y="2295050"/>
              <a:ext cx="980898" cy="9808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8153561" y="2295050"/>
              <a:ext cx="2018885" cy="976313"/>
              <a:chOff x="9854614" y="218170"/>
              <a:chExt cx="2018885" cy="976313"/>
            </a:xfrm>
          </p:grpSpPr>
          <p:pic>
            <p:nvPicPr>
              <p:cNvPr id="13" name="Picture 10" descr="598px-Fudan_University_Emblem"/>
              <p:cNvPicPr>
                <a:picLocks noChangeAspect="1" noChangeArrowheads="1"/>
              </p:cNvPicPr>
              <p:nvPr>
                <p:custDataLst>
                  <p:tags r:id="rId3"/>
                </p:custDataLst>
              </p:nvPr>
            </p:nvPicPr>
            <p:blipFill>
              <a:blip r:embed="rId4">
                <a:extLst>
                  <a:ext uri="{BEBA8EAE-BF5A-486C-A8C5-ECC9F3942E4B}">
                    <a14:imgProps>
                      <a14:imgLayer r:embed="rId5">
                        <a14:imgEffect>
                          <a14:saturation sat="400000"/>
                        </a14:imgEffect>
                      </a14:imgLayer>
                    </a14:imgProps>
                  </a:ext>
                  <a:ext uri="{28A0092B-C50C-407E-A947-70E740481C1C}">
                    <a14:useLocalDpi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854614" y="218170"/>
                <a:ext cx="973137" cy="976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4" name="图片 13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val="0"/>
                  </a:ext>
                </a:extLst>
              </a:blip>
              <a:srcRect r="80781" b="1416"/>
              <a:stretch>
                <a:fillRect/>
              </a:stretch>
            </p:blipFill>
            <p:spPr>
              <a:xfrm>
                <a:off x="10892601" y="218170"/>
                <a:ext cx="980898" cy="976313"/>
              </a:xfrm>
              <a:prstGeom prst="ellipse">
                <a:avLst/>
              </a:prstGeom>
            </p:spPr>
          </p:pic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/>
          <p:nvPr/>
        </p:nvSpPr>
        <p:spPr>
          <a:xfrm>
            <a:off x="815435" y="572643"/>
            <a:ext cx="5776722" cy="588645"/>
          </a:xfrm>
          <a:prstGeom prst="rect">
            <a:avLst/>
          </a:prstGeom>
          <a:noFill/>
          <a:ln>
            <a:noFill/>
          </a:ln>
        </p:spPr>
        <p:txBody>
          <a:bodyPr wrap="none" lIns="0" tIns="-30662" rIns="0" bIns="0" anchor="t" anchorCtr="0">
            <a:noAutofit/>
          </a:bodyPr>
          <a:lstStyle/>
          <a:p>
            <a:pPr algn="ctr"/>
            <a:r>
              <a:rPr lang="zh-CN" sz="4270" b="1" dirty="0">
                <a:solidFill>
                  <a:srgbClr val="005DA2"/>
                </a:solidFill>
                <a:latin typeface="等线"/>
                <a:ea typeface="Microsoft YaHei"/>
                <a:cs typeface="等线"/>
              </a:rPr>
              <a:t>目录</a:t>
            </a:r>
          </a:p>
        </p:txBody>
      </p:sp>
      <p:cxnSp>
        <p:nvCxnSpPr>
          <p:cNvPr id="43" name="直接连接符 42"/>
          <p:cNvCxnSpPr/>
          <p:nvPr/>
        </p:nvCxnSpPr>
        <p:spPr>
          <a:xfrm>
            <a:off x="984776" y="1412777"/>
            <a:ext cx="10199803" cy="0"/>
          </a:xfrm>
          <a:prstGeom prst="line">
            <a:avLst/>
          </a:prstGeom>
          <a:ln>
            <a:solidFill>
              <a:srgbClr val="005D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平行四边形 45"/>
          <p:cNvSpPr/>
          <p:nvPr>
            <p:custDataLst>
              <p:tags r:id="rId2"/>
            </p:custDataLst>
          </p:nvPr>
        </p:nvSpPr>
        <p:spPr>
          <a:xfrm>
            <a:off x="3606812" y="2355746"/>
            <a:ext cx="1073726" cy="612920"/>
          </a:xfrm>
          <a:prstGeom prst="parallelogram">
            <a:avLst>
              <a:gd name="adj" fmla="val 48207"/>
            </a:avLst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70">
              <a:latin typeface="Impact" panose="020B0806030902050204" pitchFamily="34" charset="0"/>
            </a:endParaRPr>
          </a:p>
        </p:txBody>
      </p:sp>
      <p:sp>
        <p:nvSpPr>
          <p:cNvPr id="47" name="文本框 9"/>
          <p:cNvSpPr txBox="1"/>
          <p:nvPr>
            <p:custDataLst>
              <p:tags r:id="rId3"/>
            </p:custDataLst>
          </p:nvPr>
        </p:nvSpPr>
        <p:spPr>
          <a:xfrm>
            <a:off x="3803199" y="2341765"/>
            <a:ext cx="735226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35" dirty="0">
                <a:solidFill>
                  <a:schemeClr val="bg1"/>
                </a:solidFill>
                <a:latin typeface="Impact" panose="020B0806030902050204" pitchFamily="34" charset="0"/>
              </a:rPr>
              <a:t>01</a:t>
            </a:r>
            <a:endParaRPr lang="zh-CN" altLang="en-US" sz="3735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49" name="平行四边形 48"/>
          <p:cNvSpPr/>
          <p:nvPr>
            <p:custDataLst>
              <p:tags r:id="rId4"/>
            </p:custDataLst>
          </p:nvPr>
        </p:nvSpPr>
        <p:spPr>
          <a:xfrm>
            <a:off x="3611852" y="3567557"/>
            <a:ext cx="1073726" cy="612919"/>
          </a:xfrm>
          <a:prstGeom prst="parallelogram">
            <a:avLst>
              <a:gd name="adj" fmla="val 48207"/>
            </a:avLst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70">
              <a:latin typeface="Impact" panose="020B0806030902050204" pitchFamily="34" charset="0"/>
            </a:endParaRPr>
          </a:p>
        </p:txBody>
      </p:sp>
      <p:sp>
        <p:nvSpPr>
          <p:cNvPr id="50" name="文本框 10"/>
          <p:cNvSpPr txBox="1"/>
          <p:nvPr>
            <p:custDataLst>
              <p:tags r:id="rId5"/>
            </p:custDataLst>
          </p:nvPr>
        </p:nvSpPr>
        <p:spPr>
          <a:xfrm>
            <a:off x="3808239" y="3534199"/>
            <a:ext cx="735226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35" dirty="0">
                <a:solidFill>
                  <a:schemeClr val="bg1"/>
                </a:solidFill>
                <a:latin typeface="Impact" panose="020B0806030902050204" pitchFamily="34" charset="0"/>
              </a:rPr>
              <a:t>02</a:t>
            </a:r>
            <a:endParaRPr lang="zh-CN" altLang="en-US" sz="3735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52" name="平行四边形 51"/>
          <p:cNvSpPr/>
          <p:nvPr>
            <p:custDataLst>
              <p:tags r:id="rId6"/>
            </p:custDataLst>
          </p:nvPr>
        </p:nvSpPr>
        <p:spPr>
          <a:xfrm>
            <a:off x="3590374" y="4801018"/>
            <a:ext cx="1073726" cy="612921"/>
          </a:xfrm>
          <a:prstGeom prst="parallelogram">
            <a:avLst>
              <a:gd name="adj" fmla="val 48207"/>
            </a:avLst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70">
              <a:latin typeface="Impact" panose="020B0806030902050204" pitchFamily="34" charset="0"/>
            </a:endParaRPr>
          </a:p>
        </p:txBody>
      </p:sp>
      <p:sp>
        <p:nvSpPr>
          <p:cNvPr id="53" name="文本框 11"/>
          <p:cNvSpPr txBox="1"/>
          <p:nvPr>
            <p:custDataLst>
              <p:tags r:id="rId7"/>
            </p:custDataLst>
          </p:nvPr>
        </p:nvSpPr>
        <p:spPr>
          <a:xfrm>
            <a:off x="3786761" y="4778437"/>
            <a:ext cx="735226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35" dirty="0">
                <a:solidFill>
                  <a:schemeClr val="bg1"/>
                </a:solidFill>
                <a:latin typeface="Impact" panose="020B0806030902050204" pitchFamily="34" charset="0"/>
              </a:rPr>
              <a:t>03</a:t>
            </a:r>
            <a:endParaRPr lang="zh-CN" altLang="en-US" sz="3735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5551551" y="2384679"/>
            <a:ext cx="2857500" cy="502444"/>
          </a:xfrm>
          <a:prstGeom prst="rect">
            <a:avLst/>
          </a:prstGeom>
          <a:noFill/>
          <a:ln>
            <a:noFill/>
          </a:ln>
        </p:spPr>
        <p:txBody>
          <a:bodyPr wrap="none" lIns="91440" tIns="45747" rIns="0" bIns="0" anchor="t" anchorCtr="0">
            <a:noAutofit/>
          </a:bodyPr>
          <a:lstStyle/>
          <a:p>
            <a:pPr algn="l"/>
            <a:r>
              <a:rPr lang="zh-CN" sz="2660" b="1" dirty="0">
                <a:solidFill>
                  <a:srgbClr val="005DA2"/>
                </a:solidFill>
                <a:latin typeface="Microsoft YaHei"/>
                <a:ea typeface="Microsoft YaHei"/>
                <a:cs typeface="Microsoft YaHei"/>
              </a:rPr>
              <a:t xml:space="preserve">第一节  概述</a:t>
            </a:r>
          </a:p>
        </p:txBody>
      </p:sp>
      <p:sp>
        <p:nvSpPr>
          <p:cNvPr id="62" name="平行四边形 61"/>
          <p:cNvSpPr/>
          <p:nvPr>
            <p:custDataLst>
              <p:tags r:id="rId9"/>
            </p:custDataLst>
          </p:nvPr>
        </p:nvSpPr>
        <p:spPr>
          <a:xfrm>
            <a:off x="4512483" y="2333567"/>
            <a:ext cx="3854647" cy="612921"/>
          </a:xfrm>
          <a:prstGeom prst="parallelogram">
            <a:avLst>
              <a:gd name="adj" fmla="val 48207"/>
            </a:avLst>
          </a:prstGeom>
          <a:noFill/>
          <a:ln w="15875">
            <a:solidFill>
              <a:srgbClr val="005D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3" rIns="91440" bIns="45723" rtlCol="0" anchor="ctr"/>
          <a:lstStyle/>
          <a:p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5556599" y="3593116"/>
            <a:ext cx="3143250" cy="502444"/>
          </a:xfrm>
          <a:prstGeom prst="rect">
            <a:avLst/>
          </a:prstGeom>
          <a:noFill/>
          <a:ln>
            <a:noFill/>
          </a:ln>
        </p:spPr>
        <p:txBody>
          <a:bodyPr wrap="none" lIns="91440" tIns="45678" rIns="0" bIns="0" anchor="t" anchorCtr="0">
            <a:noAutofit/>
          </a:bodyPr>
          <a:lstStyle/>
          <a:p>
            <a:pPr algn="l"/>
            <a:r>
              <a:rPr lang="zh-CN" sz="2660" b="1" dirty="0">
                <a:solidFill>
                  <a:srgbClr val="005DA2"/>
                </a:solidFill>
                <a:latin typeface="Microsoft YaHei"/>
                <a:ea typeface="Microsoft YaHei"/>
                <a:cs typeface="Microsoft YaHei"/>
              </a:rPr>
              <a:t xml:space="preserve">第二节  常用框架</a:t>
            </a:r>
          </a:p>
        </p:txBody>
      </p:sp>
      <p:sp>
        <p:nvSpPr>
          <p:cNvPr id="65" name="平行四边形 64"/>
          <p:cNvSpPr/>
          <p:nvPr>
            <p:custDataLst>
              <p:tags r:id="rId11"/>
            </p:custDataLst>
          </p:nvPr>
        </p:nvSpPr>
        <p:spPr>
          <a:xfrm>
            <a:off x="4517520" y="3545391"/>
            <a:ext cx="3854647" cy="612921"/>
          </a:xfrm>
          <a:prstGeom prst="parallelogram">
            <a:avLst>
              <a:gd name="adj" fmla="val 48207"/>
            </a:avLst>
          </a:prstGeom>
          <a:noFill/>
          <a:ln w="15875">
            <a:solidFill>
              <a:srgbClr val="005D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3" rIns="91440" bIns="45723" rtlCol="0" anchor="ctr"/>
          <a:lstStyle/>
          <a:p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5535168" y="4834509"/>
            <a:ext cx="3143250" cy="502444"/>
          </a:xfrm>
          <a:prstGeom prst="rect">
            <a:avLst/>
          </a:prstGeom>
          <a:noFill/>
          <a:ln>
            <a:noFill/>
          </a:ln>
        </p:spPr>
        <p:txBody>
          <a:bodyPr wrap="none" lIns="91440" tIns="45709" rIns="0" bIns="0" anchor="t" anchorCtr="0">
            <a:noAutofit/>
          </a:bodyPr>
          <a:lstStyle/>
          <a:p>
            <a:pPr algn="l"/>
            <a:r>
              <a:rPr lang="zh-CN" sz="2660" b="1" dirty="0">
                <a:solidFill>
                  <a:srgbClr val="005DA2"/>
                </a:solidFill>
                <a:latin typeface="Microsoft YaHei"/>
                <a:ea typeface="Microsoft YaHei"/>
                <a:cs typeface="Microsoft YaHei"/>
              </a:rPr>
              <a:t xml:space="preserve">第三节  框架应用</a:t>
            </a:r>
          </a:p>
        </p:txBody>
      </p:sp>
      <p:sp>
        <p:nvSpPr>
          <p:cNvPr id="68" name="平行四边形 67"/>
          <p:cNvSpPr/>
          <p:nvPr>
            <p:custDataLst>
              <p:tags r:id="rId13"/>
            </p:custDataLst>
          </p:nvPr>
        </p:nvSpPr>
        <p:spPr>
          <a:xfrm>
            <a:off x="4496046" y="4779374"/>
            <a:ext cx="3854647" cy="612921"/>
          </a:xfrm>
          <a:prstGeom prst="parallelogram">
            <a:avLst>
              <a:gd name="adj" fmla="val 48207"/>
            </a:avLst>
          </a:prstGeom>
          <a:noFill/>
          <a:ln w="15875">
            <a:solidFill>
              <a:srgbClr val="005D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3" rIns="91440" bIns="45723" rtlCol="0" anchor="ctr"/>
          <a:lstStyle/>
          <a:p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shape-70"/>
          <p:cNvSpPr/>
          <p:nvPr/>
        </p:nvSpPr>
        <p:spPr>
          <a:xfrm>
            <a:off x="3606832" y="5905500"/>
            <a:ext cx="1073753" cy="612934"/>
          </a:xfrm>
          <a:prstGeom prst="parallelogram">
            <a:avLst>
              <a:gd name="adj" fmla="val 48207"/>
            </a:avLst>
          </a:prstGeom>
          <a:solidFill>
            <a:srgbClr val="005DA2"/>
          </a:solidFill>
          <a:ln>
            <a:noFill/>
          </a:ln>
        </p:spPr>
      </p:sp>
      <p:sp>
        <p:nvSpPr>
          <p:cNvPr id="18" name="shape-71"/>
          <p:cNvSpPr/>
          <p:nvPr/>
        </p:nvSpPr>
        <p:spPr>
          <a:xfrm>
            <a:off x="3803237" y="5876925"/>
            <a:ext cx="735235" cy="66675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0" bIns="0" anchor="t" anchorCtr="0">
            <a:noAutofit/>
          </a:bodyPr>
          <a:lstStyle/>
          <a:p>
            <a:pPr algn="l"/>
            <a:r>
              <a:rPr lang="en-US" sz="3740" dirty="0">
                <a:solidFill>
                  <a:srgbClr val="FFFFFF"/>
                </a:solidFill>
                <a:latin typeface="Impact"/>
                <a:ea typeface="Impact"/>
                <a:cs typeface="Impact"/>
              </a:rPr>
              <a:t>04</a:t>
            </a:r>
          </a:p>
        </p:txBody>
      </p:sp>
      <p:sp>
        <p:nvSpPr>
          <p:cNvPr id="20" name="shape-72"/>
          <p:cNvSpPr/>
          <p:nvPr/>
        </p:nvSpPr>
        <p:spPr>
          <a:xfrm>
            <a:off x="5551551" y="5876925"/>
            <a:ext cx="3333750" cy="612934"/>
          </a:xfrm>
          <a:prstGeom prst="parallelogram">
            <a:avLst>
              <a:gd name="adj" fmla="val 48207"/>
            </a:avLst>
          </a:prstGeom>
          <a:noFill/>
          <a:ln w="15875">
            <a:solidFill>
              <a:srgbClr val="005DA2"/>
            </a:solidFill>
          </a:ln>
        </p:spPr>
        <p:txBody>
          <a:bodyPr wrap="none" lIns="91440" tIns="96520" rIns="0" bIns="0" anchor="t" anchorCtr="0">
            <a:noAutofit/>
          </a:bodyPr>
          <a:lstStyle/>
          <a:p>
            <a:pPr algn="l"/>
            <a:r>
              <a:rPr lang="zh-CN" sz="2660" b="1" dirty="0">
                <a:solidFill>
                  <a:srgbClr val="005DA2"/>
                </a:solidFill>
                <a:latin typeface="Microsoft YaHei"/>
                <a:ea typeface="Microsoft YaHei"/>
                <a:cs typeface="Microsoft YaHei"/>
              </a:rPr>
              <a:t xml:space="preserve">第四节  挑战与趋势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/>
          <p:nvPr/>
        </p:nvSpPr>
        <p:spPr>
          <a:xfrm>
            <a:off x="815435" y="572643"/>
            <a:ext cx="5776722" cy="588645"/>
          </a:xfrm>
          <a:prstGeom prst="rect">
            <a:avLst/>
          </a:prstGeom>
          <a:noFill/>
          <a:ln>
            <a:noFill/>
          </a:ln>
        </p:spPr>
        <p:txBody>
          <a:bodyPr wrap="none" lIns="0" tIns="-30662" rIns="0" bIns="0" anchor="t" anchorCtr="0">
            <a:noAutofit/>
          </a:bodyPr>
          <a:lstStyle/>
          <a:p>
            <a:pPr algn="ctr"/>
            <a:r>
              <a:rPr lang="zh-CN" sz="4270" b="1" dirty="0">
                <a:solidFill>
                  <a:srgbClr val="005DA2"/>
                </a:solidFill>
                <a:latin typeface="等线"/>
                <a:ea typeface="Microsoft YaHei"/>
                <a:cs typeface="等线"/>
              </a:rPr>
              <a:t xml:space="preserve">第一节  概述</a:t>
            </a:r>
          </a:p>
        </p:txBody>
      </p:sp>
      <p:cxnSp>
        <p:nvCxnSpPr>
          <p:cNvPr id="43" name="直接连接符 42"/>
          <p:cNvCxnSpPr/>
          <p:nvPr/>
        </p:nvCxnSpPr>
        <p:spPr>
          <a:xfrm>
            <a:off x="984776" y="1412777"/>
            <a:ext cx="10199803" cy="0"/>
          </a:xfrm>
          <a:prstGeom prst="line">
            <a:avLst/>
          </a:prstGeom>
          <a:ln>
            <a:solidFill>
              <a:srgbClr val="005D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平行四边形 45"/>
          <p:cNvSpPr/>
          <p:nvPr>
            <p:custDataLst>
              <p:tags r:id="rId1"/>
            </p:custDataLst>
          </p:nvPr>
        </p:nvSpPr>
        <p:spPr>
          <a:xfrm>
            <a:off x="3840728" y="2046453"/>
            <a:ext cx="1073726" cy="612920"/>
          </a:xfrm>
          <a:prstGeom prst="parallelogram">
            <a:avLst>
              <a:gd name="adj" fmla="val 48207"/>
            </a:avLst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70">
              <a:latin typeface="Impact" panose="020B0806030902050204" pitchFamily="34" charset="0"/>
            </a:endParaRPr>
          </a:p>
        </p:txBody>
      </p:sp>
      <p:sp>
        <p:nvSpPr>
          <p:cNvPr id="47" name="文本框 9"/>
          <p:cNvSpPr txBox="1"/>
          <p:nvPr>
            <p:custDataLst>
              <p:tags r:id="rId2"/>
            </p:custDataLst>
          </p:nvPr>
        </p:nvSpPr>
        <p:spPr>
          <a:xfrm>
            <a:off x="4037115" y="2032472"/>
            <a:ext cx="735226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35" dirty="0">
                <a:solidFill>
                  <a:schemeClr val="bg1"/>
                </a:solidFill>
                <a:latin typeface="Impact" panose="020B0806030902050204" pitchFamily="34" charset="0"/>
              </a:rPr>
              <a:t>01</a:t>
            </a:r>
            <a:endParaRPr lang="zh-CN" altLang="en-US" sz="3735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49" name="平行四边形 48"/>
          <p:cNvSpPr/>
          <p:nvPr>
            <p:custDataLst>
              <p:tags r:id="rId3"/>
            </p:custDataLst>
          </p:nvPr>
        </p:nvSpPr>
        <p:spPr>
          <a:xfrm>
            <a:off x="3845768" y="3258264"/>
            <a:ext cx="1073726" cy="612919"/>
          </a:xfrm>
          <a:prstGeom prst="parallelogram">
            <a:avLst>
              <a:gd name="adj" fmla="val 48207"/>
            </a:avLst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70">
              <a:latin typeface="Impact" panose="020B0806030902050204" pitchFamily="34" charset="0"/>
            </a:endParaRPr>
          </a:p>
        </p:txBody>
      </p:sp>
      <p:sp>
        <p:nvSpPr>
          <p:cNvPr id="50" name="文本框 10"/>
          <p:cNvSpPr txBox="1"/>
          <p:nvPr>
            <p:custDataLst>
              <p:tags r:id="rId4"/>
            </p:custDataLst>
          </p:nvPr>
        </p:nvSpPr>
        <p:spPr>
          <a:xfrm>
            <a:off x="4042155" y="3224906"/>
            <a:ext cx="735226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35" dirty="0">
                <a:solidFill>
                  <a:schemeClr val="bg1"/>
                </a:solidFill>
                <a:latin typeface="Impact" panose="020B0806030902050204" pitchFamily="34" charset="0"/>
              </a:rPr>
              <a:t>02</a:t>
            </a:r>
            <a:endParaRPr lang="zh-CN" altLang="en-US" sz="3735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52" name="平行四边形 51"/>
          <p:cNvSpPr/>
          <p:nvPr>
            <p:custDataLst>
              <p:tags r:id="rId5"/>
            </p:custDataLst>
          </p:nvPr>
        </p:nvSpPr>
        <p:spPr>
          <a:xfrm>
            <a:off x="3824290" y="4491725"/>
            <a:ext cx="1073726" cy="612921"/>
          </a:xfrm>
          <a:prstGeom prst="parallelogram">
            <a:avLst>
              <a:gd name="adj" fmla="val 48207"/>
            </a:avLst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70">
              <a:latin typeface="Impact" panose="020B0806030902050204" pitchFamily="34" charset="0"/>
            </a:endParaRPr>
          </a:p>
        </p:txBody>
      </p:sp>
      <p:sp>
        <p:nvSpPr>
          <p:cNvPr id="53" name="文本框 11"/>
          <p:cNvSpPr txBox="1"/>
          <p:nvPr>
            <p:custDataLst>
              <p:tags r:id="rId6"/>
            </p:custDataLst>
          </p:nvPr>
        </p:nvSpPr>
        <p:spPr>
          <a:xfrm>
            <a:off x="4020677" y="4469144"/>
            <a:ext cx="735226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35" dirty="0">
                <a:solidFill>
                  <a:schemeClr val="bg1"/>
                </a:solidFill>
                <a:latin typeface="Impact" panose="020B0806030902050204" pitchFamily="34" charset="0"/>
              </a:rPr>
              <a:t>03</a:t>
            </a:r>
            <a:endParaRPr lang="zh-CN" altLang="en-US" sz="3735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5785485" y="2075402"/>
            <a:ext cx="3143250" cy="502444"/>
          </a:xfrm>
          <a:prstGeom prst="rect">
            <a:avLst/>
          </a:prstGeom>
          <a:noFill/>
          <a:ln>
            <a:noFill/>
          </a:ln>
        </p:spPr>
        <p:txBody>
          <a:bodyPr wrap="none" lIns="91440" tIns="45731" rIns="0" bIns="0" anchor="t" anchorCtr="0">
            <a:noAutofit/>
          </a:bodyPr>
          <a:lstStyle/>
          <a:p>
            <a:pPr algn="l"/>
            <a:r>
              <a:rPr lang="zh-CN" sz="2660" b="1" dirty="0">
                <a:solidFill>
                  <a:srgbClr val="005DA2"/>
                </a:solidFill>
                <a:latin typeface="Microsoft YaHei"/>
                <a:ea typeface="Microsoft YaHei"/>
                <a:cs typeface="Microsoft YaHei"/>
              </a:rPr>
              <a:t>研究框架是什么？</a:t>
            </a:r>
          </a:p>
        </p:txBody>
      </p:sp>
      <p:sp>
        <p:nvSpPr>
          <p:cNvPr id="62" name="平行四边形 61"/>
          <p:cNvSpPr/>
          <p:nvPr>
            <p:custDataLst>
              <p:tags r:id="rId8"/>
            </p:custDataLst>
          </p:nvPr>
        </p:nvSpPr>
        <p:spPr>
          <a:xfrm>
            <a:off x="4746399" y="2024274"/>
            <a:ext cx="3854647" cy="612921"/>
          </a:xfrm>
          <a:prstGeom prst="parallelogram">
            <a:avLst>
              <a:gd name="adj" fmla="val 48207"/>
            </a:avLst>
          </a:prstGeom>
          <a:noFill/>
          <a:ln w="15875">
            <a:solidFill>
              <a:srgbClr val="005D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3" rIns="91440" bIns="45723" rtlCol="0" anchor="ctr"/>
          <a:lstStyle/>
          <a:p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5790533" y="3283744"/>
            <a:ext cx="3143250" cy="502444"/>
          </a:xfrm>
          <a:prstGeom prst="rect">
            <a:avLst/>
          </a:prstGeom>
          <a:noFill/>
          <a:ln>
            <a:noFill/>
          </a:ln>
        </p:spPr>
        <p:txBody>
          <a:bodyPr wrap="none" lIns="91440" tIns="45757" rIns="0" bIns="0" anchor="t" anchorCtr="0">
            <a:noAutofit/>
          </a:bodyPr>
          <a:lstStyle/>
          <a:p>
            <a:pPr algn="l"/>
            <a:r>
              <a:rPr lang="zh-CN" sz="2660" b="1" dirty="0">
                <a:solidFill>
                  <a:srgbClr val="005DA2"/>
                </a:solidFill>
                <a:latin typeface="Microsoft YaHei"/>
                <a:ea typeface="Microsoft YaHei"/>
                <a:cs typeface="Microsoft YaHei"/>
              </a:rPr>
              <a:t>为什么需要框架？</a:t>
            </a:r>
          </a:p>
        </p:txBody>
      </p:sp>
      <p:sp>
        <p:nvSpPr>
          <p:cNvPr id="65" name="平行四边形 64"/>
          <p:cNvSpPr/>
          <p:nvPr>
            <p:custDataLst>
              <p:tags r:id="rId10"/>
            </p:custDataLst>
          </p:nvPr>
        </p:nvSpPr>
        <p:spPr>
          <a:xfrm>
            <a:off x="4751436" y="3236098"/>
            <a:ext cx="3854647" cy="612921"/>
          </a:xfrm>
          <a:prstGeom prst="parallelogram">
            <a:avLst>
              <a:gd name="adj" fmla="val 48207"/>
            </a:avLst>
          </a:prstGeom>
          <a:noFill/>
          <a:ln w="15875">
            <a:solidFill>
              <a:srgbClr val="005D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3" rIns="91440" bIns="45723" rtlCol="0" anchor="ctr"/>
          <a:lstStyle/>
          <a:p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5769102" y="4525232"/>
            <a:ext cx="3619500" cy="502444"/>
          </a:xfrm>
          <a:prstGeom prst="rect">
            <a:avLst/>
          </a:prstGeom>
          <a:noFill/>
          <a:ln>
            <a:noFill/>
          </a:ln>
        </p:spPr>
        <p:txBody>
          <a:bodyPr wrap="none" lIns="91440" tIns="45693" rIns="0" bIns="0" anchor="t" anchorCtr="0">
            <a:noAutofit/>
          </a:bodyPr>
          <a:lstStyle/>
          <a:p>
            <a:pPr algn="l"/>
            <a:r>
              <a:rPr lang="zh-CN" sz="2660" b="1" dirty="0">
                <a:solidFill>
                  <a:srgbClr val="005DA2"/>
                </a:solidFill>
                <a:latin typeface="Microsoft YaHei"/>
                <a:ea typeface="Microsoft YaHei"/>
                <a:cs typeface="Microsoft YaHei"/>
              </a:rPr>
              <a:t>框架如何组织研究？</a:t>
            </a:r>
          </a:p>
        </p:txBody>
      </p:sp>
      <p:sp>
        <p:nvSpPr>
          <p:cNvPr id="68" name="平行四边形 67"/>
          <p:cNvSpPr/>
          <p:nvPr>
            <p:custDataLst>
              <p:tags r:id="rId12"/>
            </p:custDataLst>
          </p:nvPr>
        </p:nvSpPr>
        <p:spPr>
          <a:xfrm>
            <a:off x="4729962" y="4470081"/>
            <a:ext cx="3854647" cy="612921"/>
          </a:xfrm>
          <a:prstGeom prst="parallelogram">
            <a:avLst>
              <a:gd name="adj" fmla="val 48207"/>
            </a:avLst>
          </a:prstGeom>
          <a:noFill/>
          <a:ln w="15875">
            <a:solidFill>
              <a:srgbClr val="005D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3" rIns="91440" bIns="45723" rtlCol="0" anchor="ctr"/>
          <a:lstStyle/>
          <a:p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平行四边形 2"/>
          <p:cNvSpPr/>
          <p:nvPr>
            <p:custDataLst>
              <p:tags r:id="rId13"/>
            </p:custDataLst>
          </p:nvPr>
        </p:nvSpPr>
        <p:spPr>
          <a:xfrm>
            <a:off x="3824290" y="5641162"/>
            <a:ext cx="1073726" cy="612921"/>
          </a:xfrm>
          <a:prstGeom prst="parallelogram">
            <a:avLst>
              <a:gd name="adj" fmla="val 48207"/>
            </a:avLst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70">
              <a:latin typeface="Impact" panose="020B0806030902050204" pitchFamily="34" charset="0"/>
            </a:endParaRPr>
          </a:p>
        </p:txBody>
      </p:sp>
      <p:sp>
        <p:nvSpPr>
          <p:cNvPr id="5" name="文本框 11"/>
          <p:cNvSpPr txBox="1"/>
          <p:nvPr>
            <p:custDataLst>
              <p:tags r:id="rId14"/>
            </p:custDataLst>
          </p:nvPr>
        </p:nvSpPr>
        <p:spPr>
          <a:xfrm>
            <a:off x="4020677" y="5618581"/>
            <a:ext cx="735226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35" dirty="0">
                <a:solidFill>
                  <a:schemeClr val="bg1"/>
                </a:solidFill>
                <a:latin typeface="Impact" panose="020B0806030902050204" pitchFamily="34" charset="0"/>
              </a:rPr>
              <a:t>04</a:t>
            </a:r>
            <a:endParaRPr lang="zh-CN" altLang="en-US" sz="3735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769102" y="5674614"/>
            <a:ext cx="2857500" cy="502444"/>
          </a:xfrm>
          <a:prstGeom prst="rect">
            <a:avLst/>
          </a:prstGeom>
          <a:noFill/>
          <a:ln>
            <a:noFill/>
          </a:ln>
        </p:spPr>
        <p:txBody>
          <a:bodyPr wrap="none" lIns="91440" tIns="45748" rIns="0" bIns="0" anchor="t" anchorCtr="0">
            <a:noAutofit/>
          </a:bodyPr>
          <a:lstStyle/>
          <a:p>
            <a:pPr algn="l"/>
            <a:r>
              <a:rPr lang="zh-CN" sz="2660" b="1" dirty="0">
                <a:solidFill>
                  <a:srgbClr val="005DA2"/>
                </a:solidFill>
                <a:latin typeface="Microsoft YaHei"/>
                <a:ea typeface="Microsoft YaHei"/>
                <a:cs typeface="Microsoft YaHei"/>
              </a:rPr>
              <a:t>本节导入</a:t>
            </a:r>
          </a:p>
        </p:txBody>
      </p:sp>
      <p:sp>
        <p:nvSpPr>
          <p:cNvPr id="9" name="平行四边形 8"/>
          <p:cNvSpPr/>
          <p:nvPr>
            <p:custDataLst>
              <p:tags r:id="rId16"/>
            </p:custDataLst>
          </p:nvPr>
        </p:nvSpPr>
        <p:spPr>
          <a:xfrm>
            <a:off x="4729962" y="5619518"/>
            <a:ext cx="3854647" cy="612921"/>
          </a:xfrm>
          <a:prstGeom prst="parallelogram">
            <a:avLst>
              <a:gd name="adj" fmla="val 48207"/>
            </a:avLst>
          </a:prstGeom>
          <a:noFill/>
          <a:ln w="15875">
            <a:solidFill>
              <a:srgbClr val="005D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3" rIns="91440" bIns="45723" rtlCol="0" anchor="ctr"/>
          <a:lstStyle/>
          <a:p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page04-title"/>
          <p:cNvSpPr/>
          <p:nvPr/>
        </p:nvSpPr>
        <p:spPr>
          <a:xfrm>
            <a:off x="1066800" y="76200"/>
            <a:ext cx="952500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44450" rIns="0" bIns="0" anchor="t" anchorCtr="0">
            <a:noAutofit/>
          </a:bodyPr>
          <a:lstStyle/>
          <a:p>
            <a:pPr algn="l"/>
            <a:r>
              <a:rPr lang="zh-CN" sz="2920" b="1" dirty="0">
                <a:solidFill>
                  <a:srgbClr val="005DA2"/>
                </a:solidFill>
                <a:latin typeface="Microsoft YaHei"/>
                <a:ea typeface="Microsoft YaHei"/>
                <a:cs typeface="Microsoft YaHei"/>
              </a:rPr>
              <a:t>研究框架：从研究问题到分析逻辑</a:t>
            </a:r>
          </a:p>
        </p:txBody>
      </p:sp>
      <p:grpSp>
        <p:nvGrpSpPr>
          <p:cNvPr id="11" name="page04-definition"/>
          <p:cNvGrpSpPr/>
          <p:nvPr/>
        </p:nvGrpSpPr>
        <p:grpSpPr>
          <a:xfrm>
            <a:off x="1219200" y="1333500"/>
            <a:ext cx="9753600" cy="1428750"/>
            <a:chOff x="1219200" y="1333500"/>
            <a:chExt cx="9753600" cy="1428750"/>
          </a:xfrm>
        </p:grpSpPr>
        <p:sp>
          <p:nvSpPr>
            <p:cNvPr id="8" name="Rectangle 8"/>
            <p:cNvSpPr/>
            <p:nvPr/>
          </p:nvSpPr>
          <p:spPr>
            <a:xfrm>
              <a:off x="1219200" y="1333500"/>
              <a:ext cx="9753600" cy="1428750"/>
            </a:xfrm>
            <a:prstGeom prst="roundRect">
              <a:avLst>
                <a:gd name="adj" fmla="val 10667"/>
              </a:avLst>
            </a:prstGeom>
            <a:solidFill>
              <a:srgbClr val="005DA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51432" y="149860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核心定义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51813" y="1997075"/>
              <a:ext cx="763468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通过核心概念及其关系，界定研究视角、观察范围和解释方向。</a:t>
              </a:r>
            </a:p>
          </p:txBody>
        </p:sp>
      </p:grpSp>
      <p:grpSp>
        <p:nvGrpSpPr>
          <p:cNvPr id="16" name="page04-card1"/>
          <p:cNvGrpSpPr/>
          <p:nvPr/>
        </p:nvGrpSpPr>
        <p:grpSpPr>
          <a:xfrm>
            <a:off x="1219200" y="3333750"/>
            <a:ext cx="2952750" cy="1809750"/>
            <a:chOff x="1219200" y="3333750"/>
            <a:chExt cx="2952750" cy="1809750"/>
          </a:xfrm>
        </p:grpSpPr>
        <p:sp>
          <p:nvSpPr>
            <p:cNvPr id="12" name="Rectangle 12"/>
            <p:cNvSpPr/>
            <p:nvPr/>
          </p:nvSpPr>
          <p:spPr>
            <a:xfrm>
              <a:off x="1219200" y="3333750"/>
              <a:ext cx="2952750" cy="1809750"/>
            </a:xfrm>
            <a:prstGeom prst="roundRect">
              <a:avLst>
                <a:gd name="adj" fmla="val 7368"/>
              </a:avLst>
            </a:prstGeom>
            <a:solidFill>
              <a:srgbClr val="EAF3FA"/>
            </a:solidFill>
            <a:ln w="19050">
              <a:solidFill>
                <a:srgbClr val="005DA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475232" y="352742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界定边界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76756" y="405130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明确研究什么，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76756" y="4422775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也明确暂不观察什么。</a:t>
              </a:r>
            </a:p>
          </p:txBody>
        </p:sp>
      </p:grpSp>
      <p:grpSp>
        <p:nvGrpSpPr>
          <p:cNvPr id="21" name="page04-card2"/>
          <p:cNvGrpSpPr/>
          <p:nvPr/>
        </p:nvGrpSpPr>
        <p:grpSpPr>
          <a:xfrm>
            <a:off x="4619625" y="3333750"/>
            <a:ext cx="2952750" cy="1809750"/>
            <a:chOff x="4619625" y="3333750"/>
            <a:chExt cx="2952750" cy="1809750"/>
          </a:xfrm>
        </p:grpSpPr>
        <p:sp>
          <p:nvSpPr>
            <p:cNvPr id="17" name="Rectangle 17"/>
            <p:cNvSpPr/>
            <p:nvPr/>
          </p:nvSpPr>
          <p:spPr>
            <a:xfrm>
              <a:off x="4619625" y="3333750"/>
              <a:ext cx="2952750" cy="1809750"/>
            </a:xfrm>
            <a:prstGeom prst="roundRect">
              <a:avLst>
                <a:gd name="adj" fmla="val 7368"/>
              </a:avLst>
            </a:prstGeom>
            <a:solidFill>
              <a:srgbClr val="F4F8FB"/>
            </a:solidFill>
            <a:ln w="19050">
              <a:solidFill>
                <a:srgbClr val="3992D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875657" y="352742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组织设计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877181" y="405130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连接概念、资料、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877181" y="442277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方法与分析路径。</a:t>
              </a:r>
            </a:p>
          </p:txBody>
        </p:sp>
      </p:grpSp>
      <p:grpSp>
        <p:nvGrpSpPr>
          <p:cNvPr id="26" name="page04-card3"/>
          <p:cNvGrpSpPr/>
          <p:nvPr/>
        </p:nvGrpSpPr>
        <p:grpSpPr>
          <a:xfrm>
            <a:off x="8020050" y="3333750"/>
            <a:ext cx="2952750" cy="1809750"/>
            <a:chOff x="8020050" y="3333750"/>
            <a:chExt cx="2952750" cy="1809750"/>
          </a:xfrm>
        </p:grpSpPr>
        <p:sp>
          <p:nvSpPr>
            <p:cNvPr id="22" name="Rectangle 22"/>
            <p:cNvSpPr/>
            <p:nvPr/>
          </p:nvSpPr>
          <p:spPr>
            <a:xfrm>
              <a:off x="8020050" y="3333750"/>
              <a:ext cx="2952750" cy="1809750"/>
            </a:xfrm>
            <a:prstGeom prst="roundRect">
              <a:avLst>
                <a:gd name="adj" fmla="val 7368"/>
              </a:avLst>
            </a:prstGeom>
            <a:solidFill>
              <a:srgbClr val="FFF7E8"/>
            </a:solidFill>
            <a:ln w="19050">
              <a:solidFill>
                <a:srgbClr val="F79600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76082" y="352742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支持解释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77606" y="405130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把资料与发现放回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77606" y="4422775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一致的分析逻辑中。</a:t>
              </a:r>
            </a:p>
          </p:txBody>
        </p:sp>
      </p:grpSp>
      <p:grpSp>
        <p:nvGrpSpPr>
          <p:cNvPr id="28" name="page04-note"/>
          <p:cNvGrpSpPr/>
          <p:nvPr/>
        </p:nvGrpSpPr>
        <p:grpSpPr>
          <a:xfrm>
            <a:off x="3077134" y="5661025"/>
            <a:ext cx="6037732" cy="337376"/>
            <a:chOff x="3077134" y="5661025"/>
            <a:chExt cx="6037732" cy="337376"/>
          </a:xfrm>
        </p:grpSpPr>
        <p:sp>
          <p:nvSpPr>
            <p:cNvPr id="27" name="TextBox 27"/>
            <p:cNvSpPr txBox="1"/>
            <p:nvPr/>
          </p:nvSpPr>
          <p:spPr>
            <a:xfrm>
              <a:off x="3077134" y="5661025"/>
              <a:ext cx="603773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dirty="0">
                  <a:solidFill>
                    <a:srgbClr val="666666"/>
                  </a:solidFill>
                  <a:latin typeface="Microsoft YaHei"/>
                  <a:ea typeface="Microsoft YaHei"/>
                  <a:cs typeface="Microsoft YaHei"/>
                </a:rPr>
                <a:t>框架是研究的组织工具，不能替代研究问题、方法和证据。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page05-title"/>
          <p:cNvSpPr/>
          <p:nvPr/>
        </p:nvSpPr>
        <p:spPr>
          <a:xfrm>
            <a:off x="1066800" y="76200"/>
            <a:ext cx="952500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44450" rIns="0" bIns="0" anchor="t" anchorCtr="0">
            <a:noAutofit/>
          </a:bodyPr>
          <a:lstStyle/>
          <a:p>
            <a:pPr algn="l"/>
            <a:r>
              <a:rPr lang="zh-CN" sz="2920" b="1" dirty="0">
                <a:solidFill>
                  <a:srgbClr val="005DA2"/>
                </a:solidFill>
                <a:latin typeface="Microsoft YaHei"/>
                <a:ea typeface="Microsoft YaHei"/>
                <a:cs typeface="Microsoft YaHei"/>
              </a:rPr>
              <a:t>五类研究框架：观察对象与功能差异</a:t>
            </a:r>
          </a:p>
        </p:txBody>
      </p:sp>
      <p:grpSp>
        <p:nvGrpSpPr>
          <p:cNvPr id="12" name="page05-card1"/>
          <p:cNvGrpSpPr/>
          <p:nvPr/>
        </p:nvGrpSpPr>
        <p:grpSpPr>
          <a:xfrm>
            <a:off x="1219200" y="1333500"/>
            <a:ext cx="2952750" cy="1809750"/>
            <a:chOff x="1219200" y="1333500"/>
            <a:chExt cx="2952750" cy="1809750"/>
          </a:xfrm>
        </p:grpSpPr>
        <p:sp>
          <p:nvSpPr>
            <p:cNvPr id="8" name="Rectangle 8"/>
            <p:cNvSpPr/>
            <p:nvPr/>
          </p:nvSpPr>
          <p:spPr>
            <a:xfrm>
              <a:off x="1219200" y="1333500"/>
              <a:ext cx="2952750" cy="1809750"/>
            </a:xfrm>
            <a:prstGeom prst="roundRect">
              <a:avLst>
                <a:gd name="adj" fmla="val 7368"/>
              </a:avLst>
            </a:prstGeom>
            <a:solidFill>
              <a:srgbClr val="EAF3FA"/>
            </a:solidFill>
            <a:ln w="19050">
              <a:solidFill>
                <a:srgbClr val="005DA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456563" y="1492250"/>
              <a:ext cx="11083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理论框架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58468" y="1939925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核心命题与概念关系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58468" y="2292350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回答：为何如此？</a:t>
              </a:r>
            </a:p>
          </p:txBody>
        </p:sp>
      </p:grpSp>
      <p:grpSp>
        <p:nvGrpSpPr>
          <p:cNvPr id="17" name="page05-card2"/>
          <p:cNvGrpSpPr/>
          <p:nvPr/>
        </p:nvGrpSpPr>
        <p:grpSpPr>
          <a:xfrm>
            <a:off x="4619625" y="1333500"/>
            <a:ext cx="2952750" cy="1809750"/>
            <a:chOff x="4619625" y="1333500"/>
            <a:chExt cx="2952750" cy="1809750"/>
          </a:xfrm>
        </p:grpSpPr>
        <p:sp>
          <p:nvSpPr>
            <p:cNvPr id="13" name="Rectangle 13"/>
            <p:cNvSpPr/>
            <p:nvPr/>
          </p:nvSpPr>
          <p:spPr>
            <a:xfrm>
              <a:off x="4619625" y="1333500"/>
              <a:ext cx="2952750" cy="1809750"/>
            </a:xfrm>
            <a:prstGeom prst="roundRect">
              <a:avLst>
                <a:gd name="adj" fmla="val 7368"/>
              </a:avLst>
            </a:prstGeom>
            <a:solidFill>
              <a:srgbClr val="F4F8FB"/>
            </a:solidFill>
            <a:ln w="19050">
              <a:solidFill>
                <a:srgbClr val="3992D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856988" y="1492250"/>
              <a:ext cx="11083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概念框架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858893" y="1939925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构念及其关系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858893" y="229235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组织观察维度</a:t>
              </a:r>
            </a:p>
          </p:txBody>
        </p:sp>
      </p:grpSp>
      <p:grpSp>
        <p:nvGrpSpPr>
          <p:cNvPr id="22" name="page05-card3"/>
          <p:cNvGrpSpPr/>
          <p:nvPr/>
        </p:nvGrpSpPr>
        <p:grpSpPr>
          <a:xfrm>
            <a:off x="8020050" y="1333500"/>
            <a:ext cx="2952750" cy="1809750"/>
            <a:chOff x="8020050" y="1333500"/>
            <a:chExt cx="2952750" cy="1809750"/>
          </a:xfrm>
        </p:grpSpPr>
        <p:sp>
          <p:nvSpPr>
            <p:cNvPr id="18" name="Rectangle 18"/>
            <p:cNvSpPr/>
            <p:nvPr/>
          </p:nvSpPr>
          <p:spPr>
            <a:xfrm>
              <a:off x="8020050" y="1333500"/>
              <a:ext cx="2952750" cy="1809750"/>
            </a:xfrm>
            <a:prstGeom prst="roundRect">
              <a:avLst>
                <a:gd name="adj" fmla="val 7368"/>
              </a:avLst>
            </a:prstGeom>
            <a:solidFill>
              <a:srgbClr val="FFF7E8"/>
            </a:solidFill>
            <a:ln w="19050">
              <a:solidFill>
                <a:srgbClr val="F7960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257413" y="1492250"/>
              <a:ext cx="11083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分析框架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59318" y="1939925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变量、维度与分析路径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59318" y="2292350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回答：如何分析？</a:t>
              </a:r>
            </a:p>
          </p:txBody>
        </p:sp>
      </p:grpSp>
      <p:grpSp>
        <p:nvGrpSpPr>
          <p:cNvPr id="27" name="page05-card4"/>
          <p:cNvGrpSpPr/>
          <p:nvPr/>
        </p:nvGrpSpPr>
        <p:grpSpPr>
          <a:xfrm>
            <a:off x="1219200" y="3714750"/>
            <a:ext cx="2952750" cy="1809750"/>
            <a:chOff x="1219200" y="3714750"/>
            <a:chExt cx="2952750" cy="1809750"/>
          </a:xfrm>
        </p:grpSpPr>
        <p:sp>
          <p:nvSpPr>
            <p:cNvPr id="23" name="Rectangle 23"/>
            <p:cNvSpPr/>
            <p:nvPr/>
          </p:nvSpPr>
          <p:spPr>
            <a:xfrm>
              <a:off x="1219200" y="3714750"/>
              <a:ext cx="2952750" cy="1809750"/>
            </a:xfrm>
            <a:prstGeom prst="roundRect">
              <a:avLst>
                <a:gd name="adj" fmla="val 7368"/>
              </a:avLst>
            </a:prstGeom>
            <a:solidFill>
              <a:srgbClr val="F4F8FB"/>
            </a:solidFill>
            <a:ln w="19050">
              <a:solidFill>
                <a:srgbClr val="3992D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456563" y="3873500"/>
              <a:ext cx="138023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方法论框架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58849" y="4333875"/>
              <a:ext cx="19302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认识论、研究策略与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58849" y="4676775"/>
              <a:ext cx="19302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方法适配，统摄设计</a:t>
              </a:r>
            </a:p>
          </p:txBody>
        </p:sp>
      </p:grpSp>
      <p:grpSp>
        <p:nvGrpSpPr>
          <p:cNvPr id="32" name="page05-card5"/>
          <p:cNvGrpSpPr/>
          <p:nvPr/>
        </p:nvGrpSpPr>
        <p:grpSpPr>
          <a:xfrm>
            <a:off x="4619625" y="3714750"/>
            <a:ext cx="2952750" cy="1809750"/>
            <a:chOff x="4619625" y="3714750"/>
            <a:chExt cx="2952750" cy="1809750"/>
          </a:xfrm>
        </p:grpSpPr>
        <p:sp>
          <p:nvSpPr>
            <p:cNvPr id="28" name="Rectangle 28"/>
            <p:cNvSpPr/>
            <p:nvPr/>
          </p:nvSpPr>
          <p:spPr>
            <a:xfrm>
              <a:off x="4619625" y="3714750"/>
              <a:ext cx="2952750" cy="1809750"/>
            </a:xfrm>
            <a:prstGeom prst="roundRect">
              <a:avLst>
                <a:gd name="adj" fmla="val 7368"/>
              </a:avLst>
            </a:prstGeom>
            <a:solidFill>
              <a:srgbClr val="EAF3FA"/>
            </a:solidFill>
            <a:ln w="19050">
              <a:solidFill>
                <a:srgbClr val="005DA2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856988" y="3873500"/>
              <a:ext cx="11083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评价框架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859274" y="4333875"/>
              <a:ext cx="150489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指标与判断标准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859274" y="4676775"/>
              <a:ext cx="19302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比较政策或管理结果</a:t>
              </a:r>
            </a:p>
          </p:txBody>
        </p:sp>
      </p:grpSp>
      <p:grpSp>
        <p:nvGrpSpPr>
          <p:cNvPr id="37" name="page05-note"/>
          <p:cNvGrpSpPr/>
          <p:nvPr/>
        </p:nvGrpSpPr>
        <p:grpSpPr>
          <a:xfrm>
            <a:off x="8020050" y="3714750"/>
            <a:ext cx="2952750" cy="1809750"/>
            <a:chOff x="8020050" y="3714750"/>
            <a:chExt cx="2952750" cy="1809750"/>
          </a:xfrm>
        </p:grpSpPr>
        <p:sp>
          <p:nvSpPr>
            <p:cNvPr id="33" name="Rectangle 33"/>
            <p:cNvSpPr/>
            <p:nvPr/>
          </p:nvSpPr>
          <p:spPr>
            <a:xfrm>
              <a:off x="8020050" y="3714750"/>
              <a:ext cx="2952750" cy="1809750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19050">
              <a:solidFill>
                <a:srgbClr val="B8C7D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257794" y="3873500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辨析提示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59699" y="4333875"/>
              <a:ext cx="19302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五类框架功能不同，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59699" y="4676775"/>
              <a:ext cx="21429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可在同一研究中衔接。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14293" y="825498"/>
            <a:ext cx="12206293" cy="1833396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5" name="文本框 4"/>
          <p:cNvSpPr/>
          <p:nvPr/>
        </p:nvSpPr>
        <p:spPr>
          <a:xfrm>
            <a:off x="2117408" y="1388269"/>
            <a:ext cx="9974104" cy="706755"/>
          </a:xfrm>
          <a:prstGeom prst="rect">
            <a:avLst/>
          </a:prstGeom>
          <a:noFill/>
          <a:ln>
            <a:noFill/>
          </a:ln>
        </p:spPr>
        <p:txBody>
          <a:bodyPr wrap="none" lIns="0" tIns="45704" rIns="95" bIns="0" anchor="t" anchorCtr="0">
            <a:noAutofit/>
          </a:bodyPr>
          <a:lstStyle/>
          <a:p>
            <a:pPr algn="ctr"/>
            <a:r>
              <a:rPr lang="zh-CN" sz="40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研究框架的价值</a:t>
            </a:r>
          </a:p>
        </p:txBody>
      </p:sp>
      <p:grpSp>
        <p:nvGrpSpPr>
          <p:cNvPr id="3" name="矩形: 圆角 2"/>
          <p:cNvGrpSpPr/>
          <p:nvPr/>
        </p:nvGrpSpPr>
        <p:grpSpPr>
          <a:xfrm>
            <a:off x="-552475" y="951833"/>
            <a:ext cx="2569229" cy="1379887"/>
            <a:chOff x="-552475" y="951833"/>
            <a:chExt cx="2569229" cy="1379887"/>
          </a:xfrm>
        </p:grpSpPr>
        <p:sp>
          <p:nvSpPr>
            <p:cNvPr id="7" name="Freeform 7"/>
            <p:cNvSpPr/>
            <p:nvPr/>
          </p:nvSpPr>
          <p:spPr>
            <a:xfrm>
              <a:off x="-552475" y="951833"/>
              <a:ext cx="2569229" cy="1379887"/>
            </a:xfrm>
            <a:custGeom>
              <a:avLst/>
              <a:gdLst/>
              <a:ahLst/>
              <a:cxnLst/>
              <a:rect l="l" t="t" r="r" b="b"/>
              <a:pathLst>
                <a:path w="2569229" h="1379887">
                  <a:moveTo>
                    <a:pt x="25" y="252889"/>
                  </a:moveTo>
                  <a:cubicBezTo>
                    <a:pt x="0" y="185827"/>
                    <a:pt x="26622" y="121504"/>
                    <a:pt x="74033" y="74075"/>
                  </a:cubicBezTo>
                  <a:cubicBezTo>
                    <a:pt x="121444" y="26647"/>
                    <a:pt x="185757" y="0"/>
                    <a:pt x="252819" y="0"/>
                  </a:cubicBezTo>
                  <a:lnTo>
                    <a:pt x="2316410" y="0"/>
                  </a:lnTo>
                  <a:cubicBezTo>
                    <a:pt x="2383472" y="0"/>
                    <a:pt x="2447785" y="26647"/>
                    <a:pt x="2495196" y="74075"/>
                  </a:cubicBezTo>
                  <a:cubicBezTo>
                    <a:pt x="2542606" y="121504"/>
                    <a:pt x="2569229" y="185827"/>
                    <a:pt x="2569204" y="252889"/>
                  </a:cubicBezTo>
                  <a:lnTo>
                    <a:pt x="2569204" y="1127093"/>
                  </a:lnTo>
                  <a:cubicBezTo>
                    <a:pt x="2569204" y="1194138"/>
                    <a:pt x="2542570" y="1258437"/>
                    <a:pt x="2495162" y="1305845"/>
                  </a:cubicBezTo>
                  <a:cubicBezTo>
                    <a:pt x="2447754" y="1353253"/>
                    <a:pt x="2383455" y="1379887"/>
                    <a:pt x="2316410" y="1379887"/>
                  </a:cubicBezTo>
                  <a:lnTo>
                    <a:pt x="252819" y="1379887"/>
                  </a:lnTo>
                  <a:cubicBezTo>
                    <a:pt x="185774" y="1379887"/>
                    <a:pt x="121475" y="1353253"/>
                    <a:pt x="74067" y="1305845"/>
                  </a:cubicBezTo>
                  <a:cubicBezTo>
                    <a:pt x="26659" y="1258437"/>
                    <a:pt x="25" y="1194138"/>
                    <a:pt x="25" y="1127093"/>
                  </a:cubicBezTo>
                  <a:close/>
                </a:path>
              </a:pathLst>
            </a:custGeom>
            <a:noFill/>
            <a:ln>
              <a:noFill/>
            </a:ln>
          </p:spPr>
        </p:sp>
      </p:grpSp>
      <p:grpSp>
        <p:nvGrpSpPr>
          <p:cNvPr id="22" name="文本框 21"/>
          <p:cNvGrpSpPr/>
          <p:nvPr/>
        </p:nvGrpSpPr>
        <p:grpSpPr>
          <a:xfrm>
            <a:off x="2604326" y="3117247"/>
            <a:ext cx="8506492" cy="2306955"/>
            <a:chOff x="2604326" y="3117247"/>
            <a:chExt cx="8506492" cy="2306955"/>
          </a:xfrm>
        </p:grpSpPr>
        <p:sp>
          <p:nvSpPr>
            <p:cNvPr id="8" name="Freeform 8"/>
            <p:cNvSpPr/>
            <p:nvPr/>
          </p:nvSpPr>
          <p:spPr>
            <a:xfrm>
              <a:off x="2604326" y="3117247"/>
              <a:ext cx="8506492" cy="2306955"/>
            </a:xfrm>
            <a:custGeom>
              <a:avLst/>
              <a:gdLst/>
              <a:ahLst/>
              <a:cxnLst/>
              <a:rect l="l" t="t" r="r" b="b"/>
              <a:pathLst>
                <a:path w="8506492" h="2306955">
                  <a:moveTo>
                    <a:pt x="0" y="0"/>
                  </a:moveTo>
                  <a:lnTo>
                    <a:pt x="8506492" y="0"/>
                  </a:lnTo>
                  <a:lnTo>
                    <a:pt x="8506492" y="2306955"/>
                  </a:lnTo>
                  <a:lnTo>
                    <a:pt x="0" y="2306955"/>
                  </a:lnTo>
                  <a:close/>
                </a:path>
              </a:pathLst>
            </a:custGeom>
            <a:noFill/>
            <a:ln>
              <a:noFill/>
            </a:ln>
          </p:spPr>
        </p:sp>
      </p:grpSp>
      <p:grpSp>
        <p:nvGrpSpPr>
          <p:cNvPr id="14" name="page06-card1"/>
          <p:cNvGrpSpPr/>
          <p:nvPr/>
        </p:nvGrpSpPr>
        <p:grpSpPr>
          <a:xfrm>
            <a:off x="1219200" y="3190875"/>
            <a:ext cx="2952750" cy="2095500"/>
            <a:chOff x="1219200" y="3190875"/>
            <a:chExt cx="2952750" cy="2095500"/>
          </a:xfrm>
        </p:grpSpPr>
        <p:sp>
          <p:nvSpPr>
            <p:cNvPr id="9" name="Rectangle 9"/>
            <p:cNvSpPr/>
            <p:nvPr/>
          </p:nvSpPr>
          <p:spPr>
            <a:xfrm>
              <a:off x="1219200" y="3190875"/>
              <a:ext cx="2952750" cy="2095500"/>
            </a:xfrm>
            <a:prstGeom prst="roundRect">
              <a:avLst>
                <a:gd name="adj" fmla="val 6364"/>
              </a:avLst>
            </a:prstGeom>
            <a:solidFill>
              <a:srgbClr val="EAF3FA"/>
            </a:solidFill>
            <a:ln w="19050">
              <a:solidFill>
                <a:srgbClr val="005DA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74851" y="3352800"/>
              <a:ext cx="1195984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聚焦问题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77137" y="3879850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界定研究边界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77137" y="4260850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明确核心构念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78280" y="467995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66666"/>
                  </a:solidFill>
                  <a:latin typeface="Microsoft YaHei"/>
                  <a:ea typeface="Microsoft YaHei"/>
                  <a:cs typeface="Microsoft YaHei"/>
                </a:rPr>
                <a:t>回答：研究什么？</a:t>
              </a:r>
            </a:p>
          </p:txBody>
        </p:sp>
      </p:grpSp>
      <p:grpSp>
        <p:nvGrpSpPr>
          <p:cNvPr id="20" name="page06-card2"/>
          <p:cNvGrpSpPr/>
          <p:nvPr/>
        </p:nvGrpSpPr>
        <p:grpSpPr>
          <a:xfrm>
            <a:off x="4619625" y="3190875"/>
            <a:ext cx="2952750" cy="2095500"/>
            <a:chOff x="4619625" y="3190875"/>
            <a:chExt cx="2952750" cy="2095500"/>
          </a:xfrm>
        </p:grpSpPr>
        <p:sp>
          <p:nvSpPr>
            <p:cNvPr id="15" name="Rectangle 15"/>
            <p:cNvSpPr/>
            <p:nvPr/>
          </p:nvSpPr>
          <p:spPr>
            <a:xfrm>
              <a:off x="4619625" y="3190875"/>
              <a:ext cx="2952750" cy="2095500"/>
            </a:xfrm>
            <a:prstGeom prst="roundRect">
              <a:avLst>
                <a:gd name="adj" fmla="val 6364"/>
              </a:avLst>
            </a:prstGeom>
            <a:solidFill>
              <a:srgbClr val="F4F8FB"/>
            </a:solidFill>
            <a:ln w="19050">
              <a:solidFill>
                <a:srgbClr val="3992D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875276" y="3352800"/>
              <a:ext cx="1195984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组织研究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877562" y="3879850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统摄研究设计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77562" y="4260850"/>
              <a:ext cx="163835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连接资料与分析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878705" y="467995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66666"/>
                  </a:solidFill>
                  <a:latin typeface="Microsoft YaHei"/>
                  <a:ea typeface="Microsoft YaHei"/>
                  <a:cs typeface="Microsoft YaHei"/>
                </a:rPr>
                <a:t>回答：如何研究？</a:t>
              </a:r>
            </a:p>
          </p:txBody>
        </p:sp>
      </p:grpSp>
      <p:grpSp>
        <p:nvGrpSpPr>
          <p:cNvPr id="27" name="page06-card3"/>
          <p:cNvGrpSpPr/>
          <p:nvPr/>
        </p:nvGrpSpPr>
        <p:grpSpPr>
          <a:xfrm>
            <a:off x="8020050" y="3190875"/>
            <a:ext cx="2952750" cy="2095500"/>
            <a:chOff x="8020050" y="3190875"/>
            <a:chExt cx="2952750" cy="2095500"/>
          </a:xfrm>
        </p:grpSpPr>
        <p:sp>
          <p:nvSpPr>
            <p:cNvPr id="21" name="Rectangle 21"/>
            <p:cNvSpPr/>
            <p:nvPr/>
          </p:nvSpPr>
          <p:spPr>
            <a:xfrm>
              <a:off x="8020050" y="3190875"/>
              <a:ext cx="2952750" cy="2095500"/>
            </a:xfrm>
            <a:prstGeom prst="roundRect">
              <a:avLst>
                <a:gd name="adj" fmla="val 6364"/>
              </a:avLst>
            </a:prstGeom>
            <a:solidFill>
              <a:srgbClr val="FFF7E8"/>
            </a:solidFill>
            <a:ln w="19050">
              <a:solidFill>
                <a:srgbClr val="F79600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75701" y="3352800"/>
              <a:ext cx="1195984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形成认识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77987" y="3879850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支持解释发现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77987" y="4260850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识别证据空白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79130" y="467995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66666"/>
                  </a:solidFill>
                  <a:latin typeface="Microsoft YaHei"/>
                  <a:ea typeface="Microsoft YaHei"/>
                  <a:cs typeface="Microsoft YaHei"/>
                </a:rPr>
                <a:t>回答：得出什么？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08685" y="694849"/>
            <a:ext cx="10374630" cy="9525"/>
          </a:xfrm>
          <a:custGeom>
            <a:avLst/>
            <a:gdLst/>
            <a:ahLst/>
            <a:cxnLst/>
            <a:rect l="l" t="t" r="r" b="b"/>
            <a:pathLst>
              <a:path w="10374630" h="9525">
                <a:moveTo>
                  <a:pt x="0" y="0"/>
                </a:moveTo>
                <a:lnTo>
                  <a:pt x="10374630" y="0"/>
                </a:lnTo>
              </a:path>
            </a:pathLst>
          </a:custGeom>
          <a:noFill/>
          <a:ln w="9525">
            <a:solidFill>
              <a:srgbClr val="808080"/>
            </a:solidFill>
          </a:ln>
        </p:spPr>
      </p:sp>
      <p:sp>
        <p:nvSpPr>
          <p:cNvPr id="3" name="Freeform 3"/>
          <p:cNvSpPr/>
          <p:nvPr/>
        </p:nvSpPr>
        <p:spPr>
          <a:xfrm>
            <a:off x="353854" y="334804"/>
            <a:ext cx="135636" cy="205931"/>
          </a:xfrm>
          <a:custGeom>
            <a:avLst/>
            <a:gdLst/>
            <a:ahLst/>
            <a:cxnLst/>
            <a:rect l="l" t="t" r="r" b="b"/>
            <a:pathLst>
              <a:path w="135636" h="205931">
                <a:moveTo>
                  <a:pt x="1334" y="31147"/>
                </a:moveTo>
                <a:lnTo>
                  <a:pt x="32480" y="0"/>
                </a:lnTo>
                <a:lnTo>
                  <a:pt x="135636" y="102965"/>
                </a:lnTo>
                <a:lnTo>
                  <a:pt x="32480" y="205931"/>
                </a:lnTo>
                <a:lnTo>
                  <a:pt x="0" y="173450"/>
                </a:lnTo>
                <a:lnTo>
                  <a:pt x="71818" y="101632"/>
                </a:lnTo>
                <a:lnTo>
                  <a:pt x="1334" y="31147"/>
                </a:lnTo>
                <a:close/>
              </a:path>
            </a:pathLst>
          </a:custGeom>
          <a:solidFill>
            <a:srgbClr val="005DA2"/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480536" y="334804"/>
            <a:ext cx="135064" cy="205931"/>
          </a:xfrm>
          <a:custGeom>
            <a:avLst/>
            <a:gdLst/>
            <a:ahLst/>
            <a:cxnLst/>
            <a:rect l="l" t="t" r="r" b="b"/>
            <a:pathLst>
              <a:path w="135064" h="205931">
                <a:moveTo>
                  <a:pt x="1334" y="31147"/>
                </a:moveTo>
                <a:lnTo>
                  <a:pt x="32480" y="0"/>
                </a:lnTo>
                <a:lnTo>
                  <a:pt x="135064" y="102965"/>
                </a:lnTo>
                <a:lnTo>
                  <a:pt x="32480" y="205931"/>
                </a:lnTo>
                <a:lnTo>
                  <a:pt x="0" y="173450"/>
                </a:lnTo>
                <a:lnTo>
                  <a:pt x="71818" y="101632"/>
                </a:lnTo>
                <a:lnTo>
                  <a:pt x="1334" y="31147"/>
                </a:lnTo>
                <a:close/>
              </a:path>
            </a:pathLst>
          </a:custGeom>
          <a:solidFill>
            <a:srgbClr val="3992DB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609124" y="334804"/>
            <a:ext cx="135064" cy="205931"/>
          </a:xfrm>
          <a:custGeom>
            <a:avLst/>
            <a:gdLst/>
            <a:ahLst/>
            <a:cxnLst/>
            <a:rect l="l" t="t" r="r" b="b"/>
            <a:pathLst>
              <a:path w="135064" h="205931">
                <a:moveTo>
                  <a:pt x="1334" y="31147"/>
                </a:moveTo>
                <a:lnTo>
                  <a:pt x="32099" y="0"/>
                </a:lnTo>
                <a:lnTo>
                  <a:pt x="135064" y="102965"/>
                </a:lnTo>
                <a:lnTo>
                  <a:pt x="32099" y="205931"/>
                </a:lnTo>
                <a:lnTo>
                  <a:pt x="0" y="173450"/>
                </a:lnTo>
                <a:lnTo>
                  <a:pt x="71723" y="101632"/>
                </a:lnTo>
                <a:lnTo>
                  <a:pt x="1334" y="31147"/>
                </a:lnTo>
                <a:close/>
              </a:path>
            </a:pathLst>
          </a:custGeom>
          <a:solidFill>
            <a:srgbClr val="F79600"/>
          </a:solidFill>
          <a:ln>
            <a:noFill/>
          </a:ln>
        </p:spPr>
      </p:sp>
      <p:sp>
        <p:nvSpPr>
          <p:cNvPr id="6" name="page07-title"/>
          <p:cNvSpPr/>
          <p:nvPr/>
        </p:nvSpPr>
        <p:spPr>
          <a:xfrm>
            <a:off x="1066800" y="76200"/>
            <a:ext cx="952500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84296" rIns="0" bIns="0" anchor="t" anchorCtr="0">
            <a:noAutofit/>
          </a:bodyPr>
          <a:lstStyle/>
          <a:p>
            <a:pPr algn="l"/>
            <a:r>
              <a:rPr lang="zh-CN" sz="2920" b="1" dirty="0">
                <a:solidFill>
                  <a:srgbClr val="005DA2"/>
                </a:solidFill>
                <a:latin typeface="Segoe UI"/>
                <a:ea typeface="Microsoft YaHei"/>
                <a:cs typeface="Segoe UI"/>
              </a:rPr>
              <a:t>从框架认知到框架选择</a:t>
            </a:r>
          </a:p>
        </p:txBody>
      </p:sp>
      <p:grpSp>
        <p:nvGrpSpPr>
          <p:cNvPr id="11" name="page07-card1"/>
          <p:cNvGrpSpPr/>
          <p:nvPr/>
        </p:nvGrpSpPr>
        <p:grpSpPr>
          <a:xfrm>
            <a:off x="857250" y="1285875"/>
            <a:ext cx="10477500" cy="1381125"/>
            <a:chOff x="857250" y="1285875"/>
            <a:chExt cx="10477500" cy="1381125"/>
          </a:xfrm>
        </p:grpSpPr>
        <p:sp>
          <p:nvSpPr>
            <p:cNvPr id="8" name="Rectangle 8"/>
            <p:cNvSpPr/>
            <p:nvPr/>
          </p:nvSpPr>
          <p:spPr>
            <a:xfrm>
              <a:off x="857250" y="1285875"/>
              <a:ext cx="10477500" cy="1381125"/>
            </a:xfrm>
            <a:prstGeom prst="roundRect">
              <a:avLst>
                <a:gd name="adj" fmla="val 12414"/>
              </a:avLst>
            </a:prstGeom>
            <a:solidFill>
              <a:srgbClr val="E7F1F8"/>
            </a:solidFill>
            <a:ln w="19050">
              <a:solidFill>
                <a:srgbClr val="005DA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79957" y="155575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05DA2"/>
                  </a:solidFill>
                  <a:latin typeface="Segoe UI"/>
                  <a:ea typeface="Microsoft YaHei"/>
                  <a:cs typeface="Segoe UI"/>
                </a:rPr>
                <a:t>研究问题定位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82243" y="2063750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22222"/>
                  </a:solidFill>
                  <a:latin typeface="Segoe UI"/>
                  <a:ea typeface="Microsoft YaHei"/>
                  <a:cs typeface="Segoe UI"/>
                </a:rPr>
                <a:t>研究问题属于什么内容与层级？</a:t>
              </a:r>
            </a:p>
          </p:txBody>
        </p:sp>
      </p:grpSp>
      <p:grpSp>
        <p:nvGrpSpPr>
          <p:cNvPr id="15" name="page07-card2"/>
          <p:cNvGrpSpPr/>
          <p:nvPr/>
        </p:nvGrpSpPr>
        <p:grpSpPr>
          <a:xfrm>
            <a:off x="857250" y="2857500"/>
            <a:ext cx="10477500" cy="1381125"/>
            <a:chOff x="857250" y="2857500"/>
            <a:chExt cx="10477500" cy="1381125"/>
          </a:xfrm>
        </p:grpSpPr>
        <p:sp>
          <p:nvSpPr>
            <p:cNvPr id="12" name="Rectangle 12"/>
            <p:cNvSpPr/>
            <p:nvPr/>
          </p:nvSpPr>
          <p:spPr>
            <a:xfrm>
              <a:off x="857250" y="2857500"/>
              <a:ext cx="10477500" cy="1381125"/>
            </a:xfrm>
            <a:prstGeom prst="roundRect">
              <a:avLst>
                <a:gd name="adj" fmla="val 12414"/>
              </a:avLst>
            </a:prstGeom>
            <a:solidFill>
              <a:srgbClr val="F3F6F8"/>
            </a:solidFill>
            <a:ln w="19050">
              <a:solidFill>
                <a:srgbClr val="5B9BD5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79957" y="312737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05DA2"/>
                  </a:solidFill>
                  <a:latin typeface="Segoe UI"/>
                  <a:ea typeface="Microsoft YaHei"/>
                  <a:cs typeface="Segoe UI"/>
                </a:rPr>
                <a:t>框架匹配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82243" y="3635375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22222"/>
                  </a:solidFill>
                  <a:latin typeface="Segoe UI"/>
                  <a:ea typeface="Microsoft YaHei"/>
                  <a:cs typeface="Segoe UI"/>
                </a:rPr>
                <a:t>哪类框架最适合承接核心构念？</a:t>
              </a:r>
            </a:p>
          </p:txBody>
        </p:sp>
      </p:grpSp>
      <p:grpSp>
        <p:nvGrpSpPr>
          <p:cNvPr id="19" name="page07-card3"/>
          <p:cNvGrpSpPr/>
          <p:nvPr/>
        </p:nvGrpSpPr>
        <p:grpSpPr>
          <a:xfrm>
            <a:off x="857250" y="4429125"/>
            <a:ext cx="10477500" cy="1381125"/>
            <a:chOff x="857250" y="4429125"/>
            <a:chExt cx="10477500" cy="1381125"/>
          </a:xfrm>
        </p:grpSpPr>
        <p:sp>
          <p:nvSpPr>
            <p:cNvPr id="16" name="Rectangle 16"/>
            <p:cNvSpPr/>
            <p:nvPr/>
          </p:nvSpPr>
          <p:spPr>
            <a:xfrm>
              <a:off x="857250" y="4429125"/>
              <a:ext cx="10477500" cy="1381125"/>
            </a:xfrm>
            <a:prstGeom prst="roundRect">
              <a:avLst>
                <a:gd name="adj" fmla="val 12414"/>
              </a:avLst>
            </a:prstGeom>
            <a:solidFill>
              <a:srgbClr val="E7F1F8"/>
            </a:solidFill>
            <a:ln w="19050">
              <a:solidFill>
                <a:srgbClr val="005DA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79957" y="469900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05DA2"/>
                  </a:solidFill>
                  <a:latin typeface="Segoe UI"/>
                  <a:ea typeface="Microsoft YaHei"/>
                  <a:cs typeface="Segoe UI"/>
                </a:rPr>
                <a:t>研究设计转化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82243" y="5207000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22222"/>
                  </a:solidFill>
                  <a:latin typeface="Segoe UI"/>
                  <a:ea typeface="Microsoft YaHei"/>
                  <a:cs typeface="Segoe UI"/>
                </a:rPr>
                <a:t>框架如何转化为资料、方法与分析路径？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page08-title"/>
          <p:cNvSpPr/>
          <p:nvPr/>
        </p:nvSpPr>
        <p:spPr>
          <a:xfrm>
            <a:off x="1066800" y="76200"/>
            <a:ext cx="952500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84296" rIns="0" bIns="0" anchor="t" anchorCtr="0">
            <a:noAutofit/>
          </a:bodyPr>
          <a:lstStyle/>
          <a:p>
            <a:pPr algn="l"/>
            <a:r>
              <a:rPr lang="zh-CN" sz="2920" b="1" dirty="0">
                <a:solidFill>
                  <a:srgbClr val="005DA2"/>
                </a:solidFill>
                <a:latin typeface="Segoe UI"/>
                <a:ea typeface="Microsoft YaHei"/>
                <a:cs typeface="Segoe UI"/>
              </a:rPr>
              <a:t>常用框架：从研究问题到分析路径</a:t>
            </a:r>
          </a:p>
        </p:txBody>
      </p:sp>
      <p:grpSp>
        <p:nvGrpSpPr>
          <p:cNvPr id="27" name="sample-steps"/>
          <p:cNvGrpSpPr/>
          <p:nvPr/>
        </p:nvGrpSpPr>
        <p:grpSpPr>
          <a:xfrm>
            <a:off x="1095375" y="2571750"/>
            <a:ext cx="9953625" cy="1047750"/>
            <a:chOff x="1095375" y="2571750"/>
            <a:chExt cx="9953625" cy="1047750"/>
          </a:xfrm>
        </p:grpSpPr>
        <p:grpSp>
          <p:nvGrpSpPr>
            <p:cNvPr id="11" name="step-problem"/>
            <p:cNvGrpSpPr/>
            <p:nvPr/>
          </p:nvGrpSpPr>
          <p:grpSpPr>
            <a:xfrm>
              <a:off x="1095375" y="2571750"/>
              <a:ext cx="2095500" cy="1047750"/>
              <a:chOff x="1095375" y="2571750"/>
              <a:chExt cx="2095500" cy="10477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1095375" y="2571750"/>
                <a:ext cx="2095500" cy="1047750"/>
              </a:xfrm>
              <a:prstGeom prst="roundRect">
                <a:avLst>
                  <a:gd name="adj" fmla="val 14545"/>
                </a:avLst>
              </a:prstGeom>
              <a:solidFill>
                <a:srgbClr val="E7F1F8"/>
              </a:solidFill>
              <a:ln w="19050">
                <a:solidFill>
                  <a:srgbClr val="005DA2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374343" y="2819400"/>
                <a:ext cx="1537564" cy="367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80" b="1" dirty="0">
                    <a:solidFill>
                      <a:srgbClr val="005DA2"/>
                    </a:solidFill>
                    <a:latin typeface="Microsoft YaHei"/>
                    <a:ea typeface="Microsoft YaHei"/>
                    <a:cs typeface="Microsoft YaHei"/>
                  </a:rPr>
                  <a:t>判断问题归属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668294" y="3206750"/>
                <a:ext cx="94966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222222"/>
                    </a:solidFill>
                    <a:latin typeface="Microsoft YaHei"/>
                    <a:ea typeface="Microsoft YaHei"/>
                    <a:cs typeface="Microsoft YaHei"/>
                  </a:rPr>
                  <a:t>内容 × 层次</a:t>
                </a:r>
              </a:p>
            </p:txBody>
          </p:sp>
        </p:grpSp>
        <p:grpSp>
          <p:nvGrpSpPr>
            <p:cNvPr id="15" name="step-select"/>
            <p:cNvGrpSpPr/>
            <p:nvPr/>
          </p:nvGrpSpPr>
          <p:grpSpPr>
            <a:xfrm>
              <a:off x="3714750" y="2571750"/>
              <a:ext cx="2095500" cy="1047750"/>
              <a:chOff x="3714750" y="2571750"/>
              <a:chExt cx="2095500" cy="10477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3714750" y="2571750"/>
                <a:ext cx="2095500" cy="1047750"/>
              </a:xfrm>
              <a:prstGeom prst="roundRect">
                <a:avLst>
                  <a:gd name="adj" fmla="val 14545"/>
                </a:avLst>
              </a:prstGeom>
              <a:solidFill>
                <a:srgbClr val="F3F6F8"/>
              </a:solidFill>
              <a:ln w="19050">
                <a:solidFill>
                  <a:srgbClr val="5B9BD5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3993718" y="2819400"/>
                <a:ext cx="1537564" cy="367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80" b="1" dirty="0">
                    <a:solidFill>
                      <a:srgbClr val="005DA2"/>
                    </a:solidFill>
                    <a:latin typeface="Microsoft YaHei"/>
                    <a:ea typeface="Microsoft YaHei"/>
                    <a:cs typeface="Microsoft YaHei"/>
                  </a:rPr>
                  <a:t>选取适宜框架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119562" y="3206750"/>
                <a:ext cx="12858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222222"/>
                    </a:solidFill>
                    <a:latin typeface="Microsoft YaHei"/>
                    <a:ea typeface="Microsoft YaHei"/>
                    <a:cs typeface="Microsoft YaHei"/>
                  </a:rPr>
                  <a:t>概念与逻辑匹配</a:t>
                </a:r>
              </a:p>
            </p:txBody>
          </p:sp>
        </p:grpSp>
        <p:grpSp>
          <p:nvGrpSpPr>
            <p:cNvPr id="19" name="step-design"/>
            <p:cNvGrpSpPr/>
            <p:nvPr/>
          </p:nvGrpSpPr>
          <p:grpSpPr>
            <a:xfrm>
              <a:off x="6334125" y="2571750"/>
              <a:ext cx="2095500" cy="1047750"/>
              <a:chOff x="6334125" y="2571750"/>
              <a:chExt cx="2095500" cy="10477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6334125" y="2571750"/>
                <a:ext cx="2095500" cy="1047750"/>
              </a:xfrm>
              <a:prstGeom prst="roundRect">
                <a:avLst>
                  <a:gd name="adj" fmla="val 14545"/>
                </a:avLst>
              </a:prstGeom>
              <a:solidFill>
                <a:srgbClr val="E7F1F8"/>
              </a:solidFill>
              <a:ln w="19050">
                <a:solidFill>
                  <a:srgbClr val="005DA2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6613093" y="2819400"/>
                <a:ext cx="1537564" cy="367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80" b="1" dirty="0">
                    <a:solidFill>
                      <a:srgbClr val="005DA2"/>
                    </a:solidFill>
                    <a:latin typeface="Microsoft YaHei"/>
                    <a:ea typeface="Microsoft YaHei"/>
                    <a:cs typeface="Microsoft YaHei"/>
                  </a:rPr>
                  <a:t>设计研究方案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729851" y="3206750"/>
                <a:ext cx="13040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222222"/>
                    </a:solidFill>
                    <a:latin typeface="Microsoft YaHei"/>
                    <a:ea typeface="Microsoft YaHei"/>
                    <a:cs typeface="Microsoft YaHei"/>
                  </a:rPr>
                  <a:t>构念—资料—方法</a:t>
                </a:r>
              </a:p>
            </p:txBody>
          </p:sp>
        </p:grpSp>
        <p:grpSp>
          <p:nvGrpSpPr>
            <p:cNvPr id="23" name="step-implement"/>
            <p:cNvGrpSpPr/>
            <p:nvPr/>
          </p:nvGrpSpPr>
          <p:grpSpPr>
            <a:xfrm>
              <a:off x="8953500" y="2571750"/>
              <a:ext cx="2095500" cy="1047750"/>
              <a:chOff x="8953500" y="2571750"/>
              <a:chExt cx="2095500" cy="104775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8953500" y="2571750"/>
                <a:ext cx="2095500" cy="1047750"/>
              </a:xfrm>
              <a:prstGeom prst="roundRect">
                <a:avLst>
                  <a:gd name="adj" fmla="val 14545"/>
                </a:avLst>
              </a:prstGeom>
              <a:solidFill>
                <a:srgbClr val="F3F6F8"/>
              </a:solidFill>
              <a:ln w="19050">
                <a:solidFill>
                  <a:srgbClr val="5B9BD5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9232468" y="2819400"/>
                <a:ext cx="1537564" cy="367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80" b="1" dirty="0">
                    <a:solidFill>
                      <a:srgbClr val="005DA2"/>
                    </a:solidFill>
                    <a:latin typeface="Microsoft YaHei"/>
                    <a:ea typeface="Microsoft YaHei"/>
                    <a:cs typeface="Microsoft YaHei"/>
                  </a:rPr>
                  <a:t>实施研究方案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349226" y="3206750"/>
                <a:ext cx="13040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222222"/>
                    </a:solidFill>
                    <a:latin typeface="Microsoft YaHei"/>
                    <a:ea typeface="Microsoft YaHei"/>
                    <a:cs typeface="Microsoft YaHei"/>
                  </a:rPr>
                  <a:t>结构—路径—解释</a:t>
                </a:r>
              </a:p>
            </p:txBody>
          </p:sp>
        </p:grpSp>
        <p:sp>
          <p:nvSpPr>
            <p:cNvPr id="24" name="Line 24"/>
            <p:cNvSpPr/>
            <p:nvPr/>
          </p:nvSpPr>
          <p:spPr>
            <a:xfrm>
              <a:off x="3190875" y="3095625"/>
              <a:ext cx="523875" cy="9525"/>
            </a:xfrm>
            <a:custGeom>
              <a:avLst/>
              <a:gdLst/>
              <a:ahLst/>
              <a:cxnLst/>
              <a:rect l="l" t="t" r="r" b="b"/>
              <a:pathLst>
                <a:path w="523875" h="9525">
                  <a:moveTo>
                    <a:pt x="0" y="0"/>
                  </a:moveTo>
                  <a:lnTo>
                    <a:pt x="523875" y="0"/>
                  </a:lnTo>
                </a:path>
              </a:pathLst>
            </a:custGeom>
            <a:noFill/>
            <a:ln w="28575">
              <a:solidFill>
                <a:srgbClr val="005DA2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5810250" y="3095625"/>
              <a:ext cx="523875" cy="9525"/>
            </a:xfrm>
            <a:custGeom>
              <a:avLst/>
              <a:gdLst/>
              <a:ahLst/>
              <a:cxnLst/>
              <a:rect l="l" t="t" r="r" b="b"/>
              <a:pathLst>
                <a:path w="523875" h="9525">
                  <a:moveTo>
                    <a:pt x="0" y="0"/>
                  </a:moveTo>
                  <a:lnTo>
                    <a:pt x="523875" y="0"/>
                  </a:lnTo>
                </a:path>
              </a:pathLst>
            </a:custGeom>
            <a:noFill/>
            <a:ln w="28575">
              <a:solidFill>
                <a:srgbClr val="005DA2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8429625" y="3095625"/>
              <a:ext cx="523875" cy="9525"/>
            </a:xfrm>
            <a:custGeom>
              <a:avLst/>
              <a:gdLst/>
              <a:ahLst/>
              <a:cxnLst/>
              <a:rect l="l" t="t" r="r" b="b"/>
              <a:pathLst>
                <a:path w="523875" h="9525">
                  <a:moveTo>
                    <a:pt x="0" y="0"/>
                  </a:moveTo>
                  <a:lnTo>
                    <a:pt x="523875" y="0"/>
                  </a:lnTo>
                </a:path>
              </a:pathLst>
            </a:custGeom>
            <a:noFill/>
            <a:ln w="28575">
              <a:solidFill>
                <a:srgbClr val="005DA2"/>
              </a:solidFill>
            </a:ln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ph type="title"/>
          </p:nvPr>
        </p:nvSpPr>
        <p:spPr>
          <a:xfrm>
            <a:off x="922687" y="37433"/>
            <a:ext cx="10515600" cy="612172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" name="layout-shape-7"/>
          <p:cNvCxnSpPr/>
          <p:nvPr/>
        </p:nvCxnSpPr>
        <p:spPr>
          <a:xfrm>
            <a:off x="908685" y="694849"/>
            <a:ext cx="10374630" cy="0"/>
          </a:xfrm>
          <a:prstGeom prst="line">
            <a:avLst/>
          </a:prstGeom>
          <a:noFill/>
          <a:ln w="9525">
            <a:solidFill>
              <a:srgbClr val="808080"/>
            </a:solidFill>
          </a:ln>
        </p:spPr>
      </p:cxnSp>
      <p:grpSp>
        <p:nvGrpSpPr>
          <p:cNvPr id="7" name="layout-shape-8"/>
          <p:cNvGrpSpPr/>
          <p:nvPr/>
        </p:nvGrpSpPr>
        <p:grpSpPr>
          <a:xfrm>
            <a:off x="353854" y="334804"/>
            <a:ext cx="390334" cy="205931"/>
            <a:chOff x="353854" y="334804"/>
            <a:chExt cx="390334" cy="205931"/>
          </a:xfrm>
        </p:grpSpPr>
        <p:sp>
          <p:nvSpPr>
            <p:cNvPr id="4" name="layout-shape-9"/>
            <p:cNvSpPr/>
            <p:nvPr/>
          </p:nvSpPr>
          <p:spPr>
            <a:xfrm>
              <a:off x="353854" y="334804"/>
              <a:ext cx="135636" cy="205931"/>
            </a:xfrm>
            <a:custGeom>
              <a:avLst/>
              <a:gdLst/>
              <a:ahLst/>
              <a:cxnLst/>
              <a:rect l="l" t="t" r="r" b="b"/>
              <a:pathLst>
                <a:path w="135636" h="205931">
                  <a:moveTo>
                    <a:pt x="1334" y="31147"/>
                  </a:moveTo>
                  <a:lnTo>
                    <a:pt x="32480" y="0"/>
                  </a:lnTo>
                  <a:lnTo>
                    <a:pt x="135636" y="102965"/>
                  </a:lnTo>
                  <a:lnTo>
                    <a:pt x="32480" y="205931"/>
                  </a:lnTo>
                  <a:lnTo>
                    <a:pt x="0" y="173450"/>
                  </a:lnTo>
                  <a:lnTo>
                    <a:pt x="71818" y="101632"/>
                  </a:lnTo>
                  <a:lnTo>
                    <a:pt x="1334" y="31147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</p:spPr>
        </p:sp>
        <p:sp>
          <p:nvSpPr>
            <p:cNvPr id="5" name="layout-shape-10"/>
            <p:cNvSpPr/>
            <p:nvPr/>
          </p:nvSpPr>
          <p:spPr>
            <a:xfrm>
              <a:off x="480536" y="334804"/>
              <a:ext cx="135064" cy="205931"/>
            </a:xfrm>
            <a:custGeom>
              <a:avLst/>
              <a:gdLst/>
              <a:ahLst/>
              <a:cxnLst/>
              <a:rect l="l" t="t" r="r" b="b"/>
              <a:pathLst>
                <a:path w="135064" h="205931">
                  <a:moveTo>
                    <a:pt x="1334" y="31147"/>
                  </a:moveTo>
                  <a:lnTo>
                    <a:pt x="32480" y="0"/>
                  </a:lnTo>
                  <a:lnTo>
                    <a:pt x="135064" y="102965"/>
                  </a:lnTo>
                  <a:lnTo>
                    <a:pt x="32480" y="205931"/>
                  </a:lnTo>
                  <a:lnTo>
                    <a:pt x="0" y="173450"/>
                  </a:lnTo>
                  <a:lnTo>
                    <a:pt x="71818" y="101632"/>
                  </a:lnTo>
                  <a:lnTo>
                    <a:pt x="1334" y="31147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</p:spPr>
        </p:sp>
        <p:sp>
          <p:nvSpPr>
            <p:cNvPr id="6" name="layout-shape-11"/>
            <p:cNvSpPr/>
            <p:nvPr/>
          </p:nvSpPr>
          <p:spPr>
            <a:xfrm>
              <a:off x="609124" y="334804"/>
              <a:ext cx="135064" cy="205931"/>
            </a:xfrm>
            <a:custGeom>
              <a:avLst/>
              <a:gdLst/>
              <a:ahLst/>
              <a:cxnLst/>
              <a:rect l="l" t="t" r="r" b="b"/>
              <a:pathLst>
                <a:path w="135064" h="205931">
                  <a:moveTo>
                    <a:pt x="1334" y="31147"/>
                  </a:moveTo>
                  <a:lnTo>
                    <a:pt x="32099" y="0"/>
                  </a:lnTo>
                  <a:lnTo>
                    <a:pt x="135064" y="102965"/>
                  </a:lnTo>
                  <a:lnTo>
                    <a:pt x="32099" y="205931"/>
                  </a:lnTo>
                  <a:lnTo>
                    <a:pt x="0" y="173450"/>
                  </a:lnTo>
                  <a:lnTo>
                    <a:pt x="71723" y="101632"/>
                  </a:lnTo>
                  <a:lnTo>
                    <a:pt x="1334" y="31147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</p:spPr>
        </p:sp>
      </p:grpSp>
      <p:sp>
        <p:nvSpPr>
          <p:cNvPr id="8" name="page09-title"/>
          <p:cNvSpPr/>
          <p:nvPr/>
        </p:nvSpPr>
        <p:spPr>
          <a:xfrm>
            <a:off x="1066800" y="76200"/>
            <a:ext cx="1009650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84296" rIns="0" bIns="0" anchor="t" anchorCtr="0">
            <a:noAutofit/>
          </a:bodyPr>
          <a:lstStyle/>
          <a:p>
            <a:pPr algn="l"/>
            <a:r>
              <a:rPr lang="zh-CN" sz="2920" b="1" dirty="0">
                <a:solidFill>
                  <a:srgbClr val="005DA2"/>
                </a:solidFill>
                <a:latin typeface="Segoe UI"/>
                <a:ea typeface="Microsoft YaHei"/>
                <a:cs typeface="Segoe UI"/>
              </a:rPr>
              <a:t>五大领域与常用框架索引</a:t>
            </a:r>
          </a:p>
        </p:txBody>
      </p:sp>
      <p:grpSp>
        <p:nvGrpSpPr>
          <p:cNvPr id="13" name="domain-row-1"/>
          <p:cNvGrpSpPr/>
          <p:nvPr/>
        </p:nvGrpSpPr>
        <p:grpSpPr>
          <a:xfrm>
            <a:off x="1143000" y="1257300"/>
            <a:ext cx="9906000" cy="685800"/>
            <a:chOff x="1143000" y="1257300"/>
            <a:chExt cx="9906000" cy="685800"/>
          </a:xfrm>
        </p:grpSpPr>
        <p:sp>
          <p:nvSpPr>
            <p:cNvPr id="10" name="Rectangle 10"/>
            <p:cNvSpPr/>
            <p:nvPr/>
          </p:nvSpPr>
          <p:spPr>
            <a:xfrm>
              <a:off x="1143000" y="1257300"/>
              <a:ext cx="9906000" cy="685800"/>
            </a:xfrm>
            <a:prstGeom prst="roundRect">
              <a:avLst>
                <a:gd name="adj" fmla="val 16667"/>
              </a:avLst>
            </a:prstGeom>
            <a:solidFill>
              <a:srgbClr val="E7F1F8"/>
            </a:solidFill>
            <a:ln w="19050">
              <a:solidFill>
                <a:srgbClr val="005DA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66850" y="1457325"/>
              <a:ext cx="103139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005DA2"/>
                  </a:solidFill>
                  <a:latin typeface="Segoe UI"/>
                  <a:ea typeface="Microsoft YaHei"/>
                  <a:cs typeface="Segoe UI"/>
                </a:rPr>
                <a:t>社会互动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05987" y="1470025"/>
              <a:ext cx="262832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222222"/>
                  </a:solidFill>
                  <a:latin typeface="Segoe UI"/>
                  <a:ea typeface="Microsoft YaHei"/>
                  <a:cs typeface="Segoe UI"/>
                </a:rPr>
                <a:t>健康社会决定因素 · SFIC</a:t>
              </a:r>
            </a:p>
          </p:txBody>
        </p:sp>
      </p:grpSp>
      <p:grpSp>
        <p:nvGrpSpPr>
          <p:cNvPr id="17" name="domain-row-2"/>
          <p:cNvGrpSpPr/>
          <p:nvPr/>
        </p:nvGrpSpPr>
        <p:grpSpPr>
          <a:xfrm>
            <a:off x="1143000" y="2057400"/>
            <a:ext cx="9906000" cy="685800"/>
            <a:chOff x="1143000" y="2057400"/>
            <a:chExt cx="9906000" cy="685800"/>
          </a:xfrm>
        </p:grpSpPr>
        <p:sp>
          <p:nvSpPr>
            <p:cNvPr id="14" name="Rectangle 14"/>
            <p:cNvSpPr/>
            <p:nvPr/>
          </p:nvSpPr>
          <p:spPr>
            <a:xfrm>
              <a:off x="1143000" y="2057400"/>
              <a:ext cx="9906000" cy="685800"/>
            </a:xfrm>
            <a:prstGeom prst="roundRect">
              <a:avLst>
                <a:gd name="adj" fmla="val 16667"/>
              </a:avLst>
            </a:prstGeom>
            <a:solidFill>
              <a:srgbClr val="F3F6F8"/>
            </a:solidFill>
            <a:ln w="19050">
              <a:solidFill>
                <a:srgbClr val="5B9BD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466850" y="2257425"/>
              <a:ext cx="103139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005DA2"/>
                  </a:solidFill>
                  <a:latin typeface="Segoe UI"/>
                  <a:ea typeface="Microsoft YaHei"/>
                  <a:cs typeface="Segoe UI"/>
                </a:rPr>
                <a:t>卫生系统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705987" y="2270125"/>
              <a:ext cx="333235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222222"/>
                  </a:solidFill>
                  <a:latin typeface="Segoe UI"/>
                  <a:ea typeface="Microsoft YaHei"/>
                  <a:cs typeface="Segoe UI"/>
                </a:rPr>
                <a:t>WHO六要素 · 卫生系统宏观模型</a:t>
              </a:r>
            </a:p>
          </p:txBody>
        </p:sp>
      </p:grpSp>
      <p:grpSp>
        <p:nvGrpSpPr>
          <p:cNvPr id="21" name="domain-row-3"/>
          <p:cNvGrpSpPr/>
          <p:nvPr/>
        </p:nvGrpSpPr>
        <p:grpSpPr>
          <a:xfrm>
            <a:off x="1143000" y="2857500"/>
            <a:ext cx="9906000" cy="685800"/>
            <a:chOff x="1143000" y="2857500"/>
            <a:chExt cx="9906000" cy="685800"/>
          </a:xfrm>
        </p:grpSpPr>
        <p:sp>
          <p:nvSpPr>
            <p:cNvPr id="18" name="Rectangle 18"/>
            <p:cNvSpPr/>
            <p:nvPr/>
          </p:nvSpPr>
          <p:spPr>
            <a:xfrm>
              <a:off x="1143000" y="2857500"/>
              <a:ext cx="9906000" cy="685800"/>
            </a:xfrm>
            <a:prstGeom prst="roundRect">
              <a:avLst>
                <a:gd name="adj" fmla="val 16667"/>
              </a:avLst>
            </a:prstGeom>
            <a:solidFill>
              <a:srgbClr val="E7F1F8"/>
            </a:solidFill>
            <a:ln w="19050">
              <a:solidFill>
                <a:srgbClr val="005DA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466850" y="3057525"/>
              <a:ext cx="103139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005DA2"/>
                  </a:solidFill>
                  <a:latin typeface="Segoe UI"/>
                  <a:ea typeface="Microsoft YaHei"/>
                  <a:cs typeface="Segoe UI"/>
                </a:rPr>
                <a:t>卫生政策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705987" y="3070225"/>
              <a:ext cx="355450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222222"/>
                  </a:solidFill>
                  <a:latin typeface="Segoe UI"/>
                  <a:ea typeface="Microsoft YaHei"/>
                  <a:cs typeface="Segoe UI"/>
                </a:rPr>
                <a:t>控制柄 · CFIR实施性研究综合框架</a:t>
              </a:r>
            </a:p>
          </p:txBody>
        </p:sp>
      </p:grpSp>
      <p:grpSp>
        <p:nvGrpSpPr>
          <p:cNvPr id="25" name="domain-row-4"/>
          <p:cNvGrpSpPr/>
          <p:nvPr/>
        </p:nvGrpSpPr>
        <p:grpSpPr>
          <a:xfrm>
            <a:off x="1143000" y="3657600"/>
            <a:ext cx="9906000" cy="685800"/>
            <a:chOff x="1143000" y="3657600"/>
            <a:chExt cx="9906000" cy="685800"/>
          </a:xfrm>
        </p:grpSpPr>
        <p:sp>
          <p:nvSpPr>
            <p:cNvPr id="22" name="Rectangle 22"/>
            <p:cNvSpPr/>
            <p:nvPr/>
          </p:nvSpPr>
          <p:spPr>
            <a:xfrm>
              <a:off x="1143000" y="3657600"/>
              <a:ext cx="9906000" cy="685800"/>
            </a:xfrm>
            <a:prstGeom prst="roundRect">
              <a:avLst>
                <a:gd name="adj" fmla="val 16667"/>
              </a:avLst>
            </a:prstGeom>
            <a:solidFill>
              <a:srgbClr val="F3F6F8"/>
            </a:solidFill>
            <a:ln w="19050">
              <a:solidFill>
                <a:srgbClr val="5B9BD5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466850" y="3857625"/>
              <a:ext cx="103139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005DA2"/>
                  </a:solidFill>
                  <a:latin typeface="Segoe UI"/>
                  <a:ea typeface="Microsoft YaHei"/>
                  <a:cs typeface="Segoe UI"/>
                </a:rPr>
                <a:t>卫生管理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05987" y="3870325"/>
              <a:ext cx="338412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222222"/>
                  </a:solidFill>
                  <a:latin typeface="Segoe UI"/>
                  <a:ea typeface="Microsoft YaHei"/>
                  <a:cs typeface="Segoe UI"/>
                </a:rPr>
                <a:t>安德森卫生服务利用模型 · PDCA</a:t>
              </a:r>
            </a:p>
          </p:txBody>
        </p:sp>
      </p:grpSp>
      <p:grpSp>
        <p:nvGrpSpPr>
          <p:cNvPr id="29" name="domain-row-5"/>
          <p:cNvGrpSpPr/>
          <p:nvPr/>
        </p:nvGrpSpPr>
        <p:grpSpPr>
          <a:xfrm>
            <a:off x="1143000" y="4457700"/>
            <a:ext cx="9906000" cy="685800"/>
            <a:chOff x="1143000" y="4457700"/>
            <a:chExt cx="9906000" cy="685800"/>
          </a:xfrm>
        </p:grpSpPr>
        <p:sp>
          <p:nvSpPr>
            <p:cNvPr id="26" name="Rectangle 26"/>
            <p:cNvSpPr/>
            <p:nvPr/>
          </p:nvSpPr>
          <p:spPr>
            <a:xfrm>
              <a:off x="1143000" y="4457700"/>
              <a:ext cx="9906000" cy="685800"/>
            </a:xfrm>
            <a:prstGeom prst="roundRect">
              <a:avLst>
                <a:gd name="adj" fmla="val 16667"/>
              </a:avLst>
            </a:prstGeom>
            <a:solidFill>
              <a:srgbClr val="E7F1F8"/>
            </a:solidFill>
            <a:ln w="19050">
              <a:solidFill>
                <a:srgbClr val="005DA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466850" y="4657725"/>
              <a:ext cx="103139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005DA2"/>
                  </a:solidFill>
                  <a:latin typeface="Segoe UI"/>
                  <a:ea typeface="Microsoft YaHei"/>
                  <a:cs typeface="Segoe UI"/>
                </a:rPr>
                <a:t>评价研究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705987" y="4670425"/>
              <a:ext cx="344419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222222"/>
                  </a:solidFill>
                  <a:latin typeface="Segoe UI"/>
                  <a:ea typeface="Microsoft YaHei"/>
                  <a:cs typeface="Segoe UI"/>
                </a:rPr>
                <a:t>卫生系统绩效 · 结果链 · RE-AIM</a:t>
              </a:r>
            </a:p>
          </p:txBody>
        </p:sp>
      </p:grpSp>
      <p:grpSp>
        <p:nvGrpSpPr>
          <p:cNvPr id="32" name="domain-index-note"/>
          <p:cNvGrpSpPr/>
          <p:nvPr/>
        </p:nvGrpSpPr>
        <p:grpSpPr>
          <a:xfrm>
            <a:off x="1143000" y="5353050"/>
            <a:ext cx="9906000" cy="533400"/>
            <a:chOff x="1143000" y="5353050"/>
            <a:chExt cx="9906000" cy="533400"/>
          </a:xfrm>
        </p:grpSpPr>
        <p:sp>
          <p:nvSpPr>
            <p:cNvPr id="30" name="Rectangle 30"/>
            <p:cNvSpPr/>
            <p:nvPr/>
          </p:nvSpPr>
          <p:spPr>
            <a:xfrm>
              <a:off x="1143000" y="5353050"/>
              <a:ext cx="9906000" cy="533400"/>
            </a:xfrm>
            <a:prstGeom prst="roundRect">
              <a:avLst>
                <a:gd name="adj" fmla="val 17857"/>
              </a:avLst>
            </a:prstGeom>
            <a:solidFill>
              <a:srgbClr val="FFF4DF"/>
            </a:solidFill>
            <a:ln w="14288">
              <a:solidFill>
                <a:srgbClr val="F79600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421130" y="5518150"/>
              <a:ext cx="6477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五大领域用于组织知识与导航；框架归类并非排他，也不表示因果关系。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page10-title"/>
          <p:cNvSpPr/>
          <p:nvPr/>
        </p:nvSpPr>
        <p:spPr>
          <a:xfrm>
            <a:off x="1066800" y="76200"/>
            <a:ext cx="1009650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84296" rIns="0" bIns="0" anchor="t" anchorCtr="0">
            <a:noAutofit/>
          </a:bodyPr>
          <a:lstStyle/>
          <a:p>
            <a:pPr algn="l"/>
            <a:r>
              <a:rPr lang="zh-CN" sz="2920" b="1" dirty="0">
                <a:solidFill>
                  <a:srgbClr val="005DA2"/>
                </a:solidFill>
                <a:latin typeface="Segoe UI"/>
                <a:ea typeface="Microsoft YaHei"/>
                <a:cs typeface="Segoe UI"/>
              </a:rPr>
              <a:t>健康社会决定因素：五层结构</a:t>
            </a:r>
          </a:p>
        </p:txBody>
      </p:sp>
      <p:sp>
        <p:nvSpPr>
          <p:cNvPr id="8" name="layer-5-outer"/>
          <p:cNvSpPr/>
          <p:nvPr/>
        </p:nvSpPr>
        <p:spPr>
          <a:xfrm>
            <a:off x="1238250" y="1381125"/>
            <a:ext cx="4286250" cy="4286250"/>
          </a:xfrm>
          <a:prstGeom prst="ellipse">
            <a:avLst/>
          </a:prstGeom>
          <a:solidFill>
            <a:srgbClr val="E7F1F8"/>
          </a:solidFill>
          <a:ln w="19050">
            <a:solidFill>
              <a:srgbClr val="005DA2"/>
            </a:solidFill>
          </a:ln>
        </p:spPr>
      </p:sp>
      <p:sp>
        <p:nvSpPr>
          <p:cNvPr id="9" name="layer-4"/>
          <p:cNvSpPr/>
          <p:nvPr/>
        </p:nvSpPr>
        <p:spPr>
          <a:xfrm>
            <a:off x="1619250" y="1762125"/>
            <a:ext cx="3524250" cy="3524250"/>
          </a:xfrm>
          <a:prstGeom prst="ellipse">
            <a:avLst/>
          </a:prstGeom>
          <a:solidFill>
            <a:srgbClr val="D5E8F5"/>
          </a:solidFill>
          <a:ln w="19050">
            <a:solidFill>
              <a:srgbClr val="3992DB"/>
            </a:solidFill>
          </a:ln>
        </p:spPr>
      </p:sp>
      <p:sp>
        <p:nvSpPr>
          <p:cNvPr id="10" name="layer-3"/>
          <p:cNvSpPr/>
          <p:nvPr/>
        </p:nvSpPr>
        <p:spPr>
          <a:xfrm>
            <a:off x="2000250" y="2143125"/>
            <a:ext cx="2762250" cy="2762250"/>
          </a:xfrm>
          <a:prstGeom prst="ellipse">
            <a:avLst/>
          </a:prstGeom>
          <a:solidFill>
            <a:srgbClr val="A9D0EA"/>
          </a:solidFill>
          <a:ln w="19050">
            <a:solidFill>
              <a:srgbClr val="237BB8"/>
            </a:solidFill>
          </a:ln>
        </p:spPr>
      </p:sp>
      <p:sp>
        <p:nvSpPr>
          <p:cNvPr id="11" name="layer-2"/>
          <p:cNvSpPr/>
          <p:nvPr/>
        </p:nvSpPr>
        <p:spPr>
          <a:xfrm>
            <a:off x="2381250" y="2524125"/>
            <a:ext cx="2000250" cy="2000250"/>
          </a:xfrm>
          <a:prstGeom prst="ellipse">
            <a:avLst/>
          </a:prstGeom>
          <a:solidFill>
            <a:srgbClr val="5FA4D6"/>
          </a:solidFill>
          <a:ln w="19050">
            <a:solidFill>
              <a:srgbClr val="005DA2"/>
            </a:solidFill>
          </a:ln>
        </p:spPr>
      </p:sp>
      <p:grpSp>
        <p:nvGrpSpPr>
          <p:cNvPr id="15" name="layer-1-core"/>
          <p:cNvGrpSpPr/>
          <p:nvPr/>
        </p:nvGrpSpPr>
        <p:grpSpPr>
          <a:xfrm>
            <a:off x="2762250" y="2905125"/>
            <a:ext cx="1238250" cy="1238250"/>
            <a:chOff x="2762250" y="2905125"/>
            <a:chExt cx="1238250" cy="1238250"/>
          </a:xfrm>
        </p:grpSpPr>
        <p:sp>
          <p:nvSpPr>
            <p:cNvPr id="12" name="Ellipse 12"/>
            <p:cNvSpPr/>
            <p:nvPr/>
          </p:nvSpPr>
          <p:spPr>
            <a:xfrm>
              <a:off x="2762250" y="2905125"/>
              <a:ext cx="1238250" cy="1238250"/>
            </a:xfrm>
            <a:prstGeom prst="ellipse">
              <a:avLst/>
            </a:prstGeom>
            <a:solidFill>
              <a:srgbClr val="005DA2"/>
            </a:solidFill>
            <a:ln w="19050">
              <a:solidFill>
                <a:srgbClr val="004B83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011043" y="33115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个体基础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192780" y="354965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因素</a:t>
              </a:r>
            </a:p>
          </p:txBody>
        </p:sp>
      </p:grpSp>
      <p:grpSp>
        <p:nvGrpSpPr>
          <p:cNvPr id="20" name="legend-layer-5"/>
          <p:cNvGrpSpPr/>
          <p:nvPr/>
        </p:nvGrpSpPr>
        <p:grpSpPr>
          <a:xfrm>
            <a:off x="6191250" y="1352550"/>
            <a:ext cx="5143500" cy="742950"/>
            <a:chOff x="6191250" y="1352550"/>
            <a:chExt cx="5143500" cy="742950"/>
          </a:xfrm>
        </p:grpSpPr>
        <p:sp>
          <p:nvSpPr>
            <p:cNvPr id="16" name="Rectangle 16"/>
            <p:cNvSpPr/>
            <p:nvPr/>
          </p:nvSpPr>
          <p:spPr>
            <a:xfrm>
              <a:off x="6191250" y="1352550"/>
              <a:ext cx="5143500" cy="742950"/>
            </a:xfrm>
            <a:prstGeom prst="roundRect">
              <a:avLst>
                <a:gd name="adj" fmla="val 15385"/>
              </a:avLst>
            </a:prstGeom>
            <a:solidFill>
              <a:srgbClr val="F5FAFD"/>
            </a:solidFill>
            <a:ln w="14288">
              <a:solidFill>
                <a:srgbClr val="B9D7EA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6353175" y="1600200"/>
              <a:ext cx="247650" cy="247650"/>
            </a:xfrm>
            <a:prstGeom prst="ellipse">
              <a:avLst/>
            </a:prstGeom>
            <a:solidFill>
              <a:srgbClr val="E7F1F8"/>
            </a:solidFill>
            <a:ln w="19050">
              <a:solidFill>
                <a:srgbClr val="005DA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706743" y="1482725"/>
              <a:ext cx="28804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5DA2"/>
                  </a:solidFill>
                  <a:latin typeface="Segoe UI"/>
                  <a:ea typeface="Microsoft YaHei"/>
                  <a:cs typeface="Segoe UI"/>
                </a:rPr>
                <a:t>5 宏观社会经济、文化与环境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08648" y="1790700"/>
              <a:ext cx="190840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更广泛的社会与环境条件</a:t>
              </a:r>
            </a:p>
          </p:txBody>
        </p:sp>
      </p:grpSp>
      <p:grpSp>
        <p:nvGrpSpPr>
          <p:cNvPr id="25" name="legend-layer-4"/>
          <p:cNvGrpSpPr/>
          <p:nvPr/>
        </p:nvGrpSpPr>
        <p:grpSpPr>
          <a:xfrm>
            <a:off x="6191250" y="2152650"/>
            <a:ext cx="5143500" cy="742950"/>
            <a:chOff x="6191250" y="2152650"/>
            <a:chExt cx="5143500" cy="742950"/>
          </a:xfrm>
        </p:grpSpPr>
        <p:sp>
          <p:nvSpPr>
            <p:cNvPr id="21" name="Rectangle 21"/>
            <p:cNvSpPr/>
            <p:nvPr/>
          </p:nvSpPr>
          <p:spPr>
            <a:xfrm>
              <a:off x="6191250" y="2152650"/>
              <a:ext cx="5143500" cy="742950"/>
            </a:xfrm>
            <a:prstGeom prst="roundRect">
              <a:avLst>
                <a:gd name="adj" fmla="val 15385"/>
              </a:avLst>
            </a:prstGeom>
            <a:solidFill>
              <a:srgbClr val="F5FAFD"/>
            </a:solidFill>
            <a:ln w="14288">
              <a:solidFill>
                <a:srgbClr val="B9D7EA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6353175" y="2400300"/>
              <a:ext cx="247650" cy="247650"/>
            </a:xfrm>
            <a:prstGeom prst="ellipse">
              <a:avLst/>
            </a:prstGeom>
            <a:solidFill>
              <a:srgbClr val="D5E8F5"/>
            </a:solidFill>
            <a:ln w="19050">
              <a:solidFill>
                <a:srgbClr val="3992D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06743" y="2282825"/>
              <a:ext cx="17698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5DA2"/>
                  </a:solidFill>
                  <a:latin typeface="Segoe UI"/>
                  <a:ea typeface="Microsoft YaHei"/>
                  <a:cs typeface="Segoe UI"/>
                </a:rPr>
                <a:t>4 生活和工作条件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08648" y="2590800"/>
              <a:ext cx="336445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住房 · 工作环境 · 保健服务 · 水与卫生设施</a:t>
              </a:r>
            </a:p>
          </p:txBody>
        </p:sp>
      </p:grpSp>
      <p:grpSp>
        <p:nvGrpSpPr>
          <p:cNvPr id="30" name="legend-layer-3"/>
          <p:cNvGrpSpPr/>
          <p:nvPr/>
        </p:nvGrpSpPr>
        <p:grpSpPr>
          <a:xfrm>
            <a:off x="6191250" y="2952750"/>
            <a:ext cx="5143500" cy="742950"/>
            <a:chOff x="6191250" y="2952750"/>
            <a:chExt cx="5143500" cy="742950"/>
          </a:xfrm>
        </p:grpSpPr>
        <p:sp>
          <p:nvSpPr>
            <p:cNvPr id="26" name="Rectangle 26"/>
            <p:cNvSpPr/>
            <p:nvPr/>
          </p:nvSpPr>
          <p:spPr>
            <a:xfrm>
              <a:off x="6191250" y="2952750"/>
              <a:ext cx="5143500" cy="742950"/>
            </a:xfrm>
            <a:prstGeom prst="roundRect">
              <a:avLst>
                <a:gd name="adj" fmla="val 15385"/>
              </a:avLst>
            </a:prstGeom>
            <a:solidFill>
              <a:srgbClr val="F5FAFD"/>
            </a:solidFill>
            <a:ln w="14288">
              <a:solidFill>
                <a:srgbClr val="B9D7EA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6353175" y="3200400"/>
              <a:ext cx="247650" cy="247650"/>
            </a:xfrm>
            <a:prstGeom prst="ellipse">
              <a:avLst/>
            </a:prstGeom>
            <a:solidFill>
              <a:srgbClr val="A9D0EA"/>
            </a:solidFill>
            <a:ln w="19050">
              <a:solidFill>
                <a:srgbClr val="237BB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06743" y="3082925"/>
              <a:ext cx="17698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5DA2"/>
                  </a:solidFill>
                  <a:latin typeface="Segoe UI"/>
                  <a:ea typeface="Microsoft YaHei"/>
                  <a:cs typeface="Segoe UI"/>
                </a:rPr>
                <a:t>3 社会和社区因素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08648" y="3390900"/>
              <a:ext cx="156377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社会网络与社区条件</a:t>
              </a:r>
            </a:p>
          </p:txBody>
        </p:sp>
      </p:grpSp>
      <p:grpSp>
        <p:nvGrpSpPr>
          <p:cNvPr id="34" name="legend-layer-2"/>
          <p:cNvGrpSpPr/>
          <p:nvPr/>
        </p:nvGrpSpPr>
        <p:grpSpPr>
          <a:xfrm>
            <a:off x="6191250" y="3752850"/>
            <a:ext cx="5143500" cy="742950"/>
            <a:chOff x="6191250" y="3752850"/>
            <a:chExt cx="5143500" cy="742950"/>
          </a:xfrm>
        </p:grpSpPr>
        <p:sp>
          <p:nvSpPr>
            <p:cNvPr id="31" name="Rectangle 31"/>
            <p:cNvSpPr/>
            <p:nvPr/>
          </p:nvSpPr>
          <p:spPr>
            <a:xfrm>
              <a:off x="6191250" y="3752850"/>
              <a:ext cx="5143500" cy="742950"/>
            </a:xfrm>
            <a:prstGeom prst="roundRect">
              <a:avLst>
                <a:gd name="adj" fmla="val 15385"/>
              </a:avLst>
            </a:prstGeom>
            <a:solidFill>
              <a:srgbClr val="F5FAFD"/>
            </a:solidFill>
            <a:ln w="14288">
              <a:solidFill>
                <a:srgbClr val="B9D7EA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6353175" y="4000500"/>
              <a:ext cx="247650" cy="247650"/>
            </a:xfrm>
            <a:prstGeom prst="ellipse">
              <a:avLst/>
            </a:prstGeom>
            <a:solidFill>
              <a:srgbClr val="5FA4D6"/>
            </a:solidFill>
            <a:ln w="19050">
              <a:solidFill>
                <a:srgbClr val="005DA2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06743" y="3978275"/>
              <a:ext cx="17698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5DA2"/>
                  </a:solidFill>
                  <a:latin typeface="Segoe UI"/>
                  <a:ea typeface="Microsoft YaHei"/>
                  <a:cs typeface="Segoe UI"/>
                </a:rPr>
                <a:t>2 行为和生活方式</a:t>
              </a:r>
            </a:p>
          </p:txBody>
        </p:sp>
      </p:grpSp>
      <p:grpSp>
        <p:nvGrpSpPr>
          <p:cNvPr id="38" name="legend-layer-1"/>
          <p:cNvGrpSpPr/>
          <p:nvPr/>
        </p:nvGrpSpPr>
        <p:grpSpPr>
          <a:xfrm>
            <a:off x="6191250" y="4552950"/>
            <a:ext cx="5143500" cy="742950"/>
            <a:chOff x="6191250" y="4552950"/>
            <a:chExt cx="5143500" cy="742950"/>
          </a:xfrm>
        </p:grpSpPr>
        <p:sp>
          <p:nvSpPr>
            <p:cNvPr id="35" name="Rectangle 35"/>
            <p:cNvSpPr/>
            <p:nvPr/>
          </p:nvSpPr>
          <p:spPr>
            <a:xfrm>
              <a:off x="6191250" y="4552950"/>
              <a:ext cx="5143500" cy="742950"/>
            </a:xfrm>
            <a:prstGeom prst="roundRect">
              <a:avLst>
                <a:gd name="adj" fmla="val 15385"/>
              </a:avLst>
            </a:prstGeom>
            <a:solidFill>
              <a:srgbClr val="F5FAFD"/>
            </a:solidFill>
            <a:ln w="14288">
              <a:solidFill>
                <a:srgbClr val="B9D7EA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6353175" y="4800600"/>
              <a:ext cx="247650" cy="247650"/>
            </a:xfrm>
            <a:prstGeom prst="ellipse">
              <a:avLst/>
            </a:prstGeom>
            <a:solidFill>
              <a:srgbClr val="005DA2"/>
            </a:solidFill>
            <a:ln w="19050">
              <a:solidFill>
                <a:srgbClr val="004B83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06743" y="4778375"/>
              <a:ext cx="15477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5DA2"/>
                  </a:solidFill>
                  <a:latin typeface="Segoe UI"/>
                  <a:ea typeface="Microsoft YaHei"/>
                  <a:cs typeface="Segoe UI"/>
                </a:rPr>
                <a:t>1 个体基础因素</a:t>
              </a:r>
            </a:p>
          </p:txBody>
        </p:sp>
      </p:grpSp>
      <p:grpSp>
        <p:nvGrpSpPr>
          <p:cNvPr id="40" name="layer-relation-note"/>
          <p:cNvGrpSpPr/>
          <p:nvPr/>
        </p:nvGrpSpPr>
        <p:grpSpPr>
          <a:xfrm>
            <a:off x="1231392" y="5892800"/>
            <a:ext cx="7101459" cy="264033"/>
            <a:chOff x="1231392" y="5892800"/>
            <a:chExt cx="7101459" cy="264033"/>
          </a:xfrm>
        </p:grpSpPr>
        <p:sp>
          <p:nvSpPr>
            <p:cNvPr id="39" name="TextBox 39"/>
            <p:cNvSpPr txBox="1"/>
            <p:nvPr/>
          </p:nvSpPr>
          <p:spPr>
            <a:xfrm>
              <a:off x="1231392" y="5892800"/>
              <a:ext cx="7101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外层条件影响内层因素；嵌套表示结构层级，不代表时间顺序或已验证的单一因果路径。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page11-title"/>
          <p:cNvSpPr/>
          <p:nvPr/>
        </p:nvSpPr>
        <p:spPr>
          <a:xfrm>
            <a:off x="1066800" y="76200"/>
            <a:ext cx="1009650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84296" rIns="0" bIns="0" anchor="t" anchorCtr="0">
            <a:noAutofit/>
          </a:bodyPr>
          <a:lstStyle/>
          <a:p>
            <a:pPr algn="l"/>
            <a:r>
              <a:rPr lang="zh-CN" sz="2920" b="1" dirty="0">
                <a:solidFill>
                  <a:srgbClr val="005DA2"/>
                </a:solidFill>
                <a:latin typeface="Segoe UI"/>
                <a:ea typeface="Microsoft YaHei"/>
                <a:cs typeface="Segoe UI"/>
              </a:rPr>
              <a:t>健康社会决定因素：研究层次与边界</a:t>
            </a:r>
          </a:p>
        </p:txBody>
      </p:sp>
      <p:grpSp>
        <p:nvGrpSpPr>
          <p:cNvPr id="19" name="levels-panel"/>
          <p:cNvGrpSpPr/>
          <p:nvPr/>
        </p:nvGrpSpPr>
        <p:grpSpPr>
          <a:xfrm>
            <a:off x="857250" y="1238250"/>
            <a:ext cx="4953000" cy="4381500"/>
            <a:chOff x="857250" y="1238250"/>
            <a:chExt cx="4953000" cy="4381500"/>
          </a:xfrm>
        </p:grpSpPr>
        <p:sp>
          <p:nvSpPr>
            <p:cNvPr id="8" name="Rectangle 8"/>
            <p:cNvSpPr/>
            <p:nvPr/>
          </p:nvSpPr>
          <p:spPr>
            <a:xfrm>
              <a:off x="857250" y="1238250"/>
              <a:ext cx="4953000" cy="4381500"/>
            </a:xfrm>
            <a:prstGeom prst="roundRect">
              <a:avLst>
                <a:gd name="adj" fmla="val 3913"/>
              </a:avLst>
            </a:prstGeom>
            <a:solidFill>
              <a:srgbClr val="E7F1F8"/>
            </a:solidFill>
            <a:ln w="19050">
              <a:solidFill>
                <a:srgbClr val="005DA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79957" y="144145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05DA2"/>
                  </a:solidFill>
                  <a:latin typeface="Segoe UI"/>
                  <a:ea typeface="Microsoft YaHei"/>
                  <a:cs typeface="Segoe UI"/>
                </a:rPr>
                <a:t>研究层次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190625" y="2000250"/>
              <a:ext cx="4286250" cy="904875"/>
            </a:xfrm>
            <a:prstGeom prst="roundRect">
              <a:avLst>
                <a:gd name="adj" fmla="val 14737"/>
              </a:avLst>
            </a:prstGeom>
            <a:solidFill>
              <a:srgbClr val="FFFFFF"/>
            </a:solidFill>
            <a:ln w="14288">
              <a:solidFill>
                <a:srgbClr val="5B9BD5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19987" y="2136775"/>
              <a:ext cx="71216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05DA2"/>
                  </a:solidFill>
                  <a:latin typeface="Segoe UI"/>
                  <a:ea typeface="Microsoft YaHei"/>
                  <a:cs typeface="Segoe UI"/>
                </a:rPr>
                <a:t>宏观层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21511" y="2489200"/>
              <a:ext cx="236575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制度 · 收入分配 · 教育体系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190625" y="3095625"/>
              <a:ext cx="4286250" cy="904875"/>
            </a:xfrm>
            <a:prstGeom prst="roundRect">
              <a:avLst>
                <a:gd name="adj" fmla="val 14737"/>
              </a:avLst>
            </a:prstGeom>
            <a:solidFill>
              <a:srgbClr val="FFFFFF"/>
            </a:solidFill>
            <a:ln w="14288">
              <a:solidFill>
                <a:srgbClr val="5B9BD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419987" y="3232150"/>
              <a:ext cx="71216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05DA2"/>
                  </a:solidFill>
                  <a:latin typeface="Segoe UI"/>
                  <a:ea typeface="Microsoft YaHei"/>
                  <a:cs typeface="Segoe UI"/>
                </a:rPr>
                <a:t>社区层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21511" y="3584575"/>
              <a:ext cx="332155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居住环境 · 社会网络 · 就业与环境暴露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190625" y="4191000"/>
              <a:ext cx="4286250" cy="904875"/>
            </a:xfrm>
            <a:prstGeom prst="roundRect">
              <a:avLst>
                <a:gd name="adj" fmla="val 14737"/>
              </a:avLst>
            </a:prstGeom>
            <a:solidFill>
              <a:srgbClr val="FFFFFF"/>
            </a:solidFill>
            <a:ln w="14288">
              <a:solidFill>
                <a:srgbClr val="5B9BD5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419987" y="4327525"/>
              <a:ext cx="71216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05DA2"/>
                  </a:solidFill>
                  <a:latin typeface="Segoe UI"/>
                  <a:ea typeface="Microsoft YaHei"/>
                  <a:cs typeface="Segoe UI"/>
                </a:rPr>
                <a:t>个体层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21511" y="4679950"/>
              <a:ext cx="29679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社会地位 · 行为 · 心理 · 服务获取</a:t>
              </a:r>
            </a:p>
          </p:txBody>
        </p:sp>
      </p:grpSp>
      <p:grpSp>
        <p:nvGrpSpPr>
          <p:cNvPr id="32" name="boundary-panel"/>
          <p:cNvGrpSpPr/>
          <p:nvPr/>
        </p:nvGrpSpPr>
        <p:grpSpPr>
          <a:xfrm>
            <a:off x="6191250" y="1238250"/>
            <a:ext cx="5143500" cy="4381500"/>
            <a:chOff x="6191250" y="1238250"/>
            <a:chExt cx="5143500" cy="4381500"/>
          </a:xfrm>
        </p:grpSpPr>
        <p:sp>
          <p:nvSpPr>
            <p:cNvPr id="20" name="Rectangle 20"/>
            <p:cNvSpPr/>
            <p:nvPr/>
          </p:nvSpPr>
          <p:spPr>
            <a:xfrm>
              <a:off x="6191250" y="1238250"/>
              <a:ext cx="5143500" cy="4381500"/>
            </a:xfrm>
            <a:prstGeom prst="roundRect">
              <a:avLst>
                <a:gd name="adj" fmla="val 3913"/>
              </a:avLst>
            </a:prstGeom>
            <a:solidFill>
              <a:srgbClr val="F5FAFD"/>
            </a:solidFill>
            <a:ln w="19050">
              <a:solidFill>
                <a:srgbClr val="3992D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13957" y="144145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05DA2"/>
                  </a:solidFill>
                  <a:latin typeface="Segoe UI"/>
                  <a:ea typeface="Microsoft YaHei"/>
                  <a:cs typeface="Segoe UI"/>
                </a:rPr>
                <a:t>使用边界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524625" y="2000250"/>
              <a:ext cx="4476750" cy="6858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4288">
              <a:solidFill>
                <a:srgbClr val="B9D7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55130" y="224155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用于政策、健康教育与不平等研究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524625" y="2857500"/>
              <a:ext cx="4476750" cy="6858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4288">
              <a:solidFill>
                <a:srgbClr val="B9D7E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55511" y="2965450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层级定位分析单位，不能直接推出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55511" y="3222625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个体因果机制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524625" y="3714750"/>
              <a:ext cx="4476750" cy="6858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4288">
              <a:solidFill>
                <a:srgbClr val="B9D7E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55130" y="395605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健康影响可能存在双向因果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524625" y="4572000"/>
              <a:ext cx="4476750" cy="685800"/>
            </a:xfrm>
            <a:prstGeom prst="roundRect">
              <a:avLst>
                <a:gd name="adj" fmla="val 16667"/>
              </a:avLst>
            </a:prstGeom>
            <a:solidFill>
              <a:srgbClr val="FFF4DF"/>
            </a:solidFill>
            <a:ln w="14288">
              <a:solidFill>
                <a:srgbClr val="F7960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55511" y="4679950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短期干预难改变结构条件，需交代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55511" y="4937125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政策边界与时间范围</a:t>
              </a:r>
            </a:p>
          </p:txBody>
        </p:sp>
      </p:grpSp>
      <p:grpSp>
        <p:nvGrpSpPr>
          <p:cNvPr id="34" name="boundary-note"/>
          <p:cNvGrpSpPr/>
          <p:nvPr/>
        </p:nvGrpSpPr>
        <p:grpSpPr>
          <a:xfrm>
            <a:off x="850392" y="5883275"/>
            <a:ext cx="6556248" cy="264033"/>
            <a:chOff x="850392" y="5883275"/>
            <a:chExt cx="6556248" cy="264033"/>
          </a:xfrm>
        </p:grpSpPr>
        <p:sp>
          <p:nvSpPr>
            <p:cNvPr id="33" name="TextBox 33"/>
            <p:cNvSpPr txBox="1"/>
            <p:nvPr/>
          </p:nvSpPr>
          <p:spPr>
            <a:xfrm>
              <a:off x="850392" y="5883275"/>
              <a:ext cx="65562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多层框架帮助组织研究对象与分析单位；具体机制仍需通过研究设计和证据检验。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08685" y="694849"/>
            <a:ext cx="10374630" cy="9525"/>
          </a:xfrm>
          <a:custGeom>
            <a:avLst/>
            <a:gdLst/>
            <a:ahLst/>
            <a:cxnLst/>
            <a:rect l="l" t="t" r="r" b="b"/>
            <a:pathLst>
              <a:path w="10374630" h="9525">
                <a:moveTo>
                  <a:pt x="0" y="0"/>
                </a:moveTo>
                <a:lnTo>
                  <a:pt x="10374630" y="0"/>
                </a:lnTo>
              </a:path>
            </a:pathLst>
          </a:custGeom>
          <a:noFill/>
          <a:ln w="9525">
            <a:solidFill>
              <a:srgbClr val="808080"/>
            </a:solidFill>
          </a:ln>
        </p:spPr>
      </p:sp>
      <p:grpSp>
        <p:nvGrpSpPr>
          <p:cNvPr id="6" name="layout-shape-8"/>
          <p:cNvGrpSpPr/>
          <p:nvPr/>
        </p:nvGrpSpPr>
        <p:grpSpPr>
          <a:xfrm>
            <a:off x="353854" y="334804"/>
            <a:ext cx="390334" cy="205931"/>
            <a:chOff x="353854" y="334804"/>
            <a:chExt cx="390334" cy="205931"/>
          </a:xfrm>
        </p:grpSpPr>
        <p:sp>
          <p:nvSpPr>
            <p:cNvPr id="3" name="Freeform 3"/>
            <p:cNvSpPr/>
            <p:nvPr/>
          </p:nvSpPr>
          <p:spPr>
            <a:xfrm>
              <a:off x="353854" y="334804"/>
              <a:ext cx="135636" cy="205931"/>
            </a:xfrm>
            <a:custGeom>
              <a:avLst/>
              <a:gdLst/>
              <a:ahLst/>
              <a:cxnLst/>
              <a:rect l="l" t="t" r="r" b="b"/>
              <a:pathLst>
                <a:path w="135636" h="205931">
                  <a:moveTo>
                    <a:pt x="1334" y="31147"/>
                  </a:moveTo>
                  <a:lnTo>
                    <a:pt x="32480" y="0"/>
                  </a:lnTo>
                  <a:lnTo>
                    <a:pt x="135636" y="102965"/>
                  </a:lnTo>
                  <a:lnTo>
                    <a:pt x="32480" y="205931"/>
                  </a:lnTo>
                  <a:lnTo>
                    <a:pt x="0" y="173450"/>
                  </a:lnTo>
                  <a:lnTo>
                    <a:pt x="71818" y="101632"/>
                  </a:lnTo>
                  <a:lnTo>
                    <a:pt x="1334" y="31147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480536" y="334804"/>
              <a:ext cx="135064" cy="205931"/>
            </a:xfrm>
            <a:custGeom>
              <a:avLst/>
              <a:gdLst/>
              <a:ahLst/>
              <a:cxnLst/>
              <a:rect l="l" t="t" r="r" b="b"/>
              <a:pathLst>
                <a:path w="135064" h="205931">
                  <a:moveTo>
                    <a:pt x="1334" y="31147"/>
                  </a:moveTo>
                  <a:lnTo>
                    <a:pt x="32480" y="0"/>
                  </a:lnTo>
                  <a:lnTo>
                    <a:pt x="135064" y="102965"/>
                  </a:lnTo>
                  <a:lnTo>
                    <a:pt x="32480" y="205931"/>
                  </a:lnTo>
                  <a:lnTo>
                    <a:pt x="0" y="173450"/>
                  </a:lnTo>
                  <a:lnTo>
                    <a:pt x="71818" y="101632"/>
                  </a:lnTo>
                  <a:lnTo>
                    <a:pt x="1334" y="31147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</p:spPr>
        </p:sp>
        <p:sp>
          <p:nvSpPr>
            <p:cNvPr id="5" name="Freeform 5"/>
            <p:cNvSpPr/>
            <p:nvPr/>
          </p:nvSpPr>
          <p:spPr>
            <a:xfrm>
              <a:off x="609124" y="334804"/>
              <a:ext cx="135064" cy="205931"/>
            </a:xfrm>
            <a:custGeom>
              <a:avLst/>
              <a:gdLst/>
              <a:ahLst/>
              <a:cxnLst/>
              <a:rect l="l" t="t" r="r" b="b"/>
              <a:pathLst>
                <a:path w="135064" h="205931">
                  <a:moveTo>
                    <a:pt x="1334" y="31147"/>
                  </a:moveTo>
                  <a:lnTo>
                    <a:pt x="32099" y="0"/>
                  </a:lnTo>
                  <a:lnTo>
                    <a:pt x="135064" y="102965"/>
                  </a:lnTo>
                  <a:lnTo>
                    <a:pt x="32099" y="205931"/>
                  </a:lnTo>
                  <a:lnTo>
                    <a:pt x="0" y="173450"/>
                  </a:lnTo>
                  <a:lnTo>
                    <a:pt x="71723" y="101632"/>
                  </a:lnTo>
                  <a:lnTo>
                    <a:pt x="1334" y="31147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</p:spPr>
        </p:sp>
      </p:grpSp>
      <p:grpSp>
        <p:nvGrpSpPr>
          <p:cNvPr id="9" name="page12-title"/>
          <p:cNvGrpSpPr/>
          <p:nvPr/>
        </p:nvGrpSpPr>
        <p:grpSpPr>
          <a:xfrm>
            <a:off x="1051941" y="76200"/>
            <a:ext cx="10111359" cy="616522"/>
            <a:chOff x="1051941" y="76200"/>
            <a:chExt cx="10111359" cy="616522"/>
          </a:xfrm>
        </p:grpSpPr>
        <p:sp>
          <p:nvSpPr>
            <p:cNvPr id="7" name="Freeform 7"/>
            <p:cNvSpPr/>
            <p:nvPr/>
          </p:nvSpPr>
          <p:spPr>
            <a:xfrm>
              <a:off x="1066800" y="76200"/>
              <a:ext cx="10096500" cy="552450"/>
            </a:xfrm>
            <a:custGeom>
              <a:avLst/>
              <a:gdLst/>
              <a:ahLst/>
              <a:cxnLst/>
              <a:rect l="l" t="t" r="r" b="b"/>
              <a:pathLst>
                <a:path w="10096500" h="552450">
                  <a:moveTo>
                    <a:pt x="0" y="0"/>
                  </a:moveTo>
                  <a:lnTo>
                    <a:pt x="10096500" y="0"/>
                  </a:lnTo>
                  <a:lnTo>
                    <a:pt x="10096500" y="552450"/>
                  </a:lnTo>
                  <a:lnTo>
                    <a:pt x="0" y="552450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1941" y="120650"/>
              <a:ext cx="4024851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920" b="1" dirty="0">
                  <a:solidFill>
                    <a:srgbClr val="005DA2"/>
                  </a:solidFill>
                  <a:latin typeface="Segoe UI"/>
                  <a:ea typeface="Microsoft YaHei"/>
                  <a:cs typeface="Segoe UI"/>
                </a:rPr>
                <a:t>SFIC：条件与协同过程</a:t>
              </a:r>
            </a:p>
          </p:txBody>
        </p:sp>
      </p:grpSp>
      <p:grpSp>
        <p:nvGrpSpPr>
          <p:cNvPr id="14" name="sfic-start"/>
          <p:cNvGrpSpPr/>
          <p:nvPr/>
        </p:nvGrpSpPr>
        <p:grpSpPr>
          <a:xfrm>
            <a:off x="857250" y="1476375"/>
            <a:ext cx="2857500" cy="1238250"/>
            <a:chOff x="857250" y="1476375"/>
            <a:chExt cx="2857500" cy="1238250"/>
          </a:xfrm>
        </p:grpSpPr>
        <p:sp>
          <p:nvSpPr>
            <p:cNvPr id="10" name="Rectangle 10"/>
            <p:cNvSpPr/>
            <p:nvPr/>
          </p:nvSpPr>
          <p:spPr>
            <a:xfrm>
              <a:off x="857250" y="1476375"/>
              <a:ext cx="2857500" cy="1238250"/>
            </a:xfrm>
            <a:prstGeom prst="roundRect">
              <a:avLst>
                <a:gd name="adj" fmla="val 13846"/>
              </a:avLst>
            </a:prstGeom>
            <a:solidFill>
              <a:srgbClr val="E7F1F8"/>
            </a:solidFill>
            <a:ln w="19050">
              <a:solidFill>
                <a:srgbClr val="005DA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731848" y="1711325"/>
              <a:ext cx="11083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005DA2"/>
                  </a:solidFill>
                  <a:latin typeface="Segoe UI"/>
                  <a:ea typeface="Microsoft YaHei"/>
                  <a:cs typeface="Segoe UI"/>
                </a:rPr>
                <a:t>起始条件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40370" y="2127250"/>
              <a:ext cx="16912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资源 · 权力 · 知识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74520" y="23749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关系基础</a:t>
              </a:r>
            </a:p>
          </p:txBody>
        </p:sp>
      </p:grpSp>
      <p:grpSp>
        <p:nvGrpSpPr>
          <p:cNvPr id="19" name="sfic-leadership"/>
          <p:cNvGrpSpPr/>
          <p:nvPr/>
        </p:nvGrpSpPr>
        <p:grpSpPr>
          <a:xfrm>
            <a:off x="8477250" y="1476375"/>
            <a:ext cx="2857500" cy="1238250"/>
            <a:chOff x="8477250" y="1476375"/>
            <a:chExt cx="2857500" cy="1238250"/>
          </a:xfrm>
        </p:grpSpPr>
        <p:sp>
          <p:nvSpPr>
            <p:cNvPr id="15" name="Rectangle 15"/>
            <p:cNvSpPr/>
            <p:nvPr/>
          </p:nvSpPr>
          <p:spPr>
            <a:xfrm>
              <a:off x="8477250" y="1476375"/>
              <a:ext cx="2857500" cy="1238250"/>
            </a:xfrm>
            <a:prstGeom prst="roundRect">
              <a:avLst>
                <a:gd name="adj" fmla="val 13846"/>
              </a:avLst>
            </a:prstGeom>
            <a:solidFill>
              <a:srgbClr val="E7F1F8"/>
            </a:solidFill>
            <a:ln w="19050">
              <a:solidFill>
                <a:srgbClr val="005DA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15882" y="1711325"/>
              <a:ext cx="138023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005DA2"/>
                  </a:solidFill>
                  <a:latin typeface="Segoe UI"/>
                  <a:ea typeface="Microsoft YaHei"/>
                  <a:cs typeface="Segoe UI"/>
                </a:rPr>
                <a:t>促进性领导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974550" y="2127250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组织参与 · 协调冲突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292590" y="237490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维持协同方向</a:t>
              </a:r>
            </a:p>
          </p:txBody>
        </p:sp>
      </p:grpSp>
      <p:grpSp>
        <p:nvGrpSpPr>
          <p:cNvPr id="24" name="sfic-design"/>
          <p:cNvGrpSpPr/>
          <p:nvPr/>
        </p:nvGrpSpPr>
        <p:grpSpPr>
          <a:xfrm>
            <a:off x="857250" y="4095750"/>
            <a:ext cx="2857500" cy="1238250"/>
            <a:chOff x="857250" y="4095750"/>
            <a:chExt cx="2857500" cy="1238250"/>
          </a:xfrm>
        </p:grpSpPr>
        <p:sp>
          <p:nvSpPr>
            <p:cNvPr id="20" name="Rectangle 20"/>
            <p:cNvSpPr/>
            <p:nvPr/>
          </p:nvSpPr>
          <p:spPr>
            <a:xfrm>
              <a:off x="857250" y="4095750"/>
              <a:ext cx="2857500" cy="1238250"/>
            </a:xfrm>
            <a:prstGeom prst="roundRect">
              <a:avLst>
                <a:gd name="adj" fmla="val 13846"/>
              </a:avLst>
            </a:prstGeom>
            <a:solidFill>
              <a:srgbClr val="F3F6F8"/>
            </a:solidFill>
            <a:ln w="19050">
              <a:solidFill>
                <a:srgbClr val="5B9BD5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731848" y="4330700"/>
              <a:ext cx="11083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005DA2"/>
                  </a:solidFill>
                  <a:latin typeface="Segoe UI"/>
                  <a:ea typeface="Microsoft YaHei"/>
                  <a:cs typeface="Segoe UI"/>
                </a:rPr>
                <a:t>制度设计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54550" y="4746625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参与规则 · 程序安排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74520" y="49942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责任边界</a:t>
              </a:r>
            </a:p>
          </p:txBody>
        </p:sp>
      </p:grpSp>
      <p:grpSp>
        <p:nvGrpSpPr>
          <p:cNvPr id="31" name="sfic-process"/>
          <p:cNvGrpSpPr/>
          <p:nvPr/>
        </p:nvGrpSpPr>
        <p:grpSpPr>
          <a:xfrm>
            <a:off x="4286250" y="2333625"/>
            <a:ext cx="3619500" cy="2857500"/>
            <a:chOff x="4286250" y="2333625"/>
            <a:chExt cx="3619500" cy="2857500"/>
          </a:xfrm>
        </p:grpSpPr>
        <p:sp>
          <p:nvSpPr>
            <p:cNvPr id="25" name="Ellipse 25"/>
            <p:cNvSpPr/>
            <p:nvPr/>
          </p:nvSpPr>
          <p:spPr>
            <a:xfrm>
              <a:off x="4286250" y="2333625"/>
              <a:ext cx="3619500" cy="2857500"/>
            </a:xfrm>
            <a:prstGeom prst="ellipse">
              <a:avLst/>
            </a:prstGeom>
            <a:solidFill>
              <a:srgbClr val="005DA2"/>
            </a:solidFill>
            <a:ln w="28575">
              <a:solidFill>
                <a:srgbClr val="004B83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478780" y="3054350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协同过程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50370" y="3556000"/>
              <a:ext cx="16912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互动 → 信任 → 承诺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164550" y="3870325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共享理解 → 共同行动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4953000" y="4438650"/>
              <a:ext cx="2286000" cy="468923"/>
            </a:xfrm>
            <a:custGeom>
              <a:avLst/>
              <a:gdLst/>
              <a:ahLst/>
              <a:cxnLst/>
              <a:rect l="l" t="t" r="r" b="b"/>
              <a:pathLst>
                <a:path w="2286000" h="468923">
                  <a:moveTo>
                    <a:pt x="0" y="0"/>
                  </a:moveTo>
                  <a:cubicBezTo>
                    <a:pt x="192263" y="283957"/>
                    <a:pt x="643117" y="468923"/>
                    <a:pt x="1143000" y="468923"/>
                  </a:cubicBezTo>
                  <a:cubicBezTo>
                    <a:pt x="1642883" y="468923"/>
                    <a:pt x="2093737" y="283957"/>
                    <a:pt x="2286000" y="0"/>
                  </a:cubicBezTo>
                </a:path>
              </a:pathLst>
            </a:custGeom>
            <a:noFill/>
            <a:ln w="38100">
              <a:solidFill>
                <a:srgbClr val="F79600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7143750" y="4333875"/>
              <a:ext cx="161925" cy="161925"/>
            </a:xfrm>
            <a:custGeom>
              <a:avLst/>
              <a:gdLst/>
              <a:ahLst/>
              <a:cxnLst/>
              <a:rect l="l" t="t" r="r" b="b"/>
              <a:pathLst>
                <a:path w="161925" h="161925">
                  <a:moveTo>
                    <a:pt x="19050" y="0"/>
                  </a:moveTo>
                  <a:lnTo>
                    <a:pt x="161925" y="114300"/>
                  </a:lnTo>
                  <a:lnTo>
                    <a:pt x="0" y="161925"/>
                  </a:lnTo>
                </a:path>
              </a:pathLst>
            </a:custGeom>
            <a:solidFill>
              <a:srgbClr val="F79600"/>
            </a:solidFill>
            <a:ln>
              <a:noFill/>
            </a:ln>
          </p:spPr>
        </p:sp>
      </p:grpSp>
      <p:grpSp>
        <p:nvGrpSpPr>
          <p:cNvPr id="33" name="sfic-line-1"/>
          <p:cNvGrpSpPr/>
          <p:nvPr/>
        </p:nvGrpSpPr>
        <p:grpSpPr>
          <a:xfrm>
            <a:off x="3714750" y="2095500"/>
            <a:ext cx="1047750" cy="762000"/>
            <a:chOff x="3714750" y="2095500"/>
            <a:chExt cx="1047750" cy="762000"/>
          </a:xfrm>
        </p:grpSpPr>
        <p:sp>
          <p:nvSpPr>
            <p:cNvPr id="32" name="Freeform 32"/>
            <p:cNvSpPr/>
            <p:nvPr/>
          </p:nvSpPr>
          <p:spPr>
            <a:xfrm>
              <a:off x="3714750" y="2095500"/>
              <a:ext cx="1047750" cy="762000"/>
            </a:xfrm>
            <a:custGeom>
              <a:avLst/>
              <a:gdLst/>
              <a:ahLst/>
              <a:cxnLst/>
              <a:rect l="l" t="t" r="r" b="b"/>
              <a:pathLst>
                <a:path w="1047750" h="762000">
                  <a:moveTo>
                    <a:pt x="0" y="0"/>
                  </a:moveTo>
                  <a:lnTo>
                    <a:pt x="1047750" y="762000"/>
                  </a:lnTo>
                </a:path>
              </a:pathLst>
            </a:custGeom>
            <a:noFill/>
            <a:ln w="28575">
              <a:solidFill>
                <a:srgbClr val="3992DB"/>
              </a:solidFill>
            </a:ln>
          </p:spPr>
        </p:sp>
      </p:grpSp>
      <p:grpSp>
        <p:nvGrpSpPr>
          <p:cNvPr id="35" name="sfic-line-2"/>
          <p:cNvGrpSpPr/>
          <p:nvPr/>
        </p:nvGrpSpPr>
        <p:grpSpPr>
          <a:xfrm>
            <a:off x="7429500" y="2095500"/>
            <a:ext cx="1047750" cy="762000"/>
            <a:chOff x="7429500" y="2095500"/>
            <a:chExt cx="1047750" cy="762000"/>
          </a:xfrm>
        </p:grpSpPr>
        <p:sp>
          <p:nvSpPr>
            <p:cNvPr id="34" name="Freeform 34"/>
            <p:cNvSpPr/>
            <p:nvPr/>
          </p:nvSpPr>
          <p:spPr>
            <a:xfrm>
              <a:off x="7429500" y="2095500"/>
              <a:ext cx="1047750" cy="762000"/>
            </a:xfrm>
            <a:custGeom>
              <a:avLst/>
              <a:gdLst/>
              <a:ahLst/>
              <a:cxnLst/>
              <a:rect l="l" t="t" r="r" b="b"/>
              <a:pathLst>
                <a:path w="1047750" h="762000">
                  <a:moveTo>
                    <a:pt x="0" y="762000"/>
                  </a:moveTo>
                  <a:lnTo>
                    <a:pt x="1047750" y="0"/>
                  </a:lnTo>
                </a:path>
              </a:pathLst>
            </a:custGeom>
            <a:noFill/>
            <a:ln w="28575">
              <a:solidFill>
                <a:srgbClr val="3992DB"/>
              </a:solidFill>
            </a:ln>
          </p:spPr>
        </p:sp>
      </p:grpSp>
      <p:grpSp>
        <p:nvGrpSpPr>
          <p:cNvPr id="37" name="sfic-line-3"/>
          <p:cNvGrpSpPr/>
          <p:nvPr/>
        </p:nvGrpSpPr>
        <p:grpSpPr>
          <a:xfrm>
            <a:off x="3714750" y="4048125"/>
            <a:ext cx="1047750" cy="476250"/>
            <a:chOff x="3714750" y="4048125"/>
            <a:chExt cx="1047750" cy="476250"/>
          </a:xfrm>
        </p:grpSpPr>
        <p:sp>
          <p:nvSpPr>
            <p:cNvPr id="36" name="Freeform 36"/>
            <p:cNvSpPr/>
            <p:nvPr/>
          </p:nvSpPr>
          <p:spPr>
            <a:xfrm>
              <a:off x="3714750" y="4048125"/>
              <a:ext cx="1047750" cy="476250"/>
            </a:xfrm>
            <a:custGeom>
              <a:avLst/>
              <a:gdLst/>
              <a:ahLst/>
              <a:cxnLst/>
              <a:rect l="l" t="t" r="r" b="b"/>
              <a:pathLst>
                <a:path w="1047750" h="476250">
                  <a:moveTo>
                    <a:pt x="0" y="476250"/>
                  </a:moveTo>
                  <a:lnTo>
                    <a:pt x="1047750" y="0"/>
                  </a:lnTo>
                </a:path>
              </a:pathLst>
            </a:custGeom>
            <a:noFill/>
            <a:ln w="28575">
              <a:solidFill>
                <a:srgbClr val="3992DB"/>
              </a:solidFill>
            </a:ln>
          </p:spPr>
        </p:sp>
      </p:grpSp>
      <p:grpSp>
        <p:nvGrpSpPr>
          <p:cNvPr id="39" name="sfic-note"/>
          <p:cNvGrpSpPr/>
          <p:nvPr/>
        </p:nvGrpSpPr>
        <p:grpSpPr>
          <a:xfrm>
            <a:off x="850392" y="5883275"/>
            <a:ext cx="5465826" cy="264033"/>
            <a:chOff x="850392" y="5883275"/>
            <a:chExt cx="5465826" cy="264033"/>
          </a:xfrm>
        </p:grpSpPr>
        <p:sp>
          <p:nvSpPr>
            <p:cNvPr id="38" name="TextBox 38"/>
            <p:cNvSpPr txBox="1"/>
            <p:nvPr/>
          </p:nvSpPr>
          <p:spPr>
            <a:xfrm>
              <a:off x="850392" y="5883275"/>
              <a:ext cx="54658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协同过程是模型核心；三项支持条件共同影响协同能否形成与持续。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13-title"/>
          <p:cNvGrpSpPr/>
          <p:nvPr/>
        </p:nvGrpSpPr>
        <p:grpSpPr>
          <a:xfrm>
            <a:off x="1051941" y="76200"/>
            <a:ext cx="10111359" cy="616522"/>
            <a:chOff x="1051941" y="76200"/>
            <a:chExt cx="10111359" cy="616522"/>
          </a:xfrm>
        </p:grpSpPr>
        <p:sp>
          <p:nvSpPr>
            <p:cNvPr id="2" name="Freeform 2"/>
            <p:cNvSpPr/>
            <p:nvPr/>
          </p:nvSpPr>
          <p:spPr>
            <a:xfrm>
              <a:off x="1066800" y="76200"/>
              <a:ext cx="10096500" cy="552450"/>
            </a:xfrm>
            <a:custGeom>
              <a:avLst/>
              <a:gdLst/>
              <a:ahLst/>
              <a:cxnLst/>
              <a:rect l="l" t="t" r="r" b="b"/>
              <a:pathLst>
                <a:path w="10096500" h="552450">
                  <a:moveTo>
                    <a:pt x="0" y="0"/>
                  </a:moveTo>
                  <a:lnTo>
                    <a:pt x="10096500" y="0"/>
                  </a:lnTo>
                  <a:lnTo>
                    <a:pt x="10096500" y="552450"/>
                  </a:lnTo>
                  <a:lnTo>
                    <a:pt x="0" y="552450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051941" y="120650"/>
              <a:ext cx="4811032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920" b="1" dirty="0">
                  <a:solidFill>
                    <a:srgbClr val="005DA2"/>
                  </a:solidFill>
                  <a:latin typeface="Segoe UI"/>
                  <a:ea typeface="Microsoft YaHei"/>
                  <a:cs typeface="Segoe UI"/>
                </a:rPr>
                <a:t>SFIC：应用条件与协同障碍</a:t>
              </a:r>
            </a:p>
          </p:txBody>
        </p:sp>
      </p:grpSp>
      <p:grpSp>
        <p:nvGrpSpPr>
          <p:cNvPr id="17" name="col-app"/>
          <p:cNvGrpSpPr/>
          <p:nvPr/>
        </p:nvGrpSpPr>
        <p:grpSpPr>
          <a:xfrm>
            <a:off x="762000" y="1190625"/>
            <a:ext cx="3333750" cy="4095750"/>
            <a:chOff x="762000" y="1190625"/>
            <a:chExt cx="3333750" cy="4095750"/>
          </a:xfrm>
        </p:grpSpPr>
        <p:sp>
          <p:nvSpPr>
            <p:cNvPr id="5" name="Rectangle 5"/>
            <p:cNvSpPr/>
            <p:nvPr/>
          </p:nvSpPr>
          <p:spPr>
            <a:xfrm>
              <a:off x="762000" y="1190625"/>
              <a:ext cx="3333750" cy="4095750"/>
            </a:xfrm>
            <a:prstGeom prst="roundRect">
              <a:avLst>
                <a:gd name="adj" fmla="val 5143"/>
              </a:avLst>
            </a:prstGeom>
            <a:solidFill>
              <a:srgbClr val="E7F1F8"/>
            </a:solidFill>
            <a:ln w="19050">
              <a:solidFill>
                <a:srgbClr val="005DA2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762000" y="1190625"/>
              <a:ext cx="3333750" cy="666750"/>
            </a:xfrm>
            <a:prstGeom prst="roundRect">
              <a:avLst>
                <a:gd name="adj" fmla="val 25714"/>
              </a:avLst>
            </a:prstGeom>
            <a:solidFill>
              <a:srgbClr val="005DA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874723" y="1387475"/>
              <a:ext cx="11083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应用场景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86993" y="217805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5DA2"/>
                  </a:solidFill>
                  <a:latin typeface="Segoe UI"/>
                  <a:ea typeface="Microsoft YaHei"/>
                  <a:cs typeface="Segoe UI"/>
                </a:rPr>
                <a:t>跨主体政策协同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88136" y="2536825"/>
              <a:ext cx="217459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跨部门 · 跨层级 · 跨组织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1095375" y="295275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19050">
              <a:solidFill>
                <a:srgbClr val="B9D7E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86993" y="322580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5DA2"/>
                  </a:solidFill>
                  <a:latin typeface="Segoe UI"/>
                  <a:ea typeface="Microsoft YaHei"/>
                  <a:cs typeface="Segoe UI"/>
                </a:rPr>
                <a:t>健康治理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88136" y="3584575"/>
              <a:ext cx="17635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慢病防控 · 健康城市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8136" y="3851275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健康公平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095375" y="426720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19050">
              <a:solidFill>
                <a:srgbClr val="B9D7E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86993" y="455930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5DA2"/>
                  </a:solidFill>
                  <a:latin typeface="Segoe UI"/>
                  <a:ea typeface="Microsoft YaHei"/>
                  <a:cs typeface="Segoe UI"/>
                </a:rPr>
                <a:t>危机治理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8136" y="4918075"/>
              <a:ext cx="17635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信息共享 · 集体决策</a:t>
              </a:r>
            </a:p>
          </p:txBody>
        </p:sp>
      </p:grpSp>
      <p:grpSp>
        <p:nvGrpSpPr>
          <p:cNvPr id="27" name="col-process"/>
          <p:cNvGrpSpPr/>
          <p:nvPr/>
        </p:nvGrpSpPr>
        <p:grpSpPr>
          <a:xfrm>
            <a:off x="4429125" y="1190625"/>
            <a:ext cx="3333750" cy="4095750"/>
            <a:chOff x="4429125" y="1190625"/>
            <a:chExt cx="3333750" cy="4095750"/>
          </a:xfrm>
        </p:grpSpPr>
        <p:sp>
          <p:nvSpPr>
            <p:cNvPr id="18" name="Rectangle 18"/>
            <p:cNvSpPr/>
            <p:nvPr/>
          </p:nvSpPr>
          <p:spPr>
            <a:xfrm>
              <a:off x="4429125" y="1190625"/>
              <a:ext cx="3333750" cy="4095750"/>
            </a:xfrm>
            <a:prstGeom prst="roundRect">
              <a:avLst>
                <a:gd name="adj" fmla="val 5143"/>
              </a:avLst>
            </a:prstGeom>
            <a:solidFill>
              <a:srgbClr val="F5FAFD"/>
            </a:solidFill>
            <a:ln w="19050">
              <a:solidFill>
                <a:srgbClr val="3992DB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429125" y="1190625"/>
              <a:ext cx="3333750" cy="666750"/>
            </a:xfrm>
            <a:prstGeom prst="roundRect">
              <a:avLst>
                <a:gd name="adj" fmla="val 25714"/>
              </a:avLst>
            </a:prstGeom>
            <a:solidFill>
              <a:srgbClr val="3992D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405882" y="1387475"/>
              <a:ext cx="138023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可观察过程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54118" y="22256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5DA2"/>
                  </a:solidFill>
                  <a:latin typeface="Segoe UI"/>
                  <a:ea typeface="Microsoft YaHei"/>
                  <a:cs typeface="Segoe UI"/>
                </a:rPr>
                <a:t>信息交换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55261" y="2603500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共享事实与问题定义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54118" y="31781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5DA2"/>
                  </a:solidFill>
                  <a:latin typeface="Segoe UI"/>
                  <a:ea typeface="Microsoft YaHei"/>
                  <a:cs typeface="Segoe UI"/>
                </a:rPr>
                <a:t>共同理解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55261" y="3556000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协商目标与行动方向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754118" y="41306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5DA2"/>
                  </a:solidFill>
                  <a:latin typeface="Segoe UI"/>
                  <a:ea typeface="Microsoft YaHei"/>
                  <a:cs typeface="Segoe UI"/>
                </a:rPr>
                <a:t>持续互动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755261" y="4508500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承诺形成与责任分担</a:t>
              </a:r>
            </a:p>
          </p:txBody>
        </p:sp>
      </p:grpSp>
      <p:grpSp>
        <p:nvGrpSpPr>
          <p:cNvPr id="37" name="col-constraints"/>
          <p:cNvGrpSpPr/>
          <p:nvPr/>
        </p:nvGrpSpPr>
        <p:grpSpPr>
          <a:xfrm>
            <a:off x="8096250" y="1190625"/>
            <a:ext cx="3333750" cy="4095750"/>
            <a:chOff x="8096250" y="1190625"/>
            <a:chExt cx="3333750" cy="4095750"/>
          </a:xfrm>
        </p:grpSpPr>
        <p:sp>
          <p:nvSpPr>
            <p:cNvPr id="28" name="Rectangle 28"/>
            <p:cNvSpPr/>
            <p:nvPr/>
          </p:nvSpPr>
          <p:spPr>
            <a:xfrm>
              <a:off x="8096250" y="1190625"/>
              <a:ext cx="3333750" cy="4095750"/>
            </a:xfrm>
            <a:prstGeom prst="roundRect">
              <a:avLst>
                <a:gd name="adj" fmla="val 5143"/>
              </a:avLst>
            </a:prstGeom>
            <a:solidFill>
              <a:srgbClr val="FFF4DF"/>
            </a:solidFill>
            <a:ln w="19050">
              <a:solidFill>
                <a:srgbClr val="F79600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8096250" y="1190625"/>
              <a:ext cx="3333750" cy="666750"/>
            </a:xfrm>
            <a:prstGeom prst="roundRect">
              <a:avLst>
                <a:gd name="adj" fmla="val 25714"/>
              </a:avLst>
            </a:prstGeom>
            <a:solidFill>
              <a:srgbClr val="F7960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208973" y="1387475"/>
              <a:ext cx="11083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现实约束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21243" y="222567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A5200"/>
                  </a:solidFill>
                  <a:latin typeface="Segoe UI"/>
                  <a:ea typeface="Microsoft YaHei"/>
                  <a:cs typeface="Segoe UI"/>
                </a:rPr>
                <a:t>权力不平衡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22386" y="2603500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资源与话语权不对称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21243" y="31781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A5200"/>
                  </a:solidFill>
                  <a:latin typeface="Segoe UI"/>
                  <a:ea typeface="Microsoft YaHei"/>
                  <a:cs typeface="Segoe UI"/>
                </a:rPr>
                <a:t>利益冲突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22386" y="3556000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目标与责任难以协调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21243" y="4130675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A5200"/>
                  </a:solidFill>
                  <a:latin typeface="Segoe UI"/>
                  <a:ea typeface="Microsoft YaHei"/>
                  <a:cs typeface="Segoe UI"/>
                </a:rPr>
                <a:t>制度惰性与文化差异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22386" y="4508500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情境影响领导与合作路径</a:t>
              </a:r>
            </a:p>
          </p:txBody>
        </p:sp>
      </p:grpSp>
      <p:grpSp>
        <p:nvGrpSpPr>
          <p:cNvPr id="40" name="sfic-boundary-note"/>
          <p:cNvGrpSpPr/>
          <p:nvPr/>
        </p:nvGrpSpPr>
        <p:grpSpPr>
          <a:xfrm>
            <a:off x="762000" y="5619750"/>
            <a:ext cx="10668000" cy="523875"/>
            <a:chOff x="762000" y="5619750"/>
            <a:chExt cx="10668000" cy="523875"/>
          </a:xfrm>
        </p:grpSpPr>
        <p:sp>
          <p:nvSpPr>
            <p:cNvPr id="38" name="Rectangle 38"/>
            <p:cNvSpPr/>
            <p:nvPr/>
          </p:nvSpPr>
          <p:spPr>
            <a:xfrm>
              <a:off x="762000" y="5619750"/>
              <a:ext cx="10668000" cy="523875"/>
            </a:xfrm>
            <a:prstGeom prst="roundRect">
              <a:avLst>
                <a:gd name="adj" fmla="val 18182"/>
              </a:avLst>
            </a:prstGeom>
            <a:solidFill>
              <a:srgbClr val="F3F6F8"/>
            </a:solidFill>
            <a:ln w="14288">
              <a:solidFill>
                <a:srgbClr val="808080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40511" y="5775325"/>
              <a:ext cx="74812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SFIC帮助解释协同为何推进或受阻；不能预设主体平等互信，也不能直接证明政策效果。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14-title"/>
          <p:cNvGrpSpPr/>
          <p:nvPr/>
        </p:nvGrpSpPr>
        <p:grpSpPr>
          <a:xfrm>
            <a:off x="1051941" y="76200"/>
            <a:ext cx="10111359" cy="616522"/>
            <a:chOff x="1051941" y="76200"/>
            <a:chExt cx="10111359" cy="616522"/>
          </a:xfrm>
        </p:grpSpPr>
        <p:sp>
          <p:nvSpPr>
            <p:cNvPr id="2" name="Freeform 2"/>
            <p:cNvSpPr/>
            <p:nvPr/>
          </p:nvSpPr>
          <p:spPr>
            <a:xfrm>
              <a:off x="1066800" y="76200"/>
              <a:ext cx="10096500" cy="552450"/>
            </a:xfrm>
            <a:custGeom>
              <a:avLst/>
              <a:gdLst/>
              <a:ahLst/>
              <a:cxnLst/>
              <a:rect l="l" t="t" r="r" b="b"/>
              <a:pathLst>
                <a:path w="10096500" h="552450">
                  <a:moveTo>
                    <a:pt x="0" y="0"/>
                  </a:moveTo>
                  <a:lnTo>
                    <a:pt x="10096500" y="0"/>
                  </a:lnTo>
                  <a:lnTo>
                    <a:pt x="10096500" y="552450"/>
                  </a:lnTo>
                  <a:lnTo>
                    <a:pt x="0" y="552450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051941" y="120650"/>
              <a:ext cx="5247733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920" b="1" dirty="0">
                  <a:solidFill>
                    <a:srgbClr val="005DA2"/>
                  </a:solidFill>
                  <a:latin typeface="Segoe UI"/>
                  <a:ea typeface="Microsoft YaHei"/>
                  <a:cs typeface="Segoe UI"/>
                </a:rPr>
                <a:t>WHO六要素：卫生系统的组成</a:t>
              </a:r>
            </a:p>
          </p:txBody>
        </p:sp>
      </p:grpSp>
      <p:grpSp>
        <p:nvGrpSpPr>
          <p:cNvPr id="8" name="who-goal"/>
          <p:cNvGrpSpPr/>
          <p:nvPr/>
        </p:nvGrpSpPr>
        <p:grpSpPr>
          <a:xfrm>
            <a:off x="4286250" y="2686050"/>
            <a:ext cx="3619500" cy="1676400"/>
            <a:chOff x="4286250" y="2686050"/>
            <a:chExt cx="3619500" cy="1676400"/>
          </a:xfrm>
        </p:grpSpPr>
        <p:sp>
          <p:nvSpPr>
            <p:cNvPr id="5" name="Ellipse 5"/>
            <p:cNvSpPr/>
            <p:nvPr/>
          </p:nvSpPr>
          <p:spPr>
            <a:xfrm>
              <a:off x="4286250" y="2686050"/>
              <a:ext cx="3619500" cy="1676400"/>
            </a:xfrm>
            <a:prstGeom prst="ellipse">
              <a:avLst/>
            </a:prstGeom>
            <a:solidFill>
              <a:srgbClr val="005DA2"/>
            </a:solidFill>
            <a:ln w="28575">
              <a:solidFill>
                <a:srgbClr val="004B8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175885" y="3149600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卫生系统目标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745546" y="3603625"/>
              <a:ext cx="27009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覆盖 · 质量与安全 · 健康结果</a:t>
              </a:r>
            </a:p>
          </p:txBody>
        </p:sp>
      </p:grpSp>
      <p:grpSp>
        <p:nvGrpSpPr>
          <p:cNvPr id="11" name="who-service"/>
          <p:cNvGrpSpPr/>
          <p:nvPr/>
        </p:nvGrpSpPr>
        <p:grpSpPr>
          <a:xfrm>
            <a:off x="857250" y="1333500"/>
            <a:ext cx="2857500" cy="952500"/>
            <a:chOff x="857250" y="1333500"/>
            <a:chExt cx="2857500" cy="952500"/>
          </a:xfrm>
        </p:grpSpPr>
        <p:sp>
          <p:nvSpPr>
            <p:cNvPr id="9" name="Rectangle 9"/>
            <p:cNvSpPr/>
            <p:nvPr/>
          </p:nvSpPr>
          <p:spPr>
            <a:xfrm>
              <a:off x="857250" y="1333500"/>
              <a:ext cx="2857500" cy="952500"/>
            </a:xfrm>
            <a:prstGeom prst="roundRect">
              <a:avLst>
                <a:gd name="adj" fmla="val 16000"/>
              </a:avLst>
            </a:prstGeom>
            <a:solidFill>
              <a:srgbClr val="E7F1F8"/>
            </a:solidFill>
            <a:ln w="19050">
              <a:solidFill>
                <a:srgbClr val="005DA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549908" y="167005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05DA2"/>
                  </a:solidFill>
                  <a:latin typeface="Segoe UI"/>
                  <a:ea typeface="Microsoft YaHei"/>
                  <a:cs typeface="Segoe UI"/>
                </a:rPr>
                <a:t>卫生服务提供</a:t>
              </a:r>
            </a:p>
          </p:txBody>
        </p:sp>
      </p:grpSp>
      <p:grpSp>
        <p:nvGrpSpPr>
          <p:cNvPr id="14" name="who-workforce"/>
          <p:cNvGrpSpPr/>
          <p:nvPr/>
        </p:nvGrpSpPr>
        <p:grpSpPr>
          <a:xfrm>
            <a:off x="4429125" y="1333500"/>
            <a:ext cx="2857500" cy="952500"/>
            <a:chOff x="4429125" y="1333500"/>
            <a:chExt cx="2857500" cy="952500"/>
          </a:xfrm>
        </p:grpSpPr>
        <p:sp>
          <p:nvSpPr>
            <p:cNvPr id="12" name="Rectangle 12"/>
            <p:cNvSpPr/>
            <p:nvPr/>
          </p:nvSpPr>
          <p:spPr>
            <a:xfrm>
              <a:off x="4429125" y="1333500"/>
              <a:ext cx="2857500" cy="952500"/>
            </a:xfrm>
            <a:prstGeom prst="roundRect">
              <a:avLst>
                <a:gd name="adj" fmla="val 16000"/>
              </a:avLst>
            </a:prstGeom>
            <a:solidFill>
              <a:srgbClr val="F3F6F8"/>
            </a:solidFill>
            <a:ln w="19050">
              <a:solidFill>
                <a:srgbClr val="5B9BD5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121783" y="167005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05DA2"/>
                  </a:solidFill>
                  <a:latin typeface="Segoe UI"/>
                  <a:ea typeface="Microsoft YaHei"/>
                  <a:cs typeface="Segoe UI"/>
                </a:rPr>
                <a:t>卫生人力资源</a:t>
              </a:r>
            </a:p>
          </p:txBody>
        </p:sp>
      </p:grpSp>
      <p:grpSp>
        <p:nvGrpSpPr>
          <p:cNvPr id="17" name="who-info"/>
          <p:cNvGrpSpPr/>
          <p:nvPr/>
        </p:nvGrpSpPr>
        <p:grpSpPr>
          <a:xfrm>
            <a:off x="8001000" y="1333500"/>
            <a:ext cx="2857500" cy="952500"/>
            <a:chOff x="8001000" y="1333500"/>
            <a:chExt cx="2857500" cy="952500"/>
          </a:xfrm>
        </p:grpSpPr>
        <p:sp>
          <p:nvSpPr>
            <p:cNvPr id="15" name="Rectangle 15"/>
            <p:cNvSpPr/>
            <p:nvPr/>
          </p:nvSpPr>
          <p:spPr>
            <a:xfrm>
              <a:off x="8001000" y="1333500"/>
              <a:ext cx="2857500" cy="952500"/>
            </a:xfrm>
            <a:prstGeom prst="roundRect">
              <a:avLst>
                <a:gd name="adj" fmla="val 16000"/>
              </a:avLst>
            </a:prstGeom>
            <a:solidFill>
              <a:srgbClr val="E7F1F8"/>
            </a:solidFill>
            <a:ln w="19050">
              <a:solidFill>
                <a:srgbClr val="005DA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3658" y="167005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05DA2"/>
                  </a:solidFill>
                  <a:latin typeface="Segoe UI"/>
                  <a:ea typeface="Microsoft YaHei"/>
                  <a:cs typeface="Segoe UI"/>
                </a:rPr>
                <a:t>卫生信息系统</a:t>
              </a:r>
            </a:p>
          </p:txBody>
        </p:sp>
      </p:grpSp>
      <p:grpSp>
        <p:nvGrpSpPr>
          <p:cNvPr id="21" name="who-products"/>
          <p:cNvGrpSpPr/>
          <p:nvPr/>
        </p:nvGrpSpPr>
        <p:grpSpPr>
          <a:xfrm>
            <a:off x="857250" y="4286250"/>
            <a:ext cx="2857500" cy="952500"/>
            <a:chOff x="857250" y="4286250"/>
            <a:chExt cx="2857500" cy="952500"/>
          </a:xfrm>
        </p:grpSpPr>
        <p:sp>
          <p:nvSpPr>
            <p:cNvPr id="18" name="Rectangle 18"/>
            <p:cNvSpPr/>
            <p:nvPr/>
          </p:nvSpPr>
          <p:spPr>
            <a:xfrm>
              <a:off x="857250" y="4286250"/>
              <a:ext cx="2857500" cy="952500"/>
            </a:xfrm>
            <a:prstGeom prst="roundRect">
              <a:avLst>
                <a:gd name="adj" fmla="val 16000"/>
              </a:avLst>
            </a:prstGeom>
            <a:solidFill>
              <a:srgbClr val="F3F6F8"/>
            </a:solidFill>
            <a:ln w="19050">
              <a:solidFill>
                <a:srgbClr val="5B9BD5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500188" y="448310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5DA2"/>
                  </a:solidFill>
                  <a:latin typeface="Segoe UI"/>
                  <a:ea typeface="Microsoft YaHei"/>
                  <a:cs typeface="Segoe UI"/>
                </a:rPr>
                <a:t>医疗产品、疫苗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44433" y="4778375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5DA2"/>
                  </a:solidFill>
                  <a:latin typeface="Segoe UI"/>
                  <a:ea typeface="Microsoft YaHei"/>
                  <a:cs typeface="Segoe UI"/>
                </a:rPr>
                <a:t>与技术</a:t>
              </a:r>
            </a:p>
          </p:txBody>
        </p:sp>
      </p:grpSp>
      <p:grpSp>
        <p:nvGrpSpPr>
          <p:cNvPr id="24" name="who-financing"/>
          <p:cNvGrpSpPr/>
          <p:nvPr/>
        </p:nvGrpSpPr>
        <p:grpSpPr>
          <a:xfrm>
            <a:off x="4429125" y="4286250"/>
            <a:ext cx="2857500" cy="952500"/>
            <a:chOff x="4429125" y="4286250"/>
            <a:chExt cx="2857500" cy="952500"/>
          </a:xfrm>
        </p:grpSpPr>
        <p:sp>
          <p:nvSpPr>
            <p:cNvPr id="22" name="Rectangle 22"/>
            <p:cNvSpPr/>
            <p:nvPr/>
          </p:nvSpPr>
          <p:spPr>
            <a:xfrm>
              <a:off x="4429125" y="4286250"/>
              <a:ext cx="2857500" cy="952500"/>
            </a:xfrm>
            <a:prstGeom prst="roundRect">
              <a:avLst>
                <a:gd name="adj" fmla="val 16000"/>
              </a:avLst>
            </a:prstGeom>
            <a:solidFill>
              <a:srgbClr val="E7F1F8"/>
            </a:solidFill>
            <a:ln w="19050">
              <a:solidFill>
                <a:srgbClr val="005DA2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364099" y="462280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05DA2"/>
                  </a:solidFill>
                  <a:latin typeface="Segoe UI"/>
                  <a:ea typeface="Microsoft YaHei"/>
                  <a:cs typeface="Segoe UI"/>
                </a:rPr>
                <a:t>卫生筹资</a:t>
              </a:r>
            </a:p>
          </p:txBody>
        </p:sp>
      </p:grpSp>
      <p:grpSp>
        <p:nvGrpSpPr>
          <p:cNvPr id="27" name="who-governance"/>
          <p:cNvGrpSpPr/>
          <p:nvPr/>
        </p:nvGrpSpPr>
        <p:grpSpPr>
          <a:xfrm>
            <a:off x="8001000" y="4286250"/>
            <a:ext cx="2857500" cy="952500"/>
            <a:chOff x="8001000" y="4286250"/>
            <a:chExt cx="2857500" cy="952500"/>
          </a:xfrm>
        </p:grpSpPr>
        <p:sp>
          <p:nvSpPr>
            <p:cNvPr id="25" name="Rectangle 25"/>
            <p:cNvSpPr/>
            <p:nvPr/>
          </p:nvSpPr>
          <p:spPr>
            <a:xfrm>
              <a:off x="8001000" y="4286250"/>
              <a:ext cx="2857500" cy="952500"/>
            </a:xfrm>
            <a:prstGeom prst="roundRect">
              <a:avLst>
                <a:gd name="adj" fmla="val 16000"/>
              </a:avLst>
            </a:prstGeom>
            <a:solidFill>
              <a:srgbClr val="F3F6F8"/>
            </a:solidFill>
            <a:ln w="19050">
              <a:solidFill>
                <a:srgbClr val="5B9BD5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814816" y="462280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005DA2"/>
                  </a:solidFill>
                  <a:latin typeface="Segoe UI"/>
                  <a:ea typeface="Microsoft YaHei"/>
                  <a:cs typeface="Segoe UI"/>
                </a:rPr>
                <a:t>领导与治理</a:t>
              </a:r>
            </a:p>
          </p:txBody>
        </p:sp>
      </p:grpSp>
      <p:grpSp>
        <p:nvGrpSpPr>
          <p:cNvPr id="34" name="who-connectors"/>
          <p:cNvGrpSpPr/>
          <p:nvPr/>
        </p:nvGrpSpPr>
        <p:grpSpPr>
          <a:xfrm>
            <a:off x="3714750" y="1952625"/>
            <a:ext cx="4286250" cy="2809875"/>
            <a:chOff x="3714750" y="1952625"/>
            <a:chExt cx="4286250" cy="2809875"/>
          </a:xfrm>
        </p:grpSpPr>
        <p:sp>
          <p:nvSpPr>
            <p:cNvPr id="28" name="Freeform 28"/>
            <p:cNvSpPr/>
            <p:nvPr/>
          </p:nvSpPr>
          <p:spPr>
            <a:xfrm>
              <a:off x="3714750" y="1952625"/>
              <a:ext cx="1238250" cy="1047750"/>
            </a:xfrm>
            <a:custGeom>
              <a:avLst/>
              <a:gdLst/>
              <a:ahLst/>
              <a:cxnLst/>
              <a:rect l="l" t="t" r="r" b="b"/>
              <a:pathLst>
                <a:path w="1238250" h="1047750">
                  <a:moveTo>
                    <a:pt x="0" y="0"/>
                  </a:moveTo>
                  <a:lnTo>
                    <a:pt x="1238250" y="1047750"/>
                  </a:lnTo>
                </a:path>
              </a:pathLst>
            </a:custGeom>
            <a:noFill/>
            <a:ln w="28575">
              <a:solidFill>
                <a:srgbClr val="3992DB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5857875" y="2286000"/>
              <a:ext cx="238125" cy="400050"/>
            </a:xfrm>
            <a:custGeom>
              <a:avLst/>
              <a:gdLst/>
              <a:ahLst/>
              <a:cxnLst/>
              <a:rect l="l" t="t" r="r" b="b"/>
              <a:pathLst>
                <a:path w="238125" h="400050">
                  <a:moveTo>
                    <a:pt x="0" y="0"/>
                  </a:moveTo>
                  <a:lnTo>
                    <a:pt x="238125" y="400050"/>
                  </a:lnTo>
                </a:path>
              </a:pathLst>
            </a:custGeom>
            <a:noFill/>
            <a:ln w="28575">
              <a:solidFill>
                <a:srgbClr val="3992DB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7239000" y="1952625"/>
              <a:ext cx="762000" cy="1047750"/>
            </a:xfrm>
            <a:custGeom>
              <a:avLst/>
              <a:gdLst/>
              <a:ahLst/>
              <a:cxnLst/>
              <a:rect l="l" t="t" r="r" b="b"/>
              <a:pathLst>
                <a:path w="762000" h="1047750">
                  <a:moveTo>
                    <a:pt x="762000" y="0"/>
                  </a:moveTo>
                  <a:lnTo>
                    <a:pt x="0" y="1047750"/>
                  </a:lnTo>
                </a:path>
              </a:pathLst>
            </a:custGeom>
            <a:noFill/>
            <a:ln w="28575">
              <a:solidFill>
                <a:srgbClr val="3992DB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3714750" y="4048125"/>
              <a:ext cx="1238250" cy="714375"/>
            </a:xfrm>
            <a:custGeom>
              <a:avLst/>
              <a:gdLst/>
              <a:ahLst/>
              <a:cxnLst/>
              <a:rect l="l" t="t" r="r" b="b"/>
              <a:pathLst>
                <a:path w="1238250" h="714375">
                  <a:moveTo>
                    <a:pt x="0" y="714375"/>
                  </a:moveTo>
                  <a:lnTo>
                    <a:pt x="1238250" y="0"/>
                  </a:lnTo>
                </a:path>
              </a:pathLst>
            </a:custGeom>
            <a:noFill/>
            <a:ln w="28575">
              <a:solidFill>
                <a:srgbClr val="3992DB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5857875" y="4286250"/>
              <a:ext cx="238125" cy="76200"/>
            </a:xfrm>
            <a:custGeom>
              <a:avLst/>
              <a:gdLst/>
              <a:ahLst/>
              <a:cxnLst/>
              <a:rect l="l" t="t" r="r" b="b"/>
              <a:pathLst>
                <a:path w="238125" h="76200">
                  <a:moveTo>
                    <a:pt x="0" y="0"/>
                  </a:moveTo>
                  <a:lnTo>
                    <a:pt x="238125" y="76200"/>
                  </a:lnTo>
                </a:path>
              </a:pathLst>
            </a:custGeom>
            <a:noFill/>
            <a:ln w="28575">
              <a:solidFill>
                <a:srgbClr val="3992DB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239000" y="4048125"/>
              <a:ext cx="762000" cy="714375"/>
            </a:xfrm>
            <a:custGeom>
              <a:avLst/>
              <a:gdLst/>
              <a:ahLst/>
              <a:cxnLst/>
              <a:rect l="l" t="t" r="r" b="b"/>
              <a:pathLst>
                <a:path w="762000" h="714375">
                  <a:moveTo>
                    <a:pt x="762000" y="714375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3992DB"/>
              </a:solidFill>
            </a:ln>
          </p:spPr>
        </p:sp>
      </p:grpSp>
      <p:grpSp>
        <p:nvGrpSpPr>
          <p:cNvPr id="37" name="who-note"/>
          <p:cNvGrpSpPr/>
          <p:nvPr/>
        </p:nvGrpSpPr>
        <p:grpSpPr>
          <a:xfrm>
            <a:off x="857250" y="5715000"/>
            <a:ext cx="10001250" cy="457200"/>
            <a:chOff x="857250" y="5715000"/>
            <a:chExt cx="10001250" cy="457200"/>
          </a:xfrm>
        </p:grpSpPr>
        <p:sp>
          <p:nvSpPr>
            <p:cNvPr id="35" name="Rectangle 35"/>
            <p:cNvSpPr/>
            <p:nvPr/>
          </p:nvSpPr>
          <p:spPr>
            <a:xfrm>
              <a:off x="857250" y="5715000"/>
              <a:ext cx="10001250" cy="457200"/>
            </a:xfrm>
            <a:prstGeom prst="roundRect">
              <a:avLst>
                <a:gd name="adj" fmla="val 20833"/>
              </a:avLst>
            </a:prstGeom>
            <a:solidFill>
              <a:srgbClr val="FFF4DF"/>
            </a:solidFill>
            <a:ln w="14288">
              <a:solidFill>
                <a:srgbClr val="F79600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135761" y="5832475"/>
              <a:ext cx="55581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六要素是组成维度，不是依次发生的阶段，也不构成单向因果链。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908685" y="694849"/>
            <a:ext cx="10374630" cy="9525"/>
          </a:xfrm>
          <a:custGeom>
            <a:avLst/>
            <a:gdLst/>
            <a:ahLst/>
            <a:cxnLst/>
            <a:rect l="l" t="t" r="r" b="b"/>
            <a:pathLst>
              <a:path w="10374630" h="9525">
                <a:moveTo>
                  <a:pt x="0" y="0"/>
                </a:moveTo>
                <a:lnTo>
                  <a:pt x="10374630" y="0"/>
                </a:lnTo>
              </a:path>
            </a:pathLst>
          </a:custGeom>
          <a:noFill/>
          <a:ln w="9525">
            <a:solidFill>
              <a:srgbClr val="808080"/>
            </a:solidFill>
          </a:ln>
        </p:spPr>
      </p:sp>
      <p:grpSp>
        <p:nvGrpSpPr>
          <p:cNvPr id="6" name="local-header-arrows"/>
          <p:cNvGrpSpPr/>
          <p:nvPr/>
        </p:nvGrpSpPr>
        <p:grpSpPr>
          <a:xfrm>
            <a:off x="353854" y="334804"/>
            <a:ext cx="390334" cy="205931"/>
            <a:chOff x="353854" y="334804"/>
            <a:chExt cx="390334" cy="205931"/>
          </a:xfrm>
        </p:grpSpPr>
        <p:sp>
          <p:nvSpPr>
            <p:cNvPr id="3" name="Freeform 3"/>
            <p:cNvSpPr/>
            <p:nvPr/>
          </p:nvSpPr>
          <p:spPr>
            <a:xfrm>
              <a:off x="353854" y="334804"/>
              <a:ext cx="135636" cy="205931"/>
            </a:xfrm>
            <a:custGeom>
              <a:avLst/>
              <a:gdLst/>
              <a:ahLst/>
              <a:cxnLst/>
              <a:rect l="l" t="t" r="r" b="b"/>
              <a:pathLst>
                <a:path w="135636" h="205931">
                  <a:moveTo>
                    <a:pt x="1334" y="31147"/>
                  </a:moveTo>
                  <a:lnTo>
                    <a:pt x="32480" y="0"/>
                  </a:lnTo>
                  <a:lnTo>
                    <a:pt x="135636" y="102965"/>
                  </a:lnTo>
                  <a:lnTo>
                    <a:pt x="32480" y="205931"/>
                  </a:lnTo>
                  <a:lnTo>
                    <a:pt x="0" y="173450"/>
                  </a:lnTo>
                  <a:lnTo>
                    <a:pt x="71818" y="101632"/>
                  </a:lnTo>
                  <a:lnTo>
                    <a:pt x="1334" y="31147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480536" y="334804"/>
              <a:ext cx="135064" cy="205931"/>
            </a:xfrm>
            <a:custGeom>
              <a:avLst/>
              <a:gdLst/>
              <a:ahLst/>
              <a:cxnLst/>
              <a:rect l="l" t="t" r="r" b="b"/>
              <a:pathLst>
                <a:path w="135064" h="205931">
                  <a:moveTo>
                    <a:pt x="1334" y="31147"/>
                  </a:moveTo>
                  <a:lnTo>
                    <a:pt x="32480" y="0"/>
                  </a:lnTo>
                  <a:lnTo>
                    <a:pt x="135064" y="102965"/>
                  </a:lnTo>
                  <a:lnTo>
                    <a:pt x="32480" y="205931"/>
                  </a:lnTo>
                  <a:lnTo>
                    <a:pt x="0" y="173450"/>
                  </a:lnTo>
                  <a:lnTo>
                    <a:pt x="71818" y="101632"/>
                  </a:lnTo>
                  <a:lnTo>
                    <a:pt x="1334" y="31147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</p:spPr>
        </p:sp>
        <p:sp>
          <p:nvSpPr>
            <p:cNvPr id="5" name="Freeform 5"/>
            <p:cNvSpPr/>
            <p:nvPr/>
          </p:nvSpPr>
          <p:spPr>
            <a:xfrm>
              <a:off x="609124" y="334804"/>
              <a:ext cx="135064" cy="205931"/>
            </a:xfrm>
            <a:custGeom>
              <a:avLst/>
              <a:gdLst/>
              <a:ahLst/>
              <a:cxnLst/>
              <a:rect l="l" t="t" r="r" b="b"/>
              <a:pathLst>
                <a:path w="135064" h="205931">
                  <a:moveTo>
                    <a:pt x="1334" y="31147"/>
                  </a:moveTo>
                  <a:lnTo>
                    <a:pt x="32099" y="0"/>
                  </a:lnTo>
                  <a:lnTo>
                    <a:pt x="135064" y="102965"/>
                  </a:lnTo>
                  <a:lnTo>
                    <a:pt x="32099" y="205931"/>
                  </a:lnTo>
                  <a:lnTo>
                    <a:pt x="0" y="173450"/>
                  </a:lnTo>
                  <a:lnTo>
                    <a:pt x="71723" y="101632"/>
                  </a:lnTo>
                  <a:lnTo>
                    <a:pt x="1334" y="31147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</p:spPr>
        </p:sp>
      </p:grpSp>
      <p:grpSp>
        <p:nvGrpSpPr>
          <p:cNvPr id="9" name="page15-title"/>
          <p:cNvGrpSpPr/>
          <p:nvPr/>
        </p:nvGrpSpPr>
        <p:grpSpPr>
          <a:xfrm>
            <a:off x="1051941" y="76200"/>
            <a:ext cx="10111359" cy="616522"/>
            <a:chOff x="1051941" y="76200"/>
            <a:chExt cx="10111359" cy="616522"/>
          </a:xfrm>
        </p:grpSpPr>
        <p:sp>
          <p:nvSpPr>
            <p:cNvPr id="7" name="Freeform 7"/>
            <p:cNvSpPr/>
            <p:nvPr/>
          </p:nvSpPr>
          <p:spPr>
            <a:xfrm>
              <a:off x="1066800" y="76200"/>
              <a:ext cx="10096500" cy="552450"/>
            </a:xfrm>
            <a:custGeom>
              <a:avLst/>
              <a:gdLst/>
              <a:ahLst/>
              <a:cxnLst/>
              <a:rect l="l" t="t" r="r" b="b"/>
              <a:pathLst>
                <a:path w="10096500" h="552450">
                  <a:moveTo>
                    <a:pt x="0" y="0"/>
                  </a:moveTo>
                  <a:lnTo>
                    <a:pt x="10096500" y="0"/>
                  </a:lnTo>
                  <a:lnTo>
                    <a:pt x="10096500" y="552450"/>
                  </a:lnTo>
                  <a:lnTo>
                    <a:pt x="0" y="552450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1941" y="120650"/>
              <a:ext cx="5640824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920" b="1" dirty="0">
                  <a:solidFill>
                    <a:srgbClr val="005DA2"/>
                  </a:solidFill>
                  <a:latin typeface="Segoe UI"/>
                  <a:ea typeface="Microsoft YaHei"/>
                  <a:cs typeface="Segoe UI"/>
                </a:rPr>
                <a:t>WHO六要素：用途及结构性缺口</a:t>
              </a:r>
            </a:p>
          </p:txBody>
        </p:sp>
      </p:grpSp>
      <p:grpSp>
        <p:nvGrpSpPr>
          <p:cNvPr id="18" name="who-use"/>
          <p:cNvGrpSpPr/>
          <p:nvPr/>
        </p:nvGrpSpPr>
        <p:grpSpPr>
          <a:xfrm>
            <a:off x="857250" y="1285875"/>
            <a:ext cx="4762500" cy="4095750"/>
            <a:chOff x="857250" y="1285875"/>
            <a:chExt cx="4762500" cy="4095750"/>
          </a:xfrm>
        </p:grpSpPr>
        <p:sp>
          <p:nvSpPr>
            <p:cNvPr id="10" name="Rectangle 10"/>
            <p:cNvSpPr/>
            <p:nvPr/>
          </p:nvSpPr>
          <p:spPr>
            <a:xfrm>
              <a:off x="857250" y="1285875"/>
              <a:ext cx="4762500" cy="4095750"/>
            </a:xfrm>
            <a:prstGeom prst="roundRect">
              <a:avLst>
                <a:gd name="adj" fmla="val 4186"/>
              </a:avLst>
            </a:prstGeom>
            <a:solidFill>
              <a:srgbClr val="E7F1F8"/>
            </a:solidFill>
            <a:ln w="19050">
              <a:solidFill>
                <a:srgbClr val="005DA2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857250" y="1285875"/>
              <a:ext cx="4762500" cy="666750"/>
            </a:xfrm>
            <a:prstGeom prst="roundRect">
              <a:avLst>
                <a:gd name="adj" fmla="val 25714"/>
              </a:avLst>
            </a:prstGeom>
            <a:solidFill>
              <a:srgbClr val="005DA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945130" y="147002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用途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29106" y="226060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5DA2"/>
                  </a:solidFill>
                  <a:latin typeface="Segoe UI"/>
                  <a:ea typeface="Microsoft YaHei"/>
                  <a:cs typeface="Segoe UI"/>
                </a:rPr>
                <a:t>系统描述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29106" y="278447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5DA2"/>
                  </a:solidFill>
                  <a:latin typeface="Segoe UI"/>
                  <a:ea typeface="Microsoft YaHei"/>
                  <a:cs typeface="Segoe UI"/>
                </a:rPr>
                <a:t>绩效评估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29106" y="330835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5DA2"/>
                  </a:solidFill>
                  <a:latin typeface="Segoe UI"/>
                  <a:ea typeface="Microsoft YaHei"/>
                  <a:cs typeface="Segoe UI"/>
                </a:rPr>
                <a:t>优化与规划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29106" y="3832225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5DA2"/>
                  </a:solidFill>
                  <a:latin typeface="Segoe UI"/>
                  <a:ea typeface="Microsoft YaHei"/>
                  <a:cs typeface="Segoe UI"/>
                </a:rPr>
                <a:t>疾病防治与应急响应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29106" y="435610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5DA2"/>
                  </a:solidFill>
                  <a:latin typeface="Segoe UI"/>
                  <a:ea typeface="Microsoft YaHei"/>
                  <a:cs typeface="Segoe UI"/>
                </a:rPr>
                <a:t>跨境合作</a:t>
              </a:r>
            </a:p>
          </p:txBody>
        </p:sp>
      </p:grpSp>
      <p:grpSp>
        <p:nvGrpSpPr>
          <p:cNvPr id="26" name="who-gaps"/>
          <p:cNvGrpSpPr/>
          <p:nvPr/>
        </p:nvGrpSpPr>
        <p:grpSpPr>
          <a:xfrm>
            <a:off x="6191250" y="1285875"/>
            <a:ext cx="5143500" cy="4095750"/>
            <a:chOff x="6191250" y="1285875"/>
            <a:chExt cx="5143500" cy="4095750"/>
          </a:xfrm>
        </p:grpSpPr>
        <p:sp>
          <p:nvSpPr>
            <p:cNvPr id="19" name="Rectangle 19"/>
            <p:cNvSpPr/>
            <p:nvPr/>
          </p:nvSpPr>
          <p:spPr>
            <a:xfrm>
              <a:off x="6191250" y="1285875"/>
              <a:ext cx="5143500" cy="4095750"/>
            </a:xfrm>
            <a:prstGeom prst="roundRect">
              <a:avLst>
                <a:gd name="adj" fmla="val 4186"/>
              </a:avLst>
            </a:prstGeom>
            <a:solidFill>
              <a:srgbClr val="FFF4DF"/>
            </a:solidFill>
            <a:ln w="19050">
              <a:solidFill>
                <a:srgbClr val="F7960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191250" y="1285875"/>
              <a:ext cx="5143500" cy="666750"/>
            </a:xfrm>
            <a:prstGeom prst="roundRect">
              <a:avLst>
                <a:gd name="adj" fmla="val 25714"/>
              </a:avLst>
            </a:prstGeom>
            <a:solidFill>
              <a:srgbClr val="F7960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1524" y="1470025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未充分纳入的因素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63487" y="2260600"/>
              <a:ext cx="256453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8A5200"/>
                  </a:solidFill>
                  <a:latin typeface="Segoe UI"/>
                  <a:ea typeface="Microsoft YaHei"/>
                  <a:cs typeface="Segoe UI"/>
                </a:rPr>
                <a:t>模块之间的动态相互作用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63487" y="2927350"/>
              <a:ext cx="302762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8A5200"/>
                  </a:solidFill>
                  <a:latin typeface="Segoe UI"/>
                  <a:ea typeface="Microsoft YaHei"/>
                  <a:cs typeface="Segoe UI"/>
                </a:rPr>
                <a:t>卫生部门之外的行动者与环境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63487" y="3594100"/>
              <a:ext cx="210144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8A5200"/>
                  </a:solidFill>
                  <a:latin typeface="Segoe UI"/>
                  <a:ea typeface="Microsoft YaHei"/>
                  <a:cs typeface="Segoe UI"/>
                </a:rPr>
                <a:t>个体使用服务的行为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63487" y="4260850"/>
              <a:ext cx="186989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8A5200"/>
                  </a:solidFill>
                  <a:latin typeface="Segoe UI"/>
                  <a:ea typeface="Microsoft YaHei"/>
                  <a:cs typeface="Segoe UI"/>
                </a:rPr>
                <a:t>社会经济决定因素</a:t>
              </a:r>
            </a:p>
          </p:txBody>
        </p:sp>
      </p:grpSp>
      <p:grpSp>
        <p:nvGrpSpPr>
          <p:cNvPr id="29" name="who-transition"/>
          <p:cNvGrpSpPr/>
          <p:nvPr/>
        </p:nvGrpSpPr>
        <p:grpSpPr>
          <a:xfrm>
            <a:off x="857250" y="5715000"/>
            <a:ext cx="10477500" cy="457200"/>
            <a:chOff x="857250" y="5715000"/>
            <a:chExt cx="10477500" cy="457200"/>
          </a:xfrm>
        </p:grpSpPr>
        <p:sp>
          <p:nvSpPr>
            <p:cNvPr id="27" name="Rectangle 27"/>
            <p:cNvSpPr/>
            <p:nvPr/>
          </p:nvSpPr>
          <p:spPr>
            <a:xfrm>
              <a:off x="857250" y="5715000"/>
              <a:ext cx="10477500" cy="457200"/>
            </a:xfrm>
            <a:prstGeom prst="roundRect">
              <a:avLst>
                <a:gd name="adj" fmla="val 20833"/>
              </a:avLst>
            </a:prstGeom>
            <a:solidFill>
              <a:srgbClr val="F3F6F8"/>
            </a:solidFill>
            <a:ln w="14288">
              <a:solidFill>
                <a:srgbClr val="80808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135761" y="5832475"/>
              <a:ext cx="78520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六要素适合逐项描述卫生系统组成；解释系统内外部关系，需要引入更具动态性的宏观模型。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904875" y="695325"/>
            <a:ext cx="10382250" cy="9525"/>
          </a:xfrm>
          <a:custGeom>
            <a:avLst/>
            <a:gdLst/>
            <a:ahLst/>
            <a:cxnLst/>
            <a:rect l="l" t="t" r="r" b="b"/>
            <a:pathLst>
              <a:path w="10382250" h="9525">
                <a:moveTo>
                  <a:pt x="0" y="0"/>
                </a:moveTo>
                <a:lnTo>
                  <a:pt x="10382250" y="0"/>
                </a:lnTo>
              </a:path>
            </a:pathLst>
          </a:custGeom>
          <a:solidFill>
            <a:srgbClr val="000000"/>
          </a:solidFill>
          <a:ln w="9525">
            <a:solidFill>
              <a:srgbClr val="808080"/>
            </a:solidFill>
          </a:ln>
        </p:spPr>
      </p:sp>
      <p:sp>
        <p:nvSpPr>
          <p:cNvPr id="3" name="Freeform 3"/>
          <p:cNvSpPr/>
          <p:nvPr/>
        </p:nvSpPr>
        <p:spPr>
          <a:xfrm>
            <a:off x="352425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0" y="0"/>
                </a:moveTo>
                <a:lnTo>
                  <a:pt x="133350" y="76200"/>
                </a:lnTo>
                <a:lnTo>
                  <a:pt x="38100" y="171450"/>
                </a:lnTo>
                <a:lnTo>
                  <a:pt x="0" y="142875"/>
                </a:lnTo>
                <a:lnTo>
                  <a:pt x="7620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5DA2"/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476250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9525" y="0"/>
                </a:moveTo>
                <a:lnTo>
                  <a:pt x="133350" y="76200"/>
                </a:lnTo>
                <a:lnTo>
                  <a:pt x="38100" y="171450"/>
                </a:lnTo>
                <a:lnTo>
                  <a:pt x="0" y="142875"/>
                </a:lnTo>
                <a:lnTo>
                  <a:pt x="76200" y="76200"/>
                </a:lnTo>
                <a:lnTo>
                  <a:pt x="9525" y="0"/>
                </a:lnTo>
                <a:close/>
              </a:path>
            </a:pathLst>
          </a:custGeom>
          <a:solidFill>
            <a:srgbClr val="3992DB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609600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0" y="0"/>
                </a:moveTo>
                <a:lnTo>
                  <a:pt x="133350" y="76200"/>
                </a:lnTo>
                <a:lnTo>
                  <a:pt x="28575" y="171450"/>
                </a:lnTo>
                <a:lnTo>
                  <a:pt x="0" y="142875"/>
                </a:lnTo>
                <a:lnTo>
                  <a:pt x="66675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79600"/>
          </a:solidFill>
          <a:ln>
            <a:noFill/>
          </a:ln>
        </p:spPr>
      </p:sp>
      <p:grpSp>
        <p:nvGrpSpPr>
          <p:cNvPr id="7" name="title"/>
          <p:cNvGrpSpPr/>
          <p:nvPr/>
        </p:nvGrpSpPr>
        <p:grpSpPr>
          <a:xfrm>
            <a:off x="1051941" y="120650"/>
            <a:ext cx="5532984" cy="572072"/>
            <a:chOff x="1051941" y="120650"/>
            <a:chExt cx="5532984" cy="572072"/>
          </a:xfrm>
        </p:grpSpPr>
        <p:sp>
          <p:nvSpPr>
            <p:cNvPr id="6" name="TextBox 6"/>
            <p:cNvSpPr txBox="1"/>
            <p:nvPr/>
          </p:nvSpPr>
          <p:spPr>
            <a:xfrm>
              <a:off x="1051941" y="120650"/>
              <a:ext cx="5532984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92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卫生系统宏观模型：内外部关系</a:t>
              </a:r>
            </a:p>
          </p:txBody>
        </p:sp>
      </p:grpSp>
      <p:grpSp>
        <p:nvGrpSpPr>
          <p:cNvPr id="12" name="external"/>
          <p:cNvGrpSpPr/>
          <p:nvPr/>
        </p:nvGrpSpPr>
        <p:grpSpPr>
          <a:xfrm>
            <a:off x="762000" y="1238250"/>
            <a:ext cx="10668000" cy="4476750"/>
            <a:chOff x="762000" y="1238250"/>
            <a:chExt cx="10668000" cy="4476750"/>
          </a:xfrm>
        </p:grpSpPr>
        <p:sp>
          <p:nvSpPr>
            <p:cNvPr id="8" name="Rectangle 8"/>
            <p:cNvSpPr/>
            <p:nvPr/>
          </p:nvSpPr>
          <p:spPr>
            <a:xfrm>
              <a:off x="762000" y="1238250"/>
              <a:ext cx="10668000" cy="4476750"/>
            </a:xfrm>
            <a:prstGeom prst="roundRect">
              <a:avLst>
                <a:gd name="adj" fmla="val 4681"/>
              </a:avLst>
            </a:prstGeom>
            <a:solidFill>
              <a:srgbClr val="F3F6F8"/>
            </a:solidFill>
            <a:ln w="19050">
              <a:solidFill>
                <a:srgbClr val="5B9BD5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85088" y="1454150"/>
              <a:ext cx="246796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外部环境与影响因素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87755" y="1917700"/>
              <a:ext cx="35389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人口需要 · 社会经济 · 政治 · 社会文化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87755" y="2241550"/>
              <a:ext cx="16912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生物 · 行为 · 环境</a:t>
              </a:r>
            </a:p>
          </p:txBody>
        </p:sp>
      </p:grpSp>
      <p:grpSp>
        <p:nvGrpSpPr>
          <p:cNvPr id="26" name="internal"/>
          <p:cNvGrpSpPr/>
          <p:nvPr/>
        </p:nvGrpSpPr>
        <p:grpSpPr>
          <a:xfrm>
            <a:off x="3143250" y="2762250"/>
            <a:ext cx="5334000" cy="2190750"/>
            <a:chOff x="3143250" y="2762250"/>
            <a:chExt cx="5334000" cy="2190750"/>
          </a:xfrm>
        </p:grpSpPr>
        <p:sp>
          <p:nvSpPr>
            <p:cNvPr id="13" name="Rectangle 13"/>
            <p:cNvSpPr/>
            <p:nvPr/>
          </p:nvSpPr>
          <p:spPr>
            <a:xfrm>
              <a:off x="3143250" y="2762250"/>
              <a:ext cx="5334000" cy="2190750"/>
            </a:xfrm>
            <a:prstGeom prst="roundRect">
              <a:avLst>
                <a:gd name="adj" fmla="val 7826"/>
              </a:avLst>
            </a:prstGeom>
            <a:solidFill>
              <a:srgbClr val="E7F1F8"/>
            </a:solidFill>
            <a:ln w="19050">
              <a:solidFill>
                <a:srgbClr val="005DA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750308" y="2901950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卫生系统内部运行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524250" y="3524250"/>
              <a:ext cx="1381125" cy="74295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19050">
              <a:solidFill>
                <a:srgbClr val="3992D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989349" y="3667125"/>
              <a:ext cx="44140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结构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533546" y="3962400"/>
              <a:ext cx="13530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资源 · 组织 · 行政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4905375" y="3895725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rgbClr val="005DA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323332" y="3698875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rgbClr val="005DA2"/>
                  </a:solidFill>
                  <a:latin typeface="Segoe UI"/>
                  <a:ea typeface="Segoe UI"/>
                  <a:cs typeface="Segoe UI"/>
                </a:rPr>
                <a:t>→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429250" y="3524250"/>
              <a:ext cx="1143000" cy="74295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19050">
              <a:solidFill>
                <a:srgbClr val="3992D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780049" y="3781425"/>
              <a:ext cx="44140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过程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6572250" y="3895725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rgbClr val="005DA2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90207" y="3698875"/>
              <a:ext cx="176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rgbClr val="005DA2"/>
                  </a:solidFill>
                  <a:latin typeface="Segoe UI"/>
                  <a:ea typeface="Segoe UI"/>
                  <a:cs typeface="Segoe UI"/>
                </a:rPr>
                <a:t>→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096125" y="3524250"/>
              <a:ext cx="1047750" cy="74295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19050">
              <a:solidFill>
                <a:srgbClr val="3992DB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399299" y="3781425"/>
              <a:ext cx="44140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结果</a:t>
              </a:r>
            </a:p>
          </p:txBody>
        </p:sp>
      </p:grpSp>
      <p:grpSp>
        <p:nvGrpSpPr>
          <p:cNvPr id="36" name="outcomes"/>
          <p:cNvGrpSpPr/>
          <p:nvPr/>
        </p:nvGrpSpPr>
        <p:grpSpPr>
          <a:xfrm>
            <a:off x="6619875" y="2857500"/>
            <a:ext cx="4333875" cy="2619375"/>
            <a:chOff x="6619875" y="2857500"/>
            <a:chExt cx="4333875" cy="2619375"/>
          </a:xfrm>
        </p:grpSpPr>
        <p:sp>
          <p:nvSpPr>
            <p:cNvPr id="27" name="Rectangle 27"/>
            <p:cNvSpPr/>
            <p:nvPr/>
          </p:nvSpPr>
          <p:spPr>
            <a:xfrm>
              <a:off x="8858250" y="2857500"/>
              <a:ext cx="2095500" cy="857250"/>
            </a:xfrm>
            <a:prstGeom prst="roundRect">
              <a:avLst>
                <a:gd name="adj" fmla="val 16667"/>
              </a:avLst>
            </a:prstGeom>
            <a:solidFill>
              <a:srgbClr val="FFF4DF"/>
            </a:solidFill>
            <a:ln w="19050">
              <a:solidFill>
                <a:srgbClr val="F7960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472600" y="3028950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8A5200"/>
                  </a:solidFill>
                  <a:latin typeface="Microsoft YaHei"/>
                  <a:ea typeface="Microsoft YaHei"/>
                  <a:cs typeface="Microsoft YaHei"/>
                </a:rPr>
                <a:t>系统结果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184422" y="3352800"/>
              <a:ext cx="144315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效率 · 公平 · 质量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858250" y="4095750"/>
              <a:ext cx="2095500" cy="857250"/>
            </a:xfrm>
            <a:prstGeom prst="roundRect">
              <a:avLst>
                <a:gd name="adj" fmla="val 16667"/>
              </a:avLst>
            </a:prstGeom>
            <a:solidFill>
              <a:srgbClr val="FFF4DF"/>
            </a:solidFill>
            <a:ln w="19050">
              <a:solidFill>
                <a:srgbClr val="F79600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472600" y="4267200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8A5200"/>
                  </a:solidFill>
                  <a:latin typeface="Microsoft YaHei"/>
                  <a:ea typeface="Microsoft YaHei"/>
                  <a:cs typeface="Microsoft YaHei"/>
                </a:rPr>
                <a:t>健康结果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382582" y="4591050"/>
              <a:ext cx="104683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人群健康影响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8477250" y="39052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rgbClr val="F79600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6667500" y="4953000"/>
              <a:ext cx="3238500" cy="523875"/>
            </a:xfrm>
            <a:custGeom>
              <a:avLst/>
              <a:gdLst/>
              <a:ahLst/>
              <a:cxnLst/>
              <a:rect l="l" t="t" r="r" b="b"/>
              <a:pathLst>
                <a:path w="3238500" h="523875">
                  <a:moveTo>
                    <a:pt x="3238500" y="0"/>
                  </a:moveTo>
                  <a:cubicBezTo>
                    <a:pt x="3238500" y="476250"/>
                    <a:pt x="762000" y="523875"/>
                    <a:pt x="0" y="0"/>
                  </a:cubicBezTo>
                </a:path>
              </a:pathLst>
            </a:custGeom>
            <a:noFill/>
            <a:ln w="28575">
              <a:solidFill>
                <a:srgbClr val="F79600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6619875" y="49339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19050"/>
                  </a:moveTo>
                  <a:lnTo>
                    <a:pt x="0" y="0"/>
                  </a:lnTo>
                  <a:lnTo>
                    <a:pt x="66675" y="114300"/>
                  </a:lnTo>
                </a:path>
              </a:pathLst>
            </a:custGeom>
            <a:solidFill>
              <a:srgbClr val="F79600"/>
            </a:solidFill>
            <a:ln>
              <a:noFill/>
            </a:ln>
          </p:spPr>
        </p:sp>
      </p:grpSp>
      <p:grpSp>
        <p:nvGrpSpPr>
          <p:cNvPr id="39" name="note"/>
          <p:cNvGrpSpPr/>
          <p:nvPr/>
        </p:nvGrpSpPr>
        <p:grpSpPr>
          <a:xfrm>
            <a:off x="762000" y="5953125"/>
            <a:ext cx="10668000" cy="400050"/>
            <a:chOff x="762000" y="5953125"/>
            <a:chExt cx="10668000" cy="400050"/>
          </a:xfrm>
        </p:grpSpPr>
        <p:sp>
          <p:nvSpPr>
            <p:cNvPr id="37" name="Rectangle 37"/>
            <p:cNvSpPr/>
            <p:nvPr/>
          </p:nvSpPr>
          <p:spPr>
            <a:xfrm>
              <a:off x="762000" y="5953125"/>
              <a:ext cx="10668000" cy="400050"/>
            </a:xfrm>
            <a:prstGeom prst="roundRect">
              <a:avLst>
                <a:gd name="adj" fmla="val 23810"/>
              </a:avLst>
            </a:prstGeom>
            <a:solidFill>
              <a:srgbClr val="FFF4DF"/>
            </a:solidFill>
            <a:ln w="14288">
              <a:solidFill>
                <a:srgbClr val="F79600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40892" y="6045200"/>
              <a:ext cx="60292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内部结构—过程—结果需结合外部环境理解；反馈关系不等于单一路径因果。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904875" y="695325"/>
            <a:ext cx="10382250" cy="9525"/>
          </a:xfrm>
          <a:custGeom>
            <a:avLst/>
            <a:gdLst/>
            <a:ahLst/>
            <a:cxnLst/>
            <a:rect l="l" t="t" r="r" b="b"/>
            <a:pathLst>
              <a:path w="10382250" h="9525">
                <a:moveTo>
                  <a:pt x="0" y="0"/>
                </a:moveTo>
                <a:lnTo>
                  <a:pt x="10382250" y="0"/>
                </a:lnTo>
              </a:path>
            </a:pathLst>
          </a:custGeom>
          <a:solidFill>
            <a:srgbClr val="000000"/>
          </a:solidFill>
          <a:ln w="9525">
            <a:solidFill>
              <a:srgbClr val="808080"/>
            </a:solidFill>
          </a:ln>
        </p:spPr>
      </p:sp>
      <p:sp>
        <p:nvSpPr>
          <p:cNvPr id="3" name="Freeform 3"/>
          <p:cNvSpPr/>
          <p:nvPr/>
        </p:nvSpPr>
        <p:spPr>
          <a:xfrm>
            <a:off x="352425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0" y="0"/>
                </a:moveTo>
                <a:lnTo>
                  <a:pt x="133350" y="76200"/>
                </a:lnTo>
                <a:lnTo>
                  <a:pt x="38100" y="171450"/>
                </a:lnTo>
                <a:lnTo>
                  <a:pt x="0" y="142875"/>
                </a:lnTo>
                <a:lnTo>
                  <a:pt x="7620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5DA2"/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476250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9525" y="0"/>
                </a:moveTo>
                <a:lnTo>
                  <a:pt x="133350" y="76200"/>
                </a:lnTo>
                <a:lnTo>
                  <a:pt x="38100" y="171450"/>
                </a:lnTo>
                <a:lnTo>
                  <a:pt x="0" y="142875"/>
                </a:lnTo>
                <a:lnTo>
                  <a:pt x="76200" y="76200"/>
                </a:lnTo>
                <a:lnTo>
                  <a:pt x="9525" y="0"/>
                </a:lnTo>
                <a:close/>
              </a:path>
            </a:pathLst>
          </a:custGeom>
          <a:solidFill>
            <a:srgbClr val="3992DB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609600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0" y="0"/>
                </a:moveTo>
                <a:lnTo>
                  <a:pt x="133350" y="76200"/>
                </a:lnTo>
                <a:lnTo>
                  <a:pt x="28575" y="171450"/>
                </a:lnTo>
                <a:lnTo>
                  <a:pt x="0" y="142875"/>
                </a:lnTo>
                <a:lnTo>
                  <a:pt x="66675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796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51941" y="120650"/>
            <a:ext cx="6319164" cy="572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920" b="1" dirty="0">
                <a:solidFill>
                  <a:srgbClr val="005DA2"/>
                </a:solidFill>
                <a:latin typeface="Microsoft YaHei"/>
                <a:ea typeface="Microsoft YaHei"/>
                <a:cs typeface="Microsoft YaHei"/>
              </a:rPr>
              <a:t>卫生系统宏观模型：子模与分析维度</a:t>
            </a:r>
          </a:p>
        </p:txBody>
      </p:sp>
      <p:grpSp>
        <p:nvGrpSpPr>
          <p:cNvPr id="11" name="head"/>
          <p:cNvGrpSpPr/>
          <p:nvPr/>
        </p:nvGrpSpPr>
        <p:grpSpPr>
          <a:xfrm>
            <a:off x="857250" y="1190625"/>
            <a:ext cx="10477500" cy="590550"/>
            <a:chOff x="857250" y="1190625"/>
            <a:chExt cx="10477500" cy="590550"/>
          </a:xfrm>
        </p:grpSpPr>
        <p:sp>
          <p:nvSpPr>
            <p:cNvPr id="7" name="Rectangle 7"/>
            <p:cNvSpPr/>
            <p:nvPr/>
          </p:nvSpPr>
          <p:spPr>
            <a:xfrm>
              <a:off x="857250" y="1190625"/>
              <a:ext cx="10477500" cy="590550"/>
            </a:xfrm>
            <a:prstGeom prst="roundRect">
              <a:avLst>
                <a:gd name="adj" fmla="val 16129"/>
              </a:avLst>
            </a:prstGeom>
            <a:solidFill>
              <a:srgbClr val="005DA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71981" y="1355725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分区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372231" y="135572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子模／维度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05856" y="135572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示例内容</a:t>
              </a:r>
            </a:p>
          </p:txBody>
        </p:sp>
      </p:grpSp>
      <p:grpSp>
        <p:nvGrpSpPr>
          <p:cNvPr id="19" name="rows"/>
          <p:cNvGrpSpPr/>
          <p:nvPr/>
        </p:nvGrpSpPr>
        <p:grpSpPr>
          <a:xfrm>
            <a:off x="857250" y="1781175"/>
            <a:ext cx="10477500" cy="4000500"/>
            <a:chOff x="857250" y="1781175"/>
            <a:chExt cx="10477500" cy="4000500"/>
          </a:xfrm>
        </p:grpSpPr>
        <p:sp>
          <p:nvSpPr>
            <p:cNvPr id="12" name="Rectangle 12"/>
            <p:cNvSpPr/>
            <p:nvPr/>
          </p:nvSpPr>
          <p:spPr>
            <a:xfrm>
              <a:off x="857250" y="1781175"/>
              <a:ext cx="10477500" cy="571500"/>
            </a:xfrm>
            <a:prstGeom prst="rect">
              <a:avLst/>
            </a:prstGeom>
            <a:solidFill>
              <a:srgbClr val="E7F1F8"/>
            </a:solidFill>
            <a:ln w="9525">
              <a:solidFill>
                <a:srgbClr val="B9D7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857250" y="2352675"/>
              <a:ext cx="10477500" cy="571500"/>
            </a:xfrm>
            <a:prstGeom prst="rect">
              <a:avLst/>
            </a:prstGeom>
            <a:solidFill>
              <a:srgbClr val="F5FAFD"/>
            </a:solidFill>
            <a:ln w="9525">
              <a:solidFill>
                <a:srgbClr val="B9D7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857250" y="2924175"/>
              <a:ext cx="10477500" cy="571500"/>
            </a:xfrm>
            <a:prstGeom prst="rect">
              <a:avLst/>
            </a:prstGeom>
            <a:solidFill>
              <a:srgbClr val="E7F1F8"/>
            </a:solidFill>
            <a:ln w="9525">
              <a:solidFill>
                <a:srgbClr val="B9D7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857250" y="3495675"/>
              <a:ext cx="10477500" cy="571500"/>
            </a:xfrm>
            <a:prstGeom prst="rect">
              <a:avLst/>
            </a:prstGeom>
            <a:solidFill>
              <a:srgbClr val="F5FAFD"/>
            </a:solidFill>
            <a:ln w="9525">
              <a:solidFill>
                <a:srgbClr val="B9D7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857250" y="4067175"/>
              <a:ext cx="10477500" cy="571500"/>
            </a:xfrm>
            <a:prstGeom prst="rect">
              <a:avLst/>
            </a:prstGeom>
            <a:solidFill>
              <a:srgbClr val="E7F1F8"/>
            </a:solidFill>
            <a:ln w="9525">
              <a:solidFill>
                <a:srgbClr val="B9D7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857250" y="4638675"/>
              <a:ext cx="10477500" cy="571500"/>
            </a:xfrm>
            <a:prstGeom prst="rect">
              <a:avLst/>
            </a:prstGeom>
            <a:solidFill>
              <a:srgbClr val="F5FAFD"/>
            </a:solidFill>
            <a:ln w="9525">
              <a:solidFill>
                <a:srgbClr val="B9D7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857250" y="5210175"/>
              <a:ext cx="10477500" cy="571500"/>
            </a:xfrm>
            <a:prstGeom prst="rect">
              <a:avLst/>
            </a:prstGeom>
            <a:solidFill>
              <a:srgbClr val="FFF4DF"/>
            </a:solidFill>
            <a:ln w="9525">
              <a:solidFill>
                <a:srgbClr val="F79600"/>
              </a:solidFill>
            </a:ln>
          </p:spPr>
        </p:sp>
      </p:grpSp>
      <p:grpSp>
        <p:nvGrpSpPr>
          <p:cNvPr id="39" name="text"/>
          <p:cNvGrpSpPr/>
          <p:nvPr/>
        </p:nvGrpSpPr>
        <p:grpSpPr>
          <a:xfrm>
            <a:off x="1135761" y="1939925"/>
            <a:ext cx="8043215" cy="3733102"/>
            <a:chOff x="1135761" y="1939925"/>
            <a:chExt cx="8043215" cy="3733102"/>
          </a:xfrm>
        </p:grpSpPr>
        <p:sp>
          <p:nvSpPr>
            <p:cNvPr id="20" name="TextBox 20"/>
            <p:cNvSpPr txBox="1"/>
            <p:nvPr/>
          </p:nvSpPr>
          <p:spPr>
            <a:xfrm>
              <a:off x="1372743" y="1939925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内部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372993" y="1939925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资源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07380" y="19653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人力、物力的数量与质量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72743" y="2511425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内部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372993" y="2511425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组织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707380" y="253682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布局、管理监控、财务补偿、协调持续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72743" y="3082925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内部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372993" y="3082925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行政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707380" y="31083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自主权、管理层次、政策工具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72743" y="3654425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内部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372993" y="3654425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过程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707380" y="36798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利用、可及性、伦理与质量保证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72743" y="4225925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内部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372993" y="4225925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结果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707380" y="42513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效果、效率、质量、公平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372743" y="4797425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外部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372993" y="4797425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环境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707380" y="482282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人口需要、社会经济、政治、社会文化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35761" y="5394325"/>
              <a:ext cx="80432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8A5200"/>
                  </a:solidFill>
                  <a:latin typeface="Microsoft YaHei"/>
                  <a:ea typeface="Microsoft YaHei"/>
                  <a:cs typeface="Microsoft YaHei"/>
                </a:rPr>
                <a:t>表中维度用于组织分析，不是预先给定的评价指标体系，也不能直接推导统一权重或综合分数。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904875" y="695325"/>
            <a:ext cx="10382250" cy="9525"/>
          </a:xfrm>
          <a:custGeom>
            <a:avLst/>
            <a:gdLst/>
            <a:ahLst/>
            <a:cxnLst/>
            <a:rect l="l" t="t" r="r" b="b"/>
            <a:pathLst>
              <a:path w="10382250" h="9525">
                <a:moveTo>
                  <a:pt x="0" y="0"/>
                </a:moveTo>
                <a:lnTo>
                  <a:pt x="10382250" y="0"/>
                </a:lnTo>
              </a:path>
            </a:pathLst>
          </a:custGeom>
          <a:solidFill>
            <a:srgbClr val="000000"/>
          </a:solidFill>
          <a:ln w="9525">
            <a:solidFill>
              <a:srgbClr val="808080"/>
            </a:solidFill>
          </a:ln>
        </p:spPr>
      </p:sp>
      <p:sp>
        <p:nvSpPr>
          <p:cNvPr id="3" name="Freeform 3"/>
          <p:cNvSpPr/>
          <p:nvPr/>
        </p:nvSpPr>
        <p:spPr>
          <a:xfrm>
            <a:off x="352425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0" y="0"/>
                </a:moveTo>
                <a:lnTo>
                  <a:pt x="133350" y="76200"/>
                </a:lnTo>
                <a:lnTo>
                  <a:pt x="38100" y="171450"/>
                </a:lnTo>
                <a:lnTo>
                  <a:pt x="0" y="142875"/>
                </a:lnTo>
                <a:lnTo>
                  <a:pt x="7620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5DA2"/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476250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9525" y="0"/>
                </a:moveTo>
                <a:lnTo>
                  <a:pt x="133350" y="76200"/>
                </a:lnTo>
                <a:lnTo>
                  <a:pt x="38100" y="171450"/>
                </a:lnTo>
                <a:lnTo>
                  <a:pt x="0" y="142875"/>
                </a:lnTo>
                <a:lnTo>
                  <a:pt x="76200" y="76200"/>
                </a:lnTo>
                <a:lnTo>
                  <a:pt x="9525" y="0"/>
                </a:lnTo>
                <a:close/>
              </a:path>
            </a:pathLst>
          </a:custGeom>
          <a:solidFill>
            <a:srgbClr val="3992DB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609600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0" y="0"/>
                </a:moveTo>
                <a:lnTo>
                  <a:pt x="133350" y="76200"/>
                </a:lnTo>
                <a:lnTo>
                  <a:pt x="28575" y="171450"/>
                </a:lnTo>
                <a:lnTo>
                  <a:pt x="0" y="142875"/>
                </a:lnTo>
                <a:lnTo>
                  <a:pt x="66675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796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51941" y="120650"/>
            <a:ext cx="7105345" cy="572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920" b="1" dirty="0">
                <a:solidFill>
                  <a:srgbClr val="005DA2"/>
                </a:solidFill>
                <a:latin typeface="Microsoft YaHei"/>
                <a:ea typeface="Microsoft YaHei"/>
                <a:cs typeface="Microsoft YaHei"/>
              </a:rPr>
              <a:t>卫生系统宏观模型：问题诊断与适用边界</a:t>
            </a:r>
          </a:p>
        </p:txBody>
      </p:sp>
      <p:grpSp>
        <p:nvGrpSpPr>
          <p:cNvPr id="15" name="use"/>
          <p:cNvGrpSpPr/>
          <p:nvPr/>
        </p:nvGrpSpPr>
        <p:grpSpPr>
          <a:xfrm>
            <a:off x="762000" y="1285875"/>
            <a:ext cx="3333750" cy="4095750"/>
            <a:chOff x="762000" y="1285875"/>
            <a:chExt cx="3333750" cy="4095750"/>
          </a:xfrm>
        </p:grpSpPr>
        <p:sp>
          <p:nvSpPr>
            <p:cNvPr id="7" name="Rectangle 7"/>
            <p:cNvSpPr/>
            <p:nvPr/>
          </p:nvSpPr>
          <p:spPr>
            <a:xfrm>
              <a:off x="762000" y="1285875"/>
              <a:ext cx="3333750" cy="4095750"/>
            </a:xfrm>
            <a:prstGeom prst="roundRect">
              <a:avLst>
                <a:gd name="adj" fmla="val 5143"/>
              </a:avLst>
            </a:prstGeom>
            <a:solidFill>
              <a:srgbClr val="E7F1F8"/>
            </a:solidFill>
            <a:ln w="19050">
              <a:solidFill>
                <a:srgbClr val="005DA2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762000" y="1285875"/>
              <a:ext cx="3333750" cy="666750"/>
            </a:xfrm>
            <a:prstGeom prst="roundRect">
              <a:avLst>
                <a:gd name="adj" fmla="val 25714"/>
              </a:avLst>
            </a:prstGeom>
            <a:solidFill>
              <a:srgbClr val="005DA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874723" y="1482725"/>
              <a:ext cx="11083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研究用途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86993" y="227330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把握要素与规律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86993" y="289242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确认问题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86993" y="3511550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分析根源与环境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6993" y="413067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论证方案可行性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6993" y="474980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支持政策评价</a:t>
              </a:r>
            </a:p>
          </p:txBody>
        </p:sp>
      </p:grpSp>
      <p:grpSp>
        <p:nvGrpSpPr>
          <p:cNvPr id="23" name="limits"/>
          <p:cNvGrpSpPr/>
          <p:nvPr/>
        </p:nvGrpSpPr>
        <p:grpSpPr>
          <a:xfrm>
            <a:off x="4429125" y="1285875"/>
            <a:ext cx="3333750" cy="4095750"/>
            <a:chOff x="4429125" y="1285875"/>
            <a:chExt cx="3333750" cy="4095750"/>
          </a:xfrm>
        </p:grpSpPr>
        <p:sp>
          <p:nvSpPr>
            <p:cNvPr id="16" name="Rectangle 16"/>
            <p:cNvSpPr/>
            <p:nvPr/>
          </p:nvSpPr>
          <p:spPr>
            <a:xfrm>
              <a:off x="4429125" y="1285875"/>
              <a:ext cx="3333750" cy="4095750"/>
            </a:xfrm>
            <a:prstGeom prst="roundRect">
              <a:avLst>
                <a:gd name="adj" fmla="val 5143"/>
              </a:avLst>
            </a:prstGeom>
            <a:solidFill>
              <a:srgbClr val="F5FAFD"/>
            </a:solidFill>
            <a:ln w="19050">
              <a:solidFill>
                <a:srgbClr val="3992DB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429125" y="1285875"/>
              <a:ext cx="3333750" cy="666750"/>
            </a:xfrm>
            <a:prstGeom prst="roundRect">
              <a:avLst>
                <a:gd name="adj" fmla="val 25714"/>
              </a:avLst>
            </a:prstGeom>
            <a:solidFill>
              <a:srgbClr val="3992D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541848" y="1482725"/>
              <a:ext cx="11083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模型约束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54118" y="23685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开放系统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54118" y="29876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关系复杂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54118" y="360680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模型抽象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54118" y="422592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子模随问题界定</a:t>
              </a:r>
            </a:p>
          </p:txBody>
        </p:sp>
      </p:grpSp>
      <p:grpSp>
        <p:nvGrpSpPr>
          <p:cNvPr id="31" name="fit"/>
          <p:cNvGrpSpPr/>
          <p:nvPr/>
        </p:nvGrpSpPr>
        <p:grpSpPr>
          <a:xfrm>
            <a:off x="8096250" y="1285875"/>
            <a:ext cx="3333750" cy="4095750"/>
            <a:chOff x="8096250" y="1285875"/>
            <a:chExt cx="3333750" cy="4095750"/>
          </a:xfrm>
        </p:grpSpPr>
        <p:sp>
          <p:nvSpPr>
            <p:cNvPr id="24" name="Rectangle 24"/>
            <p:cNvSpPr/>
            <p:nvPr/>
          </p:nvSpPr>
          <p:spPr>
            <a:xfrm>
              <a:off x="8096250" y="1285875"/>
              <a:ext cx="3333750" cy="4095750"/>
            </a:xfrm>
            <a:prstGeom prst="roundRect">
              <a:avLst>
                <a:gd name="adj" fmla="val 5143"/>
              </a:avLst>
            </a:prstGeom>
            <a:solidFill>
              <a:srgbClr val="FFF4DF"/>
            </a:solidFill>
            <a:ln w="19050">
              <a:solidFill>
                <a:srgbClr val="F7960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8096250" y="1285875"/>
              <a:ext cx="3333750" cy="666750"/>
            </a:xfrm>
            <a:prstGeom prst="roundRect">
              <a:avLst>
                <a:gd name="adj" fmla="val 25714"/>
              </a:avLst>
            </a:prstGeom>
            <a:solidFill>
              <a:srgbClr val="F7960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208973" y="1482725"/>
              <a:ext cx="11083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情境适配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21243" y="23685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A5200"/>
                  </a:solidFill>
                  <a:latin typeface="Microsoft YaHei"/>
                  <a:ea typeface="Microsoft YaHei"/>
                  <a:cs typeface="Microsoft YaHei"/>
                </a:rPr>
                <a:t>地区差异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21243" y="308292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A5200"/>
                  </a:solidFill>
                  <a:latin typeface="Microsoft YaHei"/>
                  <a:ea typeface="Microsoft YaHei"/>
                  <a:cs typeface="Microsoft YaHei"/>
                </a:rPr>
                <a:t>发展阶段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21243" y="379730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A5200"/>
                  </a:solidFill>
                  <a:latin typeface="Microsoft YaHei"/>
                  <a:ea typeface="Microsoft YaHei"/>
                  <a:cs typeface="Microsoft YaHei"/>
                </a:rPr>
                <a:t>卫生体系结构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22386" y="4537075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明确研究边界与分析单位</a:t>
              </a:r>
            </a:p>
          </p:txBody>
        </p:sp>
      </p:grpSp>
      <p:grpSp>
        <p:nvGrpSpPr>
          <p:cNvPr id="34" name="note18"/>
          <p:cNvGrpSpPr/>
          <p:nvPr/>
        </p:nvGrpSpPr>
        <p:grpSpPr>
          <a:xfrm>
            <a:off x="762000" y="5715000"/>
            <a:ext cx="10668000" cy="457200"/>
            <a:chOff x="762000" y="5715000"/>
            <a:chExt cx="10668000" cy="457200"/>
          </a:xfrm>
        </p:grpSpPr>
        <p:sp>
          <p:nvSpPr>
            <p:cNvPr id="32" name="Rectangle 32"/>
            <p:cNvSpPr/>
            <p:nvPr/>
          </p:nvSpPr>
          <p:spPr>
            <a:xfrm>
              <a:off x="762000" y="5715000"/>
              <a:ext cx="10668000" cy="457200"/>
            </a:xfrm>
            <a:prstGeom prst="roundRect">
              <a:avLst>
                <a:gd name="adj" fmla="val 20833"/>
              </a:avLst>
            </a:prstGeom>
            <a:solidFill>
              <a:srgbClr val="F3F6F8"/>
            </a:solidFill>
            <a:ln w="14288">
              <a:solidFill>
                <a:srgbClr val="80808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40511" y="5832475"/>
              <a:ext cx="69279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WHO六要素侧重系统组成；宏观模型进一步组织内部运行、外部环境与反馈关系。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904875" y="695325"/>
            <a:ext cx="10382250" cy="9525"/>
          </a:xfrm>
          <a:custGeom>
            <a:avLst/>
            <a:gdLst/>
            <a:ahLst/>
            <a:cxnLst/>
            <a:rect l="l" t="t" r="r" b="b"/>
            <a:pathLst>
              <a:path w="10382250" h="9525">
                <a:moveTo>
                  <a:pt x="0" y="0"/>
                </a:moveTo>
                <a:lnTo>
                  <a:pt x="10382250" y="0"/>
                </a:lnTo>
              </a:path>
            </a:pathLst>
          </a:custGeom>
          <a:solidFill>
            <a:srgbClr val="000000"/>
          </a:solidFill>
          <a:ln w="9525">
            <a:solidFill>
              <a:srgbClr val="808080"/>
            </a:solidFill>
          </a:ln>
        </p:spPr>
      </p:sp>
      <p:sp>
        <p:nvSpPr>
          <p:cNvPr id="3" name="Freeform 3"/>
          <p:cNvSpPr/>
          <p:nvPr/>
        </p:nvSpPr>
        <p:spPr>
          <a:xfrm>
            <a:off x="352425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0" y="0"/>
                </a:moveTo>
                <a:lnTo>
                  <a:pt x="133350" y="76200"/>
                </a:lnTo>
                <a:lnTo>
                  <a:pt x="38100" y="171450"/>
                </a:lnTo>
                <a:lnTo>
                  <a:pt x="0" y="142875"/>
                </a:lnTo>
                <a:lnTo>
                  <a:pt x="7620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5DA2"/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476250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9525" y="0"/>
                </a:moveTo>
                <a:lnTo>
                  <a:pt x="133350" y="76200"/>
                </a:lnTo>
                <a:lnTo>
                  <a:pt x="38100" y="171450"/>
                </a:lnTo>
                <a:lnTo>
                  <a:pt x="0" y="142875"/>
                </a:lnTo>
                <a:lnTo>
                  <a:pt x="76200" y="76200"/>
                </a:lnTo>
                <a:lnTo>
                  <a:pt x="9525" y="0"/>
                </a:lnTo>
                <a:close/>
              </a:path>
            </a:pathLst>
          </a:custGeom>
          <a:solidFill>
            <a:srgbClr val="3992DB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609600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0" y="0"/>
                </a:moveTo>
                <a:lnTo>
                  <a:pt x="133350" y="76200"/>
                </a:lnTo>
                <a:lnTo>
                  <a:pt x="28575" y="171450"/>
                </a:lnTo>
                <a:lnTo>
                  <a:pt x="0" y="142875"/>
                </a:lnTo>
                <a:lnTo>
                  <a:pt x="66675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796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51941" y="120650"/>
            <a:ext cx="3960622" cy="572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920" b="1" dirty="0">
                <a:solidFill>
                  <a:srgbClr val="005DA2"/>
                </a:solidFill>
                <a:latin typeface="Microsoft YaHei"/>
                <a:ea typeface="Microsoft YaHei"/>
                <a:cs typeface="Microsoft YaHei"/>
              </a:rPr>
              <a:t>控制柄：五个政策杠杆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59561" y="793750"/>
            <a:ext cx="383768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将改革议题转化为可讨论、可调整的政策维度</a:t>
            </a:r>
          </a:p>
        </p:txBody>
      </p:sp>
      <p:grpSp>
        <p:nvGrpSpPr>
          <p:cNvPr id="15" name="financing"/>
          <p:cNvGrpSpPr/>
          <p:nvPr/>
        </p:nvGrpSpPr>
        <p:grpSpPr>
          <a:xfrm>
            <a:off x="571500" y="1428750"/>
            <a:ext cx="2000250" cy="3714750"/>
            <a:chOff x="571500" y="1428750"/>
            <a:chExt cx="2000250" cy="3714750"/>
          </a:xfrm>
        </p:grpSpPr>
        <p:sp>
          <p:nvSpPr>
            <p:cNvPr id="8" name="Rectangle 8"/>
            <p:cNvSpPr/>
            <p:nvPr/>
          </p:nvSpPr>
          <p:spPr>
            <a:xfrm>
              <a:off x="571500" y="1428750"/>
              <a:ext cx="2000250" cy="3714750"/>
            </a:xfrm>
            <a:prstGeom prst="roundRect">
              <a:avLst>
                <a:gd name="adj" fmla="val 7619"/>
              </a:avLst>
            </a:prstGeom>
            <a:solidFill>
              <a:srgbClr val="E7F1F8"/>
            </a:solidFill>
            <a:ln w="19050">
              <a:solidFill>
                <a:srgbClr val="005DA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428750"/>
              <a:ext cx="2000250" cy="742950"/>
            </a:xfrm>
            <a:prstGeom prst="roundRect">
              <a:avLst>
                <a:gd name="adj" fmla="val 20513"/>
              </a:avLst>
            </a:prstGeom>
            <a:solidFill>
              <a:srgbClr val="005DA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89406" y="1568450"/>
              <a:ext cx="56443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筹资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13083" y="1905000"/>
              <a:ext cx="7170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DDEEFF"/>
                  </a:solidFill>
                  <a:latin typeface="Arial"/>
                  <a:ea typeface="Arial"/>
                  <a:cs typeface="Arial"/>
                </a:rPr>
                <a:t>Financing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2005" y="256540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资金从哪里来？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02767" y="305435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筹资来源与筹资方式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02767" y="354965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资源动员与筹资公平</a:t>
              </a:r>
            </a:p>
          </p:txBody>
        </p:sp>
      </p:grpSp>
      <p:grpSp>
        <p:nvGrpSpPr>
          <p:cNvPr id="23" name="payment"/>
          <p:cNvGrpSpPr/>
          <p:nvPr/>
        </p:nvGrpSpPr>
        <p:grpSpPr>
          <a:xfrm>
            <a:off x="2714625" y="1428750"/>
            <a:ext cx="2000250" cy="3714750"/>
            <a:chOff x="2714625" y="1428750"/>
            <a:chExt cx="2000250" cy="3714750"/>
          </a:xfrm>
        </p:grpSpPr>
        <p:sp>
          <p:nvSpPr>
            <p:cNvPr id="16" name="Rectangle 16"/>
            <p:cNvSpPr/>
            <p:nvPr/>
          </p:nvSpPr>
          <p:spPr>
            <a:xfrm>
              <a:off x="2714625" y="1428750"/>
              <a:ext cx="2000250" cy="3714750"/>
            </a:xfrm>
            <a:prstGeom prst="roundRect">
              <a:avLst>
                <a:gd name="adj" fmla="val 7619"/>
              </a:avLst>
            </a:prstGeom>
            <a:solidFill>
              <a:srgbClr val="F5FAFD"/>
            </a:solidFill>
            <a:ln w="19050">
              <a:solidFill>
                <a:srgbClr val="3992DB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714625" y="1428750"/>
              <a:ext cx="2000250" cy="742950"/>
            </a:xfrm>
            <a:prstGeom prst="roundRect">
              <a:avLst>
                <a:gd name="adj" fmla="val 20513"/>
              </a:avLst>
            </a:prstGeom>
            <a:solidFill>
              <a:srgbClr val="3992D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432531" y="1568450"/>
              <a:ext cx="56443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支付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387318" y="1905000"/>
              <a:ext cx="654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EAF6FF"/>
                  </a:solidFill>
                  <a:latin typeface="Arial"/>
                  <a:ea typeface="Arial"/>
                  <a:cs typeface="Arial"/>
                </a:rPr>
                <a:t>Payment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945130" y="256540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如何购买服务？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945892" y="305435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支付方式与激励机制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45892" y="354965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服务购买与风险分担</a:t>
              </a:r>
            </a:p>
          </p:txBody>
        </p:sp>
      </p:grpSp>
      <p:grpSp>
        <p:nvGrpSpPr>
          <p:cNvPr id="31" name="organization"/>
          <p:cNvGrpSpPr/>
          <p:nvPr/>
        </p:nvGrpSpPr>
        <p:grpSpPr>
          <a:xfrm>
            <a:off x="4857750" y="1428750"/>
            <a:ext cx="2000250" cy="3714750"/>
            <a:chOff x="4857750" y="1428750"/>
            <a:chExt cx="2000250" cy="3714750"/>
          </a:xfrm>
        </p:grpSpPr>
        <p:sp>
          <p:nvSpPr>
            <p:cNvPr id="24" name="Rectangle 24"/>
            <p:cNvSpPr/>
            <p:nvPr/>
          </p:nvSpPr>
          <p:spPr>
            <a:xfrm>
              <a:off x="4857750" y="1428750"/>
              <a:ext cx="2000250" cy="3714750"/>
            </a:xfrm>
            <a:prstGeom prst="roundRect">
              <a:avLst>
                <a:gd name="adj" fmla="val 7619"/>
              </a:avLst>
            </a:prstGeom>
            <a:solidFill>
              <a:srgbClr val="E7F1F8"/>
            </a:solidFill>
            <a:ln w="19050">
              <a:solidFill>
                <a:srgbClr val="005DA2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4857750" y="1428750"/>
              <a:ext cx="2000250" cy="742950"/>
            </a:xfrm>
            <a:prstGeom prst="roundRect">
              <a:avLst>
                <a:gd name="adj" fmla="val 20513"/>
              </a:avLst>
            </a:prstGeom>
            <a:solidFill>
              <a:srgbClr val="005DA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575656" y="1568450"/>
              <a:ext cx="56443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组织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391625" y="1905000"/>
              <a:ext cx="9324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DDEEFF"/>
                  </a:solidFill>
                  <a:latin typeface="Arial"/>
                  <a:ea typeface="Arial"/>
                  <a:cs typeface="Arial"/>
                </a:rPr>
                <a:t>Organization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088255" y="256540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谁来提供服务？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089017" y="305435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机构分工与服务配置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089017" y="354965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治理结构与协作方式</a:t>
              </a:r>
            </a:p>
          </p:txBody>
        </p:sp>
      </p:grpSp>
      <p:grpSp>
        <p:nvGrpSpPr>
          <p:cNvPr id="39" name="regulation"/>
          <p:cNvGrpSpPr/>
          <p:nvPr/>
        </p:nvGrpSpPr>
        <p:grpSpPr>
          <a:xfrm>
            <a:off x="7000875" y="1428750"/>
            <a:ext cx="2062353" cy="3714750"/>
            <a:chOff x="7000875" y="1428750"/>
            <a:chExt cx="2062353" cy="3714750"/>
          </a:xfrm>
        </p:grpSpPr>
        <p:sp>
          <p:nvSpPr>
            <p:cNvPr id="32" name="Rectangle 32"/>
            <p:cNvSpPr/>
            <p:nvPr/>
          </p:nvSpPr>
          <p:spPr>
            <a:xfrm>
              <a:off x="7000875" y="1428750"/>
              <a:ext cx="2000250" cy="3714750"/>
            </a:xfrm>
            <a:prstGeom prst="roundRect">
              <a:avLst>
                <a:gd name="adj" fmla="val 7619"/>
              </a:avLst>
            </a:prstGeom>
            <a:solidFill>
              <a:srgbClr val="F5FAFD"/>
            </a:solidFill>
            <a:ln w="19050">
              <a:solidFill>
                <a:srgbClr val="3992DB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7000875" y="1428750"/>
              <a:ext cx="2000250" cy="742950"/>
            </a:xfrm>
            <a:prstGeom prst="roundRect">
              <a:avLst>
                <a:gd name="adj" fmla="val 20513"/>
              </a:avLst>
            </a:prstGeom>
            <a:solidFill>
              <a:srgbClr val="3992D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718781" y="1568450"/>
              <a:ext cx="56443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规制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06498" y="1905000"/>
              <a:ext cx="7890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EAF6FF"/>
                  </a:solidFill>
                  <a:latin typeface="Arial"/>
                  <a:ea typeface="Arial"/>
                  <a:cs typeface="Arial"/>
                </a:rPr>
                <a:t>Regulation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31380" y="256540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如何设定规则？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32142" y="305435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准入、标准与监管机制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232142" y="354965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责任边界与问责方式</a:t>
              </a:r>
            </a:p>
          </p:txBody>
        </p:sp>
      </p:grpSp>
      <p:grpSp>
        <p:nvGrpSpPr>
          <p:cNvPr id="47" name="behavior"/>
          <p:cNvGrpSpPr/>
          <p:nvPr/>
        </p:nvGrpSpPr>
        <p:grpSpPr>
          <a:xfrm>
            <a:off x="9144000" y="1428750"/>
            <a:ext cx="2476500" cy="3714750"/>
            <a:chOff x="9144000" y="1428750"/>
            <a:chExt cx="2476500" cy="3714750"/>
          </a:xfrm>
        </p:grpSpPr>
        <p:sp>
          <p:nvSpPr>
            <p:cNvPr id="40" name="Rectangle 40"/>
            <p:cNvSpPr/>
            <p:nvPr/>
          </p:nvSpPr>
          <p:spPr>
            <a:xfrm>
              <a:off x="9144000" y="1428750"/>
              <a:ext cx="2476500" cy="3714750"/>
            </a:xfrm>
            <a:prstGeom prst="roundRect">
              <a:avLst>
                <a:gd name="adj" fmla="val 6154"/>
              </a:avLst>
            </a:prstGeom>
            <a:solidFill>
              <a:srgbClr val="FFF4DF"/>
            </a:solidFill>
            <a:ln w="19050">
              <a:solidFill>
                <a:srgbClr val="F79600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9144000" y="1428750"/>
              <a:ext cx="2476500" cy="742950"/>
            </a:xfrm>
            <a:prstGeom prst="roundRect">
              <a:avLst>
                <a:gd name="adj" fmla="val 20513"/>
              </a:avLst>
            </a:prstGeom>
            <a:solidFill>
              <a:srgbClr val="F7960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100031" y="1568450"/>
              <a:ext cx="56443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行为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055091" y="1905000"/>
              <a:ext cx="6543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FFF5DD"/>
                  </a:solidFill>
                  <a:latin typeface="Arial"/>
                  <a:ea typeface="Arial"/>
                  <a:cs typeface="Arial"/>
                </a:rPr>
                <a:t>Behavior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374505" y="256540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A5200"/>
                  </a:solidFill>
                  <a:latin typeface="Microsoft YaHei"/>
                  <a:ea typeface="Microsoft YaHei"/>
                  <a:cs typeface="Microsoft YaHei"/>
                </a:rPr>
                <a:t>谁会如何响应？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375267" y="305435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机构与专业人员行为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375267" y="354965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服务对象的选择与反应</a:t>
              </a:r>
            </a:p>
          </p:txBody>
        </p:sp>
      </p:grpSp>
      <p:sp>
        <p:nvSpPr>
          <p:cNvPr id="48" name="note19"/>
          <p:cNvSpPr/>
          <p:nvPr/>
        </p:nvSpPr>
        <p:spPr>
          <a:xfrm>
            <a:off x="571500" y="5619750"/>
            <a:ext cx="11049000" cy="533400"/>
          </a:xfrm>
          <a:prstGeom prst="roundRect">
            <a:avLst>
              <a:gd name="adj" fmla="val 17857"/>
            </a:avLst>
          </a:prstGeom>
          <a:solidFill>
            <a:srgbClr val="F3F6F8"/>
          </a:solidFill>
          <a:ln w="14288">
            <a:solidFill>
              <a:srgbClr val="808080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850011" y="5775325"/>
            <a:ext cx="670509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五个杠杆是并列的改革维度；具体研究可依据问题选择、组合或截取其中部分。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904875" y="695325"/>
            <a:ext cx="10382250" cy="9525"/>
          </a:xfrm>
          <a:custGeom>
            <a:avLst/>
            <a:gdLst/>
            <a:ahLst/>
            <a:cxnLst/>
            <a:rect l="l" t="t" r="r" b="b"/>
            <a:pathLst>
              <a:path w="10382250" h="9525">
                <a:moveTo>
                  <a:pt x="0" y="0"/>
                </a:moveTo>
                <a:lnTo>
                  <a:pt x="10382250" y="0"/>
                </a:lnTo>
              </a:path>
            </a:pathLst>
          </a:custGeom>
          <a:solidFill>
            <a:srgbClr val="000000"/>
          </a:solidFill>
          <a:ln w="9525">
            <a:solidFill>
              <a:srgbClr val="808080"/>
            </a:solidFill>
          </a:ln>
        </p:spPr>
      </p:sp>
      <p:sp>
        <p:nvSpPr>
          <p:cNvPr id="3" name="Freeform 3"/>
          <p:cNvSpPr/>
          <p:nvPr/>
        </p:nvSpPr>
        <p:spPr>
          <a:xfrm>
            <a:off x="352425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0" y="0"/>
                </a:moveTo>
                <a:lnTo>
                  <a:pt x="133350" y="76200"/>
                </a:lnTo>
                <a:lnTo>
                  <a:pt x="38100" y="171450"/>
                </a:lnTo>
                <a:lnTo>
                  <a:pt x="0" y="142875"/>
                </a:lnTo>
                <a:lnTo>
                  <a:pt x="7620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5DA2"/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476250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9525" y="0"/>
                </a:moveTo>
                <a:lnTo>
                  <a:pt x="133350" y="76200"/>
                </a:lnTo>
                <a:lnTo>
                  <a:pt x="38100" y="171450"/>
                </a:lnTo>
                <a:lnTo>
                  <a:pt x="0" y="142875"/>
                </a:lnTo>
                <a:lnTo>
                  <a:pt x="76200" y="76200"/>
                </a:lnTo>
                <a:lnTo>
                  <a:pt x="9525" y="0"/>
                </a:lnTo>
                <a:close/>
              </a:path>
            </a:pathLst>
          </a:custGeom>
          <a:solidFill>
            <a:srgbClr val="3992DB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609600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0" y="0"/>
                </a:moveTo>
                <a:lnTo>
                  <a:pt x="133350" y="76200"/>
                </a:lnTo>
                <a:lnTo>
                  <a:pt x="28575" y="171450"/>
                </a:lnTo>
                <a:lnTo>
                  <a:pt x="0" y="142875"/>
                </a:lnTo>
                <a:lnTo>
                  <a:pt x="66675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796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51941" y="120650"/>
            <a:ext cx="5139893" cy="572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920" b="1" dirty="0">
                <a:solidFill>
                  <a:srgbClr val="005DA2"/>
                </a:solidFill>
                <a:latin typeface="Microsoft YaHei"/>
                <a:ea typeface="Microsoft YaHei"/>
                <a:cs typeface="Microsoft YaHei"/>
              </a:rPr>
              <a:t>控制柄：政策工具与结果层次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59561" y="793750"/>
            <a:ext cx="517580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同一政策工具可能通过不同路径关联多个中间结果与最终结果</a:t>
            </a:r>
          </a:p>
        </p:txBody>
      </p:sp>
      <p:grpSp>
        <p:nvGrpSpPr>
          <p:cNvPr id="16" name="tools20"/>
          <p:cNvGrpSpPr/>
          <p:nvPr/>
        </p:nvGrpSpPr>
        <p:grpSpPr>
          <a:xfrm>
            <a:off x="666750" y="1381125"/>
            <a:ext cx="2857500" cy="4000500"/>
            <a:chOff x="666750" y="1381125"/>
            <a:chExt cx="2857500" cy="4000500"/>
          </a:xfrm>
        </p:grpSpPr>
        <p:sp>
          <p:nvSpPr>
            <p:cNvPr id="8" name="Rectangle 8"/>
            <p:cNvSpPr/>
            <p:nvPr/>
          </p:nvSpPr>
          <p:spPr>
            <a:xfrm>
              <a:off x="666750" y="1381125"/>
              <a:ext cx="2857500" cy="4000500"/>
            </a:xfrm>
            <a:prstGeom prst="roundRect">
              <a:avLst>
                <a:gd name="adj" fmla="val 6000"/>
              </a:avLst>
            </a:prstGeom>
            <a:solidFill>
              <a:srgbClr val="E7F1F8"/>
            </a:solidFill>
            <a:ln w="19050">
              <a:solidFill>
                <a:srgbClr val="005DA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666750" y="1381125"/>
              <a:ext cx="2857500" cy="647700"/>
            </a:xfrm>
            <a:prstGeom prst="roundRect">
              <a:avLst>
                <a:gd name="adj" fmla="val 26471"/>
              </a:avLst>
            </a:prstGeom>
            <a:solidFill>
              <a:srgbClr val="005DA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560576" y="1549400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政策工具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92124" y="2381250"/>
              <a:ext cx="44140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筹资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92124" y="2905125"/>
              <a:ext cx="44140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支付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92124" y="3429000"/>
              <a:ext cx="44140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组织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92124" y="3952875"/>
              <a:ext cx="44140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规制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92124" y="4476750"/>
              <a:ext cx="44140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行为</a:t>
              </a:r>
            </a:p>
          </p:txBody>
        </p:sp>
      </p:grpSp>
      <p:grpSp>
        <p:nvGrpSpPr>
          <p:cNvPr id="25" name="intermediate20"/>
          <p:cNvGrpSpPr/>
          <p:nvPr/>
        </p:nvGrpSpPr>
        <p:grpSpPr>
          <a:xfrm>
            <a:off x="4667250" y="1381125"/>
            <a:ext cx="2857500" cy="4000500"/>
            <a:chOff x="4667250" y="1381125"/>
            <a:chExt cx="2857500" cy="4000500"/>
          </a:xfrm>
        </p:grpSpPr>
        <p:sp>
          <p:nvSpPr>
            <p:cNvPr id="17" name="Rectangle 17"/>
            <p:cNvSpPr/>
            <p:nvPr/>
          </p:nvSpPr>
          <p:spPr>
            <a:xfrm>
              <a:off x="4667250" y="1381125"/>
              <a:ext cx="2857500" cy="4000500"/>
            </a:xfrm>
            <a:prstGeom prst="roundRect">
              <a:avLst>
                <a:gd name="adj" fmla="val 6000"/>
              </a:avLst>
            </a:prstGeom>
            <a:solidFill>
              <a:srgbClr val="F5FAFD"/>
            </a:solidFill>
            <a:ln w="19050">
              <a:solidFill>
                <a:srgbClr val="3992DB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667250" y="1381125"/>
              <a:ext cx="2857500" cy="647700"/>
            </a:xfrm>
            <a:prstGeom prst="roundRect">
              <a:avLst>
                <a:gd name="adj" fmla="val 26471"/>
              </a:avLst>
            </a:prstGeom>
            <a:solidFill>
              <a:srgbClr val="3992D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561076" y="1549400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中间结果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93005" y="25368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质量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93005" y="31083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可及性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993005" y="36798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筹资公平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993005" y="42513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效率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993005" y="48228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成本</a:t>
              </a:r>
            </a:p>
          </p:txBody>
        </p:sp>
      </p:grpSp>
      <p:grpSp>
        <p:nvGrpSpPr>
          <p:cNvPr id="32" name="final20"/>
          <p:cNvGrpSpPr/>
          <p:nvPr/>
        </p:nvGrpSpPr>
        <p:grpSpPr>
          <a:xfrm>
            <a:off x="8667750" y="1381125"/>
            <a:ext cx="2857500" cy="4000500"/>
            <a:chOff x="8667750" y="1381125"/>
            <a:chExt cx="2857500" cy="4000500"/>
          </a:xfrm>
        </p:grpSpPr>
        <p:sp>
          <p:nvSpPr>
            <p:cNvPr id="26" name="Rectangle 26"/>
            <p:cNvSpPr/>
            <p:nvPr/>
          </p:nvSpPr>
          <p:spPr>
            <a:xfrm>
              <a:off x="8667750" y="1381125"/>
              <a:ext cx="2857500" cy="4000500"/>
            </a:xfrm>
            <a:prstGeom prst="roundRect">
              <a:avLst>
                <a:gd name="adj" fmla="val 6000"/>
              </a:avLst>
            </a:prstGeom>
            <a:solidFill>
              <a:srgbClr val="FFF4DF"/>
            </a:solidFill>
            <a:ln w="19050">
              <a:solidFill>
                <a:srgbClr val="F79600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8667750" y="1381125"/>
              <a:ext cx="2857500" cy="647700"/>
            </a:xfrm>
            <a:prstGeom prst="roundRect">
              <a:avLst>
                <a:gd name="adj" fmla="val 26471"/>
              </a:avLst>
            </a:prstGeom>
            <a:solidFill>
              <a:srgbClr val="F7960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561576" y="1549400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最终结果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993505" y="26797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A5200"/>
                  </a:solidFill>
                  <a:latin typeface="Microsoft YaHei"/>
                  <a:ea typeface="Microsoft YaHei"/>
                  <a:cs typeface="Microsoft YaHei"/>
                </a:rPr>
                <a:t>健康状况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993505" y="34417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A5200"/>
                  </a:solidFill>
                  <a:latin typeface="Microsoft YaHei"/>
                  <a:ea typeface="Microsoft YaHei"/>
                  <a:cs typeface="Microsoft YaHei"/>
                </a:rPr>
                <a:t>公众满意度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93505" y="420370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A5200"/>
                  </a:solidFill>
                  <a:latin typeface="Microsoft YaHei"/>
                  <a:ea typeface="Microsoft YaHei"/>
                  <a:cs typeface="Microsoft YaHei"/>
                </a:rPr>
                <a:t>财务风险保护</a:t>
              </a:r>
            </a:p>
          </p:txBody>
        </p:sp>
      </p:grpSp>
      <p:grpSp>
        <p:nvGrpSpPr>
          <p:cNvPr id="41" name="paths20"/>
          <p:cNvGrpSpPr/>
          <p:nvPr/>
        </p:nvGrpSpPr>
        <p:grpSpPr>
          <a:xfrm>
            <a:off x="3524250" y="2381250"/>
            <a:ext cx="5143500" cy="2190750"/>
            <a:chOff x="3524250" y="2381250"/>
            <a:chExt cx="5143500" cy="2190750"/>
          </a:xfrm>
        </p:grpSpPr>
        <p:sp>
          <p:nvSpPr>
            <p:cNvPr id="33" name="Freeform 33"/>
            <p:cNvSpPr/>
            <p:nvPr/>
          </p:nvSpPr>
          <p:spPr>
            <a:xfrm>
              <a:off x="3524250" y="2381250"/>
              <a:ext cx="1143000" cy="333375"/>
            </a:xfrm>
            <a:custGeom>
              <a:avLst/>
              <a:gdLst/>
              <a:ahLst/>
              <a:cxnLst/>
              <a:rect l="l" t="t" r="r" b="b"/>
              <a:pathLst>
                <a:path w="1143000" h="333375">
                  <a:moveTo>
                    <a:pt x="0" y="0"/>
                  </a:moveTo>
                  <a:cubicBezTo>
                    <a:pt x="381000" y="0"/>
                    <a:pt x="619125" y="190500"/>
                    <a:pt x="1143000" y="333375"/>
                  </a:cubicBezTo>
                </a:path>
              </a:pathLst>
            </a:custGeom>
            <a:noFill/>
            <a:ln w="19050">
              <a:solidFill>
                <a:srgbClr val="7A8792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3524250" y="3143250"/>
              <a:ext cx="1143000" cy="142875"/>
            </a:xfrm>
            <a:custGeom>
              <a:avLst/>
              <a:gdLst/>
              <a:ahLst/>
              <a:cxnLst/>
              <a:rect l="l" t="t" r="r" b="b"/>
              <a:pathLst>
                <a:path w="1143000" h="142875">
                  <a:moveTo>
                    <a:pt x="0" y="0"/>
                  </a:moveTo>
                  <a:cubicBezTo>
                    <a:pt x="476250" y="0"/>
                    <a:pt x="714375" y="142875"/>
                    <a:pt x="1143000" y="142875"/>
                  </a:cubicBezTo>
                </a:path>
              </a:pathLst>
            </a:custGeom>
            <a:noFill/>
            <a:ln w="19050">
              <a:solidFill>
                <a:srgbClr val="7A8792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3524250" y="3857625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cubicBezTo>
                    <a:pt x="476250" y="0"/>
                    <a:pt x="714375" y="0"/>
                    <a:pt x="1143000" y="0"/>
                  </a:cubicBezTo>
                </a:path>
              </a:pathLst>
            </a:custGeom>
            <a:noFill/>
            <a:ln w="19050">
              <a:solidFill>
                <a:srgbClr val="7A8792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3524250" y="4429125"/>
              <a:ext cx="1143000" cy="142875"/>
            </a:xfrm>
            <a:custGeom>
              <a:avLst/>
              <a:gdLst/>
              <a:ahLst/>
              <a:cxnLst/>
              <a:rect l="l" t="t" r="r" b="b"/>
              <a:pathLst>
                <a:path w="1143000" h="142875">
                  <a:moveTo>
                    <a:pt x="0" y="142875"/>
                  </a:moveTo>
                  <a:cubicBezTo>
                    <a:pt x="476250" y="142875"/>
                    <a:pt x="714375" y="0"/>
                    <a:pt x="1143000" y="0"/>
                  </a:cubicBezTo>
                </a:path>
              </a:pathLst>
            </a:custGeom>
            <a:noFill/>
            <a:ln w="19050">
              <a:solidFill>
                <a:srgbClr val="7A8792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524750" y="2714625"/>
              <a:ext cx="1143000" cy="142875"/>
            </a:xfrm>
            <a:custGeom>
              <a:avLst/>
              <a:gdLst/>
              <a:ahLst/>
              <a:cxnLst/>
              <a:rect l="l" t="t" r="r" b="b"/>
              <a:pathLst>
                <a:path w="1143000" h="142875">
                  <a:moveTo>
                    <a:pt x="0" y="0"/>
                  </a:moveTo>
                  <a:cubicBezTo>
                    <a:pt x="476250" y="0"/>
                    <a:pt x="619125" y="142875"/>
                    <a:pt x="1143000" y="142875"/>
                  </a:cubicBezTo>
                </a:path>
              </a:pathLst>
            </a:custGeom>
            <a:noFill/>
            <a:ln w="19050">
              <a:solidFill>
                <a:srgbClr val="7A8792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7524750" y="3286125"/>
              <a:ext cx="1143000" cy="333375"/>
            </a:xfrm>
            <a:custGeom>
              <a:avLst/>
              <a:gdLst/>
              <a:ahLst/>
              <a:cxnLst/>
              <a:rect l="l" t="t" r="r" b="b"/>
              <a:pathLst>
                <a:path w="1143000" h="333375">
                  <a:moveTo>
                    <a:pt x="0" y="0"/>
                  </a:moveTo>
                  <a:cubicBezTo>
                    <a:pt x="476250" y="0"/>
                    <a:pt x="666750" y="333375"/>
                    <a:pt x="1143000" y="333375"/>
                  </a:cubicBezTo>
                </a:path>
              </a:pathLst>
            </a:custGeom>
            <a:noFill/>
            <a:ln w="19050">
              <a:solidFill>
                <a:srgbClr val="7A8792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7524750" y="3857625"/>
              <a:ext cx="1143000" cy="523875"/>
            </a:xfrm>
            <a:custGeom>
              <a:avLst/>
              <a:gdLst/>
              <a:ahLst/>
              <a:cxnLst/>
              <a:rect l="l" t="t" r="r" b="b"/>
              <a:pathLst>
                <a:path w="1143000" h="523875">
                  <a:moveTo>
                    <a:pt x="0" y="0"/>
                  </a:moveTo>
                  <a:cubicBezTo>
                    <a:pt x="523875" y="0"/>
                    <a:pt x="666750" y="523875"/>
                    <a:pt x="1143000" y="523875"/>
                  </a:cubicBezTo>
                </a:path>
              </a:pathLst>
            </a:custGeom>
            <a:noFill/>
            <a:ln w="19050">
              <a:solidFill>
                <a:srgbClr val="7A8792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7524750" y="4381500"/>
              <a:ext cx="1143000" cy="47625"/>
            </a:xfrm>
            <a:custGeom>
              <a:avLst/>
              <a:gdLst/>
              <a:ahLst/>
              <a:cxnLst/>
              <a:rect l="l" t="t" r="r" b="b"/>
              <a:pathLst>
                <a:path w="1143000" h="47625">
                  <a:moveTo>
                    <a:pt x="0" y="47625"/>
                  </a:moveTo>
                  <a:cubicBezTo>
                    <a:pt x="523875" y="47625"/>
                    <a:pt x="666750" y="0"/>
                    <a:pt x="1143000" y="0"/>
                  </a:cubicBezTo>
                </a:path>
              </a:pathLst>
            </a:custGeom>
            <a:noFill/>
            <a:ln w="19050">
              <a:solidFill>
                <a:srgbClr val="7A8792"/>
              </a:solidFill>
            </a:ln>
          </p:spPr>
        </p:sp>
      </p:grpSp>
      <p:sp>
        <p:nvSpPr>
          <p:cNvPr id="42" name="TextBox 42"/>
          <p:cNvSpPr txBox="1"/>
          <p:nvPr/>
        </p:nvSpPr>
        <p:spPr>
          <a:xfrm>
            <a:off x="3993642" y="5692775"/>
            <a:ext cx="401193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路径关系用于组织分析，不等同于已证实的净效应</a:t>
            </a:r>
          </a:p>
        </p:txBody>
      </p:sp>
      <p:sp>
        <p:nvSpPr>
          <p:cNvPr id="43" name="note20"/>
          <p:cNvSpPr/>
          <p:nvPr/>
        </p:nvSpPr>
        <p:spPr>
          <a:xfrm>
            <a:off x="666750" y="6191250"/>
            <a:ext cx="10858500" cy="400050"/>
          </a:xfrm>
          <a:prstGeom prst="roundRect">
            <a:avLst>
              <a:gd name="adj" fmla="val 21429"/>
            </a:avLst>
          </a:prstGeom>
          <a:solidFill>
            <a:srgbClr val="F3F6F8"/>
          </a:solidFill>
          <a:ln w="14288">
            <a:solidFill>
              <a:srgbClr val="808080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898017" y="6292850"/>
            <a:ext cx="66107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研究时应区分：政策工具 → 中间结果 → 最终结果；具体路径和效应需由证据支持。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904875" y="695325"/>
            <a:ext cx="10382250" cy="9525"/>
          </a:xfrm>
          <a:custGeom>
            <a:avLst/>
            <a:gdLst/>
            <a:ahLst/>
            <a:cxnLst/>
            <a:rect l="l" t="t" r="r" b="b"/>
            <a:pathLst>
              <a:path w="10382250" h="9525">
                <a:moveTo>
                  <a:pt x="0" y="0"/>
                </a:moveTo>
                <a:lnTo>
                  <a:pt x="10382250" y="0"/>
                </a:lnTo>
              </a:path>
            </a:pathLst>
          </a:custGeom>
          <a:solidFill>
            <a:srgbClr val="000000"/>
          </a:solidFill>
          <a:ln w="9525">
            <a:solidFill>
              <a:srgbClr val="808080"/>
            </a:solidFill>
          </a:ln>
        </p:spPr>
      </p:sp>
      <p:sp>
        <p:nvSpPr>
          <p:cNvPr id="3" name="Freeform 3"/>
          <p:cNvSpPr/>
          <p:nvPr/>
        </p:nvSpPr>
        <p:spPr>
          <a:xfrm>
            <a:off x="352425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0" y="0"/>
                </a:moveTo>
                <a:lnTo>
                  <a:pt x="133350" y="76200"/>
                </a:lnTo>
                <a:lnTo>
                  <a:pt x="38100" y="171450"/>
                </a:lnTo>
                <a:lnTo>
                  <a:pt x="0" y="142875"/>
                </a:lnTo>
                <a:lnTo>
                  <a:pt x="7620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5DA2"/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476250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9525" y="0"/>
                </a:moveTo>
                <a:lnTo>
                  <a:pt x="133350" y="76200"/>
                </a:lnTo>
                <a:lnTo>
                  <a:pt x="38100" y="171450"/>
                </a:lnTo>
                <a:lnTo>
                  <a:pt x="0" y="142875"/>
                </a:lnTo>
                <a:lnTo>
                  <a:pt x="76200" y="76200"/>
                </a:lnTo>
                <a:lnTo>
                  <a:pt x="9525" y="0"/>
                </a:lnTo>
                <a:close/>
              </a:path>
            </a:pathLst>
          </a:custGeom>
          <a:solidFill>
            <a:srgbClr val="3992DB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609600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0" y="0"/>
                </a:moveTo>
                <a:lnTo>
                  <a:pt x="133350" y="76200"/>
                </a:lnTo>
                <a:lnTo>
                  <a:pt x="28575" y="171450"/>
                </a:lnTo>
                <a:lnTo>
                  <a:pt x="0" y="142875"/>
                </a:lnTo>
                <a:lnTo>
                  <a:pt x="66675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796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51941" y="120650"/>
            <a:ext cx="5139893" cy="572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920" b="1" dirty="0">
                <a:solidFill>
                  <a:srgbClr val="005DA2"/>
                </a:solidFill>
                <a:latin typeface="Microsoft YaHei"/>
                <a:ea typeface="Microsoft YaHei"/>
                <a:cs typeface="Microsoft YaHei"/>
              </a:rPr>
              <a:t>控制柄：改革诊断与遗漏维度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59561" y="793750"/>
            <a:ext cx="517580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行动导向的政策杠杆需要与情境、利用者及协作关系结合起来</a:t>
            </a:r>
          </a:p>
        </p:txBody>
      </p:sp>
      <p:grpSp>
        <p:nvGrpSpPr>
          <p:cNvPr id="14" name="function21"/>
          <p:cNvGrpSpPr/>
          <p:nvPr/>
        </p:nvGrpSpPr>
        <p:grpSpPr>
          <a:xfrm>
            <a:off x="762000" y="1428750"/>
            <a:ext cx="4953000" cy="3905250"/>
            <a:chOff x="762000" y="1428750"/>
            <a:chExt cx="4953000" cy="3905250"/>
          </a:xfrm>
        </p:grpSpPr>
        <p:sp>
          <p:nvSpPr>
            <p:cNvPr id="8" name="Rectangle 8"/>
            <p:cNvSpPr/>
            <p:nvPr/>
          </p:nvSpPr>
          <p:spPr>
            <a:xfrm>
              <a:off x="762000" y="1428750"/>
              <a:ext cx="4953000" cy="3905250"/>
            </a:xfrm>
            <a:prstGeom prst="roundRect">
              <a:avLst>
                <a:gd name="adj" fmla="val 4390"/>
              </a:avLst>
            </a:prstGeom>
            <a:solidFill>
              <a:srgbClr val="E7F1F8"/>
            </a:solidFill>
            <a:ln w="19050">
              <a:solidFill>
                <a:srgbClr val="005DA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762000" y="1428750"/>
              <a:ext cx="4953000" cy="723900"/>
            </a:xfrm>
            <a:prstGeom prst="roundRect">
              <a:avLst>
                <a:gd name="adj" fmla="val 23684"/>
              </a:avLst>
            </a:prstGeom>
            <a:solidFill>
              <a:srgbClr val="005DA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379726" y="163195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可以支持什么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81481" y="268922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诊断绩效问题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81481" y="345122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设计改革方案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81481" y="421322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改善绩效与公平</a:t>
              </a:r>
            </a:p>
          </p:txBody>
        </p:sp>
      </p:grpSp>
      <p:grpSp>
        <p:nvGrpSpPr>
          <p:cNvPr id="22" name="limits21"/>
          <p:cNvGrpSpPr/>
          <p:nvPr/>
        </p:nvGrpSpPr>
        <p:grpSpPr>
          <a:xfrm>
            <a:off x="6477000" y="1428750"/>
            <a:ext cx="4953000" cy="3905250"/>
            <a:chOff x="6477000" y="1428750"/>
            <a:chExt cx="4953000" cy="3905250"/>
          </a:xfrm>
        </p:grpSpPr>
        <p:sp>
          <p:nvSpPr>
            <p:cNvPr id="15" name="Rectangle 15"/>
            <p:cNvSpPr/>
            <p:nvPr/>
          </p:nvSpPr>
          <p:spPr>
            <a:xfrm>
              <a:off x="6477000" y="1428750"/>
              <a:ext cx="4953000" cy="3905250"/>
            </a:xfrm>
            <a:prstGeom prst="roundRect">
              <a:avLst>
                <a:gd name="adj" fmla="val 4390"/>
              </a:avLst>
            </a:prstGeom>
            <a:solidFill>
              <a:srgbClr val="FFF4DF"/>
            </a:solidFill>
            <a:ln w="19050">
              <a:solidFill>
                <a:srgbClr val="F7960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477000" y="1428750"/>
              <a:ext cx="4953000" cy="723900"/>
            </a:xfrm>
            <a:prstGeom prst="roundRect">
              <a:avLst>
                <a:gd name="adj" fmla="val 23684"/>
              </a:avLst>
            </a:prstGeom>
            <a:solidFill>
              <a:srgbClr val="F7960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94726" y="163195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需要补充什么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97624" y="2524125"/>
              <a:ext cx="21429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8A5200"/>
                  </a:solidFill>
                  <a:latin typeface="Microsoft YaHei"/>
                  <a:ea typeface="Microsoft YaHei"/>
                  <a:cs typeface="Microsoft YaHei"/>
                </a:rPr>
                <a:t>社会经济政治文化背景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897243" y="317817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A5200"/>
                  </a:solidFill>
                  <a:latin typeface="Microsoft YaHei"/>
                  <a:ea typeface="Microsoft YaHei"/>
                  <a:cs typeface="Microsoft YaHei"/>
                </a:rPr>
                <a:t>利用者体验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897243" y="384492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A5200"/>
                  </a:solidFill>
                  <a:latin typeface="Microsoft YaHei"/>
                  <a:ea typeface="Microsoft YaHei"/>
                  <a:cs typeface="Microsoft YaHei"/>
                </a:rPr>
                <a:t>社区参与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97243" y="451167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A5200"/>
                  </a:solidFill>
                  <a:latin typeface="Microsoft YaHei"/>
                  <a:ea typeface="Microsoft YaHei"/>
                  <a:cs typeface="Microsoft YaHei"/>
                </a:rPr>
                <a:t>跨部门协作</a:t>
              </a:r>
            </a:p>
          </p:txBody>
        </p:sp>
      </p:grpSp>
      <p:sp>
        <p:nvSpPr>
          <p:cNvPr id="23" name="note21"/>
          <p:cNvSpPr/>
          <p:nvPr/>
        </p:nvSpPr>
        <p:spPr>
          <a:xfrm>
            <a:off x="762000" y="5715000"/>
            <a:ext cx="10668000" cy="533400"/>
          </a:xfrm>
          <a:prstGeom prst="roundRect">
            <a:avLst>
              <a:gd name="adj" fmla="val 17857"/>
            </a:avLst>
          </a:prstGeom>
          <a:solidFill>
            <a:srgbClr val="F3F6F8"/>
          </a:solidFill>
          <a:ln w="14288">
            <a:solidFill>
              <a:srgbClr val="808080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1040511" y="5861050"/>
            <a:ext cx="746973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政策杠杆有助于组织改革方案，但不能替代对外部环境、服务利用者和协作关系的分析。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904875" y="695325"/>
            <a:ext cx="10382250" cy="9525"/>
          </a:xfrm>
          <a:custGeom>
            <a:avLst/>
            <a:gdLst/>
            <a:ahLst/>
            <a:cxnLst/>
            <a:rect l="l" t="t" r="r" b="b"/>
            <a:pathLst>
              <a:path w="10382250" h="9525">
                <a:moveTo>
                  <a:pt x="0" y="0"/>
                </a:moveTo>
                <a:lnTo>
                  <a:pt x="10382250" y="0"/>
                </a:lnTo>
              </a:path>
            </a:pathLst>
          </a:custGeom>
          <a:solidFill>
            <a:srgbClr val="000000"/>
          </a:solidFill>
          <a:ln w="9525">
            <a:solidFill>
              <a:srgbClr val="808080"/>
            </a:solidFill>
          </a:ln>
        </p:spPr>
      </p:sp>
      <p:sp>
        <p:nvSpPr>
          <p:cNvPr id="3" name="Freeform 3"/>
          <p:cNvSpPr/>
          <p:nvPr/>
        </p:nvSpPr>
        <p:spPr>
          <a:xfrm>
            <a:off x="352425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0" y="0"/>
                </a:moveTo>
                <a:lnTo>
                  <a:pt x="133350" y="76200"/>
                </a:lnTo>
                <a:lnTo>
                  <a:pt x="38100" y="171450"/>
                </a:lnTo>
                <a:lnTo>
                  <a:pt x="0" y="142875"/>
                </a:lnTo>
                <a:lnTo>
                  <a:pt x="7620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5DA2"/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476250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9525" y="0"/>
                </a:moveTo>
                <a:lnTo>
                  <a:pt x="133350" y="76200"/>
                </a:lnTo>
                <a:lnTo>
                  <a:pt x="38100" y="171450"/>
                </a:lnTo>
                <a:lnTo>
                  <a:pt x="0" y="142875"/>
                </a:lnTo>
                <a:lnTo>
                  <a:pt x="76200" y="76200"/>
                </a:lnTo>
                <a:lnTo>
                  <a:pt x="9525" y="0"/>
                </a:lnTo>
                <a:close/>
              </a:path>
            </a:pathLst>
          </a:custGeom>
          <a:solidFill>
            <a:srgbClr val="3992DB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609600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0" y="0"/>
                </a:moveTo>
                <a:lnTo>
                  <a:pt x="133350" y="76200"/>
                </a:lnTo>
                <a:lnTo>
                  <a:pt x="28575" y="171450"/>
                </a:lnTo>
                <a:lnTo>
                  <a:pt x="0" y="142875"/>
                </a:lnTo>
                <a:lnTo>
                  <a:pt x="66675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796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51941" y="120650"/>
            <a:ext cx="3631761" cy="572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920" b="1" dirty="0">
                <a:solidFill>
                  <a:srgbClr val="005DA2"/>
                </a:solidFill>
                <a:latin typeface="Microsoft YaHei"/>
                <a:ea typeface="Microsoft YaHei"/>
                <a:cs typeface="Microsoft YaHei"/>
              </a:rPr>
              <a:t>CFIR：原版与更新版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59561" y="793750"/>
            <a:ext cx="42200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同名框架的版本更新可能改变领域表述与构念口径</a:t>
            </a:r>
          </a:p>
        </p:txBody>
      </p:sp>
      <p:grpSp>
        <p:nvGrpSpPr>
          <p:cNvPr id="16" name="header22"/>
          <p:cNvGrpSpPr/>
          <p:nvPr/>
        </p:nvGrpSpPr>
        <p:grpSpPr>
          <a:xfrm>
            <a:off x="666750" y="1381125"/>
            <a:ext cx="10858500" cy="857250"/>
            <a:chOff x="666750" y="1381125"/>
            <a:chExt cx="10858500" cy="857250"/>
          </a:xfrm>
        </p:grpSpPr>
        <p:sp>
          <p:nvSpPr>
            <p:cNvPr id="8" name="Rectangle 8"/>
            <p:cNvSpPr/>
            <p:nvPr/>
          </p:nvSpPr>
          <p:spPr>
            <a:xfrm>
              <a:off x="666750" y="1381125"/>
              <a:ext cx="2476500" cy="857250"/>
            </a:xfrm>
            <a:prstGeom prst="rect">
              <a:avLst/>
            </a:prstGeom>
            <a:solidFill>
              <a:srgbClr val="005DA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3143250" y="1381125"/>
              <a:ext cx="4048125" cy="857250"/>
            </a:xfrm>
            <a:prstGeom prst="rect">
              <a:avLst/>
            </a:prstGeom>
            <a:solidFill>
              <a:srgbClr val="005DA2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91375" y="1381125"/>
              <a:ext cx="4333875" cy="857250"/>
            </a:xfrm>
            <a:prstGeom prst="rect">
              <a:avLst/>
            </a:prstGeom>
            <a:solidFill>
              <a:srgbClr val="3992DB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11224" y="168910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比较维度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593050" y="1527175"/>
              <a:ext cx="11390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2009 原版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811446" y="1895475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EAF6FF"/>
                  </a:solidFill>
                  <a:latin typeface="Arial"/>
                  <a:ea typeface="Microsoft YaHei"/>
                  <a:cs typeface="Arial"/>
                </a:rPr>
                <a:t>教材记载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662892" y="1527175"/>
              <a:ext cx="13813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2022 更新版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02446" y="1895475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EAF6FF"/>
                  </a:solidFill>
                  <a:latin typeface="Microsoft YaHei"/>
                  <a:ea typeface="Microsoft YaHei"/>
                  <a:cs typeface="Microsoft YaHei"/>
                </a:rPr>
                <a:t>教材口径</a:t>
              </a:r>
            </a:p>
          </p:txBody>
        </p:sp>
      </p:grpSp>
      <p:grpSp>
        <p:nvGrpSpPr>
          <p:cNvPr id="29" name="rowdomains22"/>
          <p:cNvGrpSpPr/>
          <p:nvPr/>
        </p:nvGrpSpPr>
        <p:grpSpPr>
          <a:xfrm>
            <a:off x="666750" y="2238375"/>
            <a:ext cx="10858500" cy="2047875"/>
            <a:chOff x="666750" y="2238375"/>
            <a:chExt cx="10858500" cy="2047875"/>
          </a:xfrm>
        </p:grpSpPr>
        <p:sp>
          <p:nvSpPr>
            <p:cNvPr id="17" name="Rectangle 17"/>
            <p:cNvSpPr/>
            <p:nvPr/>
          </p:nvSpPr>
          <p:spPr>
            <a:xfrm>
              <a:off x="666750" y="2238375"/>
              <a:ext cx="2476500" cy="2047875"/>
            </a:xfrm>
            <a:prstGeom prst="rect">
              <a:avLst/>
            </a:prstGeom>
            <a:solidFill>
              <a:srgbClr val="E7F1F8"/>
            </a:solidFill>
            <a:ln w="19050">
              <a:solidFill>
                <a:srgbClr val="FFFFFF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143250" y="2238375"/>
              <a:ext cx="4048125" cy="2047875"/>
            </a:xfrm>
            <a:prstGeom prst="rect">
              <a:avLst/>
            </a:prstGeom>
            <a:solidFill>
              <a:srgbClr val="F5FAFD"/>
            </a:solidFill>
            <a:ln w="19050">
              <a:solidFill>
                <a:srgbClr val="FFFFFF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7191375" y="2238375"/>
              <a:ext cx="4333875" cy="2047875"/>
            </a:xfrm>
            <a:prstGeom prst="rect">
              <a:avLst/>
            </a:prstGeom>
            <a:solidFill>
              <a:srgbClr val="F5FAFD"/>
            </a:solidFill>
            <a:ln w="19050">
              <a:solidFill>
                <a:srgbClr val="FFFFFF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433144" y="3117850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五个领域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21380" y="25368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干预特征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21380" y="2898775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外部因素 · 内部因素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21380" y="3260725"/>
              <a:ext cx="1459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个体特征 · 过程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17130" y="25368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创新特征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17130" y="2898775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外部环境 · 内部环境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17130" y="3260725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参与个体 · 实施过程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422904" y="382905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Microsoft YaHei"/>
                  <a:ea typeface="Microsoft YaHei"/>
                  <a:cs typeface="Microsoft YaHei"/>
                </a:rPr>
                <a:t>中文名称按教材表述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18654" y="382905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Microsoft YaHei"/>
                  <a:ea typeface="Microsoft YaHei"/>
                  <a:cs typeface="Microsoft YaHei"/>
                </a:rPr>
                <a:t>教材口径；术语及英文对应待核</a:t>
              </a:r>
            </a:p>
          </p:txBody>
        </p:sp>
      </p:grpSp>
      <p:grpSp>
        <p:nvGrpSpPr>
          <p:cNvPr id="36" name="rowcount22"/>
          <p:cNvGrpSpPr/>
          <p:nvPr/>
        </p:nvGrpSpPr>
        <p:grpSpPr>
          <a:xfrm>
            <a:off x="666750" y="4286250"/>
            <a:ext cx="10858500" cy="819150"/>
            <a:chOff x="666750" y="4286250"/>
            <a:chExt cx="10858500" cy="819150"/>
          </a:xfrm>
        </p:grpSpPr>
        <p:sp>
          <p:nvSpPr>
            <p:cNvPr id="30" name="Rectangle 30"/>
            <p:cNvSpPr/>
            <p:nvPr/>
          </p:nvSpPr>
          <p:spPr>
            <a:xfrm>
              <a:off x="666750" y="4286250"/>
              <a:ext cx="2476500" cy="819150"/>
            </a:xfrm>
            <a:prstGeom prst="rect">
              <a:avLst/>
            </a:prstGeom>
            <a:solidFill>
              <a:srgbClr val="E7F1F8"/>
            </a:solidFill>
            <a:ln w="19050">
              <a:solidFill>
                <a:srgbClr val="FFFFFF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3143250" y="4286250"/>
              <a:ext cx="4048125" cy="8191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E7F1F8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91375" y="4286250"/>
              <a:ext cx="4333875" cy="8191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E7F1F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452372" y="460692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构念数量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297065" y="4594225"/>
              <a:ext cx="173096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教材记载：39 个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88065" y="4594225"/>
              <a:ext cx="173096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教材记载：48 个</a:t>
              </a:r>
            </a:p>
          </p:txBody>
        </p:sp>
      </p:grpSp>
      <p:sp>
        <p:nvSpPr>
          <p:cNvPr id="37" name="note22"/>
          <p:cNvSpPr/>
          <p:nvPr/>
        </p:nvSpPr>
        <p:spPr>
          <a:xfrm>
            <a:off x="666750" y="5476875"/>
            <a:ext cx="10858500" cy="685800"/>
          </a:xfrm>
          <a:prstGeom prst="roundRect">
            <a:avLst>
              <a:gd name="adj" fmla="val 16667"/>
            </a:avLst>
          </a:prstGeom>
          <a:solidFill>
            <a:srgbClr val="FFF4DF"/>
          </a:solidFill>
          <a:ln w="14288">
            <a:solidFill>
              <a:srgbClr val="F79600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945261" y="5613400"/>
            <a:ext cx="77912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8A5200"/>
                </a:solidFill>
                <a:latin typeface="Microsoft YaHei"/>
                <a:ea typeface="Microsoft YaHei"/>
                <a:cs typeface="Microsoft YaHei"/>
              </a:rPr>
              <a:t>核对提示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136267" y="5626100"/>
            <a:ext cx="69197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原稿更新版的中英文术语对应及构念数量口径待核；本页保留教材记载，未自行修订。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137029" y="5895975"/>
            <a:ext cx="340461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不据此补列未核实的英文名称或完整构念清单。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904875" y="695325"/>
            <a:ext cx="10382250" cy="9525"/>
          </a:xfrm>
          <a:custGeom>
            <a:avLst/>
            <a:gdLst/>
            <a:ahLst/>
            <a:cxnLst/>
            <a:rect l="l" t="t" r="r" b="b"/>
            <a:pathLst>
              <a:path w="10382250" h="9525">
                <a:moveTo>
                  <a:pt x="0" y="0"/>
                </a:moveTo>
                <a:lnTo>
                  <a:pt x="10382250" y="0"/>
                </a:lnTo>
              </a:path>
            </a:pathLst>
          </a:custGeom>
          <a:solidFill>
            <a:srgbClr val="000000"/>
          </a:solidFill>
          <a:ln w="9525">
            <a:solidFill>
              <a:srgbClr val="808080"/>
            </a:solidFill>
          </a:ln>
        </p:spPr>
      </p:sp>
      <p:sp>
        <p:nvSpPr>
          <p:cNvPr id="3" name="Freeform 3"/>
          <p:cNvSpPr/>
          <p:nvPr/>
        </p:nvSpPr>
        <p:spPr>
          <a:xfrm>
            <a:off x="352425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0" y="0"/>
                </a:moveTo>
                <a:lnTo>
                  <a:pt x="133350" y="76200"/>
                </a:lnTo>
                <a:lnTo>
                  <a:pt x="38100" y="171450"/>
                </a:lnTo>
                <a:lnTo>
                  <a:pt x="0" y="142875"/>
                </a:lnTo>
                <a:lnTo>
                  <a:pt x="7620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5DA2"/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476250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9525" y="0"/>
                </a:moveTo>
                <a:lnTo>
                  <a:pt x="133350" y="76200"/>
                </a:lnTo>
                <a:lnTo>
                  <a:pt x="38100" y="171450"/>
                </a:lnTo>
                <a:lnTo>
                  <a:pt x="0" y="142875"/>
                </a:lnTo>
                <a:lnTo>
                  <a:pt x="76200" y="76200"/>
                </a:lnTo>
                <a:lnTo>
                  <a:pt x="9525" y="0"/>
                </a:lnTo>
                <a:close/>
              </a:path>
            </a:pathLst>
          </a:custGeom>
          <a:solidFill>
            <a:srgbClr val="3992DB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609600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0" y="0"/>
                </a:moveTo>
                <a:lnTo>
                  <a:pt x="133350" y="76200"/>
                </a:lnTo>
                <a:lnTo>
                  <a:pt x="28575" y="171450"/>
                </a:lnTo>
                <a:lnTo>
                  <a:pt x="0" y="142875"/>
                </a:lnTo>
                <a:lnTo>
                  <a:pt x="66675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796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51941" y="120650"/>
            <a:ext cx="4417942" cy="572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920" b="1" dirty="0">
                <a:solidFill>
                  <a:srgbClr val="005DA2"/>
                </a:solidFill>
                <a:latin typeface="Microsoft YaHei"/>
                <a:ea typeface="Microsoft YaHei"/>
                <a:cs typeface="Microsoft YaHei"/>
              </a:rPr>
              <a:t>CFIR：五领域与构念示例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59561" y="793750"/>
            <a:ext cx="42200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多层实施决定因素的观察维度；五个领域保持并列</a:t>
            </a:r>
          </a:p>
        </p:txBody>
      </p:sp>
      <p:grpSp>
        <p:nvGrpSpPr>
          <p:cNvPr id="13" name="innovation23"/>
          <p:cNvGrpSpPr/>
          <p:nvPr/>
        </p:nvGrpSpPr>
        <p:grpSpPr>
          <a:xfrm>
            <a:off x="571500" y="1428750"/>
            <a:ext cx="3429000" cy="1809750"/>
            <a:chOff x="571500" y="1428750"/>
            <a:chExt cx="3429000" cy="1809750"/>
          </a:xfrm>
        </p:grpSpPr>
        <p:sp>
          <p:nvSpPr>
            <p:cNvPr id="8" name="Rectangle 8"/>
            <p:cNvSpPr/>
            <p:nvPr/>
          </p:nvSpPr>
          <p:spPr>
            <a:xfrm>
              <a:off x="571500" y="1428750"/>
              <a:ext cx="3429000" cy="1809750"/>
            </a:xfrm>
            <a:prstGeom prst="roundRect">
              <a:avLst>
                <a:gd name="adj" fmla="val 8421"/>
              </a:avLst>
            </a:prstGeom>
            <a:solidFill>
              <a:srgbClr val="E7F1F8"/>
            </a:solidFill>
            <a:ln w="19050">
              <a:solidFill>
                <a:srgbClr val="005DA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428750"/>
              <a:ext cx="3429000" cy="590550"/>
            </a:xfrm>
            <a:prstGeom prst="roundRect">
              <a:avLst>
                <a:gd name="adj" fmla="val 25806"/>
              </a:avLst>
            </a:prstGeom>
            <a:solidFill>
              <a:srgbClr val="005DA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770304" y="1581150"/>
              <a:ext cx="103139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创新特征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50011" y="2279650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新想法与新实践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51154" y="270510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Microsoft YaHei"/>
                  <a:ea typeface="Microsoft YaHei"/>
                  <a:cs typeface="Microsoft YaHei"/>
                </a:rPr>
                <a:t>关注创新本身及其相对优势</a:t>
              </a:r>
            </a:p>
          </p:txBody>
        </p:sp>
      </p:grpSp>
      <p:grpSp>
        <p:nvGrpSpPr>
          <p:cNvPr id="19" name="outer23"/>
          <p:cNvGrpSpPr/>
          <p:nvPr/>
        </p:nvGrpSpPr>
        <p:grpSpPr>
          <a:xfrm>
            <a:off x="4381500" y="1428750"/>
            <a:ext cx="3429000" cy="1809750"/>
            <a:chOff x="4381500" y="1428750"/>
            <a:chExt cx="3429000" cy="1809750"/>
          </a:xfrm>
        </p:grpSpPr>
        <p:sp>
          <p:nvSpPr>
            <p:cNvPr id="14" name="Rectangle 14"/>
            <p:cNvSpPr/>
            <p:nvPr/>
          </p:nvSpPr>
          <p:spPr>
            <a:xfrm>
              <a:off x="4381500" y="1428750"/>
              <a:ext cx="3429000" cy="1809750"/>
            </a:xfrm>
            <a:prstGeom prst="roundRect">
              <a:avLst>
                <a:gd name="adj" fmla="val 8421"/>
              </a:avLst>
            </a:prstGeom>
            <a:solidFill>
              <a:srgbClr val="F5FAFD"/>
            </a:solidFill>
            <a:ln w="19050">
              <a:solidFill>
                <a:srgbClr val="3992DB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381500" y="1428750"/>
              <a:ext cx="3429000" cy="590550"/>
            </a:xfrm>
            <a:prstGeom prst="roundRect">
              <a:avLst>
                <a:gd name="adj" fmla="val 25806"/>
              </a:avLst>
            </a:prstGeom>
            <a:solidFill>
              <a:srgbClr val="3992D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580304" y="1581150"/>
              <a:ext cx="103139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外部环境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60011" y="2279650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事件与政策法规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60773" y="2705100"/>
              <a:ext cx="121914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66666"/>
                  </a:solidFill>
                  <a:latin typeface="Microsoft YaHei"/>
                  <a:ea typeface="Microsoft YaHei"/>
                  <a:cs typeface="Microsoft YaHei"/>
                </a:rPr>
                <a:t>资金及外部压力</a:t>
              </a:r>
            </a:p>
          </p:txBody>
        </p:sp>
      </p:grpSp>
      <p:grpSp>
        <p:nvGrpSpPr>
          <p:cNvPr id="25" name="inner23"/>
          <p:cNvGrpSpPr/>
          <p:nvPr/>
        </p:nvGrpSpPr>
        <p:grpSpPr>
          <a:xfrm>
            <a:off x="8191500" y="1428750"/>
            <a:ext cx="3429000" cy="1809750"/>
            <a:chOff x="8191500" y="1428750"/>
            <a:chExt cx="3429000" cy="1809750"/>
          </a:xfrm>
        </p:grpSpPr>
        <p:sp>
          <p:nvSpPr>
            <p:cNvPr id="20" name="Rectangle 20"/>
            <p:cNvSpPr/>
            <p:nvPr/>
          </p:nvSpPr>
          <p:spPr>
            <a:xfrm>
              <a:off x="8191500" y="1428750"/>
              <a:ext cx="3429000" cy="1809750"/>
            </a:xfrm>
            <a:prstGeom prst="roundRect">
              <a:avLst>
                <a:gd name="adj" fmla="val 8421"/>
              </a:avLst>
            </a:prstGeom>
            <a:solidFill>
              <a:srgbClr val="E7F1F8"/>
            </a:solidFill>
            <a:ln w="19050">
              <a:solidFill>
                <a:srgbClr val="005DA2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191500" y="1428750"/>
              <a:ext cx="3429000" cy="590550"/>
            </a:xfrm>
            <a:prstGeom prst="roundRect">
              <a:avLst>
                <a:gd name="adj" fmla="val 25806"/>
              </a:avLst>
            </a:prstGeom>
            <a:solidFill>
              <a:srgbClr val="005DA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390304" y="1581150"/>
              <a:ext cx="103139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内部环境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70011" y="2279650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组织结构与文化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70773" y="2705100"/>
              <a:ext cx="121914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66666"/>
                  </a:solidFill>
                  <a:latin typeface="Microsoft YaHei"/>
                  <a:ea typeface="Microsoft YaHei"/>
                  <a:cs typeface="Microsoft YaHei"/>
                </a:rPr>
                <a:t>资源及知识获取</a:t>
              </a:r>
            </a:p>
          </p:txBody>
        </p:sp>
      </p:grpSp>
      <p:grpSp>
        <p:nvGrpSpPr>
          <p:cNvPr id="31" name="individual23"/>
          <p:cNvGrpSpPr/>
          <p:nvPr/>
        </p:nvGrpSpPr>
        <p:grpSpPr>
          <a:xfrm>
            <a:off x="1809750" y="3667125"/>
            <a:ext cx="4000500" cy="1809750"/>
            <a:chOff x="1809750" y="3667125"/>
            <a:chExt cx="4000500" cy="1809750"/>
          </a:xfrm>
        </p:grpSpPr>
        <p:sp>
          <p:nvSpPr>
            <p:cNvPr id="26" name="Rectangle 26"/>
            <p:cNvSpPr/>
            <p:nvPr/>
          </p:nvSpPr>
          <p:spPr>
            <a:xfrm>
              <a:off x="1809750" y="3667125"/>
              <a:ext cx="4000500" cy="1809750"/>
            </a:xfrm>
            <a:prstGeom prst="roundRect">
              <a:avLst>
                <a:gd name="adj" fmla="val 8421"/>
              </a:avLst>
            </a:prstGeom>
            <a:solidFill>
              <a:srgbClr val="F5FAFD"/>
            </a:solidFill>
            <a:ln w="19050">
              <a:solidFill>
                <a:srgbClr val="3992DB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809750" y="3667125"/>
              <a:ext cx="4000500" cy="590550"/>
            </a:xfrm>
            <a:prstGeom prst="roundRect">
              <a:avLst>
                <a:gd name="adj" fmla="val 25806"/>
              </a:avLst>
            </a:prstGeom>
            <a:solidFill>
              <a:srgbClr val="3992D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294304" y="3819525"/>
              <a:ext cx="103139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参与个体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088261" y="4518025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角色与影响力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089023" y="4943475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66666"/>
                  </a:solidFill>
                  <a:latin typeface="Microsoft YaHei"/>
                  <a:ea typeface="Microsoft YaHei"/>
                  <a:cs typeface="Microsoft YaHei"/>
                </a:rPr>
                <a:t>参与特征</a:t>
              </a:r>
            </a:p>
          </p:txBody>
        </p:sp>
      </p:grpSp>
      <p:grpSp>
        <p:nvGrpSpPr>
          <p:cNvPr id="37" name="process23"/>
          <p:cNvGrpSpPr/>
          <p:nvPr/>
        </p:nvGrpSpPr>
        <p:grpSpPr>
          <a:xfrm>
            <a:off x="6381750" y="3667125"/>
            <a:ext cx="4000500" cy="1809750"/>
            <a:chOff x="6381750" y="3667125"/>
            <a:chExt cx="4000500" cy="1809750"/>
          </a:xfrm>
        </p:grpSpPr>
        <p:sp>
          <p:nvSpPr>
            <p:cNvPr id="32" name="Rectangle 32"/>
            <p:cNvSpPr/>
            <p:nvPr/>
          </p:nvSpPr>
          <p:spPr>
            <a:xfrm>
              <a:off x="6381750" y="3667125"/>
              <a:ext cx="4000500" cy="1809750"/>
            </a:xfrm>
            <a:prstGeom prst="roundRect">
              <a:avLst>
                <a:gd name="adj" fmla="val 8421"/>
              </a:avLst>
            </a:prstGeom>
            <a:solidFill>
              <a:srgbClr val="FFF4DF"/>
            </a:solidFill>
            <a:ln w="19050">
              <a:solidFill>
                <a:srgbClr val="F79600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381750" y="3667125"/>
              <a:ext cx="4000500" cy="590550"/>
            </a:xfrm>
            <a:prstGeom prst="roundRect">
              <a:avLst>
                <a:gd name="adj" fmla="val 25806"/>
              </a:avLst>
            </a:prstGeom>
            <a:solidFill>
              <a:srgbClr val="F7960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866304" y="3819525"/>
              <a:ext cx="103139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实施过程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60642" y="453072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A5200"/>
                  </a:solidFill>
                  <a:latin typeface="Microsoft YaHei"/>
                  <a:ea typeface="Microsoft YaHei"/>
                  <a:cs typeface="Microsoft YaHei"/>
                </a:rPr>
                <a:t>规划与参与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60642" y="493077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A5200"/>
                  </a:solidFill>
                  <a:latin typeface="Microsoft YaHei"/>
                  <a:ea typeface="Microsoft YaHei"/>
                  <a:cs typeface="Microsoft YaHei"/>
                </a:rPr>
                <a:t>执行与适应</a:t>
              </a:r>
            </a:p>
          </p:txBody>
        </p:sp>
      </p:grpSp>
      <p:sp>
        <p:nvSpPr>
          <p:cNvPr id="38" name="note23"/>
          <p:cNvSpPr/>
          <p:nvPr/>
        </p:nvSpPr>
        <p:spPr>
          <a:xfrm>
            <a:off x="571500" y="5905500"/>
            <a:ext cx="11049000" cy="400050"/>
          </a:xfrm>
          <a:prstGeom prst="roundRect">
            <a:avLst>
              <a:gd name="adj" fmla="val 21429"/>
            </a:avLst>
          </a:prstGeom>
          <a:solidFill>
            <a:srgbClr val="F3F6F8"/>
          </a:solidFill>
          <a:ln w="14288">
            <a:solidFill>
              <a:srgbClr val="808080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850773" y="6019800"/>
            <a:ext cx="5699303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五个领域用于组织观察维度；具体内外部边界取决于实施研究的分析单位。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904875" y="695325"/>
            <a:ext cx="10382250" cy="9525"/>
          </a:xfrm>
          <a:custGeom>
            <a:avLst/>
            <a:gdLst/>
            <a:ahLst/>
            <a:cxnLst/>
            <a:rect l="l" t="t" r="r" b="b"/>
            <a:pathLst>
              <a:path w="10382250" h="9525">
                <a:moveTo>
                  <a:pt x="0" y="0"/>
                </a:moveTo>
                <a:lnTo>
                  <a:pt x="10382250" y="0"/>
                </a:lnTo>
              </a:path>
            </a:pathLst>
          </a:custGeom>
          <a:solidFill>
            <a:srgbClr val="000000"/>
          </a:solidFill>
          <a:ln w="9525">
            <a:solidFill>
              <a:srgbClr val="808080"/>
            </a:solidFill>
          </a:ln>
        </p:spPr>
      </p:sp>
      <p:sp>
        <p:nvSpPr>
          <p:cNvPr id="3" name="Freeform 3"/>
          <p:cNvSpPr/>
          <p:nvPr/>
        </p:nvSpPr>
        <p:spPr>
          <a:xfrm>
            <a:off x="352425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0" y="0"/>
                </a:moveTo>
                <a:lnTo>
                  <a:pt x="133350" y="76200"/>
                </a:lnTo>
                <a:lnTo>
                  <a:pt x="38100" y="171450"/>
                </a:lnTo>
                <a:lnTo>
                  <a:pt x="0" y="142875"/>
                </a:lnTo>
                <a:lnTo>
                  <a:pt x="7620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5DA2"/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476250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9525" y="0"/>
                </a:moveTo>
                <a:lnTo>
                  <a:pt x="133350" y="76200"/>
                </a:lnTo>
                <a:lnTo>
                  <a:pt x="38100" y="171450"/>
                </a:lnTo>
                <a:lnTo>
                  <a:pt x="0" y="142875"/>
                </a:lnTo>
                <a:lnTo>
                  <a:pt x="76200" y="76200"/>
                </a:lnTo>
                <a:lnTo>
                  <a:pt x="9525" y="0"/>
                </a:lnTo>
                <a:close/>
              </a:path>
            </a:pathLst>
          </a:custGeom>
          <a:solidFill>
            <a:srgbClr val="3992DB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609600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0" y="0"/>
                </a:moveTo>
                <a:lnTo>
                  <a:pt x="133350" y="76200"/>
                </a:lnTo>
                <a:lnTo>
                  <a:pt x="28575" y="171450"/>
                </a:lnTo>
                <a:lnTo>
                  <a:pt x="0" y="142875"/>
                </a:lnTo>
                <a:lnTo>
                  <a:pt x="66675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796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51941" y="120650"/>
            <a:ext cx="4746803" cy="572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920" b="1" dirty="0">
                <a:solidFill>
                  <a:srgbClr val="005DA2"/>
                </a:solidFill>
                <a:latin typeface="Microsoft YaHei"/>
                <a:ea typeface="Microsoft YaHei"/>
                <a:cs typeface="Microsoft YaHei"/>
              </a:rPr>
              <a:t>安德森：倾向、使能与需要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59561" y="793750"/>
            <a:ext cx="479348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理解卫生服务利用：区分个体倾向、资源能力与健康需要</a:t>
            </a:r>
          </a:p>
        </p:txBody>
      </p:sp>
      <p:grpSp>
        <p:nvGrpSpPr>
          <p:cNvPr id="14" name="predisposing24"/>
          <p:cNvGrpSpPr/>
          <p:nvPr/>
        </p:nvGrpSpPr>
        <p:grpSpPr>
          <a:xfrm>
            <a:off x="714375" y="1476375"/>
            <a:ext cx="3333750" cy="3714750"/>
            <a:chOff x="714375" y="1476375"/>
            <a:chExt cx="3333750" cy="3714750"/>
          </a:xfrm>
        </p:grpSpPr>
        <p:sp>
          <p:nvSpPr>
            <p:cNvPr id="8" name="Rectangle 8"/>
            <p:cNvSpPr/>
            <p:nvPr/>
          </p:nvSpPr>
          <p:spPr>
            <a:xfrm>
              <a:off x="714375" y="1476375"/>
              <a:ext cx="3333750" cy="3714750"/>
            </a:xfrm>
            <a:prstGeom prst="roundRect">
              <a:avLst>
                <a:gd name="adj" fmla="val 5143"/>
              </a:avLst>
            </a:prstGeom>
            <a:solidFill>
              <a:srgbClr val="E7F1F8"/>
            </a:solidFill>
            <a:ln w="19050">
              <a:solidFill>
                <a:srgbClr val="005DA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714375" y="1476375"/>
              <a:ext cx="3333750" cy="742950"/>
            </a:xfrm>
            <a:prstGeom prst="roundRect">
              <a:avLst>
                <a:gd name="adj" fmla="val 23077"/>
              </a:avLst>
            </a:prstGeom>
            <a:solidFill>
              <a:srgbClr val="005DA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827098" y="1711325"/>
              <a:ext cx="11083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倾向因素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86993" y="270192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人口学特征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86993" y="33686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社会结构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86993" y="403542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健康观念</a:t>
              </a:r>
            </a:p>
          </p:txBody>
        </p:sp>
      </p:grpSp>
      <p:grpSp>
        <p:nvGrpSpPr>
          <p:cNvPr id="21" name="enabling24"/>
          <p:cNvGrpSpPr/>
          <p:nvPr/>
        </p:nvGrpSpPr>
        <p:grpSpPr>
          <a:xfrm>
            <a:off x="4429125" y="1476375"/>
            <a:ext cx="3333750" cy="3714750"/>
            <a:chOff x="4429125" y="1476375"/>
            <a:chExt cx="3333750" cy="3714750"/>
          </a:xfrm>
        </p:grpSpPr>
        <p:sp>
          <p:nvSpPr>
            <p:cNvPr id="15" name="Rectangle 15"/>
            <p:cNvSpPr/>
            <p:nvPr/>
          </p:nvSpPr>
          <p:spPr>
            <a:xfrm>
              <a:off x="4429125" y="1476375"/>
              <a:ext cx="3333750" cy="3714750"/>
            </a:xfrm>
            <a:prstGeom prst="roundRect">
              <a:avLst>
                <a:gd name="adj" fmla="val 5143"/>
              </a:avLst>
            </a:prstGeom>
            <a:solidFill>
              <a:srgbClr val="F5FAFD"/>
            </a:solidFill>
            <a:ln w="19050">
              <a:solidFill>
                <a:srgbClr val="3992DB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429125" y="1476375"/>
              <a:ext cx="3333750" cy="742950"/>
            </a:xfrm>
            <a:prstGeom prst="roundRect">
              <a:avLst>
                <a:gd name="adj" fmla="val 23077"/>
              </a:avLst>
            </a:prstGeom>
            <a:solidFill>
              <a:srgbClr val="3992D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541848" y="1711325"/>
              <a:ext cx="11083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使能因素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01743" y="270192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家庭资源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801743" y="33686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社区资源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803648" y="4086225"/>
              <a:ext cx="225303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66666"/>
                  </a:solidFill>
                  <a:latin typeface="Microsoft YaHei"/>
                  <a:ea typeface="Microsoft YaHei"/>
                  <a:cs typeface="Microsoft YaHei"/>
                </a:rPr>
                <a:t>提供服务利用所需的资源条件</a:t>
              </a:r>
            </a:p>
          </p:txBody>
        </p:sp>
      </p:grpSp>
      <p:grpSp>
        <p:nvGrpSpPr>
          <p:cNvPr id="28" name="need24"/>
          <p:cNvGrpSpPr/>
          <p:nvPr/>
        </p:nvGrpSpPr>
        <p:grpSpPr>
          <a:xfrm>
            <a:off x="8143875" y="1476375"/>
            <a:ext cx="3333750" cy="3714750"/>
            <a:chOff x="8143875" y="1476375"/>
            <a:chExt cx="3333750" cy="3714750"/>
          </a:xfrm>
        </p:grpSpPr>
        <p:sp>
          <p:nvSpPr>
            <p:cNvPr id="22" name="Rectangle 22"/>
            <p:cNvSpPr/>
            <p:nvPr/>
          </p:nvSpPr>
          <p:spPr>
            <a:xfrm>
              <a:off x="8143875" y="1476375"/>
              <a:ext cx="3333750" cy="3714750"/>
            </a:xfrm>
            <a:prstGeom prst="roundRect">
              <a:avLst>
                <a:gd name="adj" fmla="val 5143"/>
              </a:avLst>
            </a:prstGeom>
            <a:solidFill>
              <a:srgbClr val="FFF4DF"/>
            </a:solidFill>
            <a:ln w="19050">
              <a:solidFill>
                <a:srgbClr val="F79600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8143875" y="1476375"/>
              <a:ext cx="3333750" cy="742950"/>
            </a:xfrm>
            <a:prstGeom prst="roundRect">
              <a:avLst>
                <a:gd name="adj" fmla="val 23077"/>
              </a:avLst>
            </a:prstGeom>
            <a:solidFill>
              <a:srgbClr val="F7960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256598" y="1711325"/>
              <a:ext cx="11083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需要因素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516493" y="270192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A5200"/>
                  </a:solidFill>
                  <a:latin typeface="Microsoft YaHei"/>
                  <a:ea typeface="Microsoft YaHei"/>
                  <a:cs typeface="Microsoft YaHei"/>
                </a:rPr>
                <a:t>认知需要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16493" y="33686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A5200"/>
                  </a:solidFill>
                  <a:latin typeface="Microsoft YaHei"/>
                  <a:ea typeface="Microsoft YaHei"/>
                  <a:cs typeface="Microsoft YaHei"/>
                </a:rPr>
                <a:t>评估需要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518398" y="4086225"/>
              <a:ext cx="190840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66666"/>
                  </a:solidFill>
                  <a:latin typeface="Microsoft YaHei"/>
                  <a:ea typeface="Microsoft YaHei"/>
                  <a:cs typeface="Microsoft YaHei"/>
                </a:rPr>
                <a:t>区分个体感知与专业评估</a:t>
              </a:r>
            </a:p>
          </p:txBody>
        </p:sp>
      </p:grpSp>
      <p:sp>
        <p:nvSpPr>
          <p:cNvPr id="29" name="note24"/>
          <p:cNvSpPr/>
          <p:nvPr/>
        </p:nvSpPr>
        <p:spPr>
          <a:xfrm>
            <a:off x="714375" y="5619750"/>
            <a:ext cx="10763250" cy="552450"/>
          </a:xfrm>
          <a:prstGeom prst="roundRect">
            <a:avLst>
              <a:gd name="adj" fmla="val 17241"/>
            </a:avLst>
          </a:prstGeom>
          <a:solidFill>
            <a:srgbClr val="F3F6F8"/>
          </a:solidFill>
          <a:ln w="14288">
            <a:solidFill>
              <a:srgbClr val="80808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992886" y="5775325"/>
            <a:ext cx="689625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三类因素用于区分解释维度：使能不等同于收入，需要也不等同于实际服务利用。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904875" y="695325"/>
            <a:ext cx="10382250" cy="9525"/>
          </a:xfrm>
          <a:custGeom>
            <a:avLst/>
            <a:gdLst/>
            <a:ahLst/>
            <a:cxnLst/>
            <a:rect l="l" t="t" r="r" b="b"/>
            <a:pathLst>
              <a:path w="10382250" h="9525">
                <a:moveTo>
                  <a:pt x="0" y="0"/>
                </a:moveTo>
                <a:lnTo>
                  <a:pt x="10382250" y="0"/>
                </a:lnTo>
              </a:path>
            </a:pathLst>
          </a:custGeom>
          <a:solidFill>
            <a:srgbClr val="000000"/>
          </a:solidFill>
          <a:ln w="9525">
            <a:solidFill>
              <a:srgbClr val="808080"/>
            </a:solidFill>
          </a:ln>
        </p:spPr>
      </p:sp>
      <p:sp>
        <p:nvSpPr>
          <p:cNvPr id="3" name="Freeform 3"/>
          <p:cNvSpPr/>
          <p:nvPr/>
        </p:nvSpPr>
        <p:spPr>
          <a:xfrm>
            <a:off x="352425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0" y="0"/>
                </a:moveTo>
                <a:lnTo>
                  <a:pt x="133350" y="76200"/>
                </a:lnTo>
                <a:lnTo>
                  <a:pt x="38100" y="171450"/>
                </a:lnTo>
                <a:lnTo>
                  <a:pt x="0" y="142875"/>
                </a:lnTo>
                <a:lnTo>
                  <a:pt x="7620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5DA2"/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476250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9525" y="0"/>
                </a:moveTo>
                <a:lnTo>
                  <a:pt x="133350" y="76200"/>
                </a:lnTo>
                <a:lnTo>
                  <a:pt x="38100" y="171450"/>
                </a:lnTo>
                <a:lnTo>
                  <a:pt x="0" y="142875"/>
                </a:lnTo>
                <a:lnTo>
                  <a:pt x="76200" y="76200"/>
                </a:lnTo>
                <a:lnTo>
                  <a:pt x="9525" y="0"/>
                </a:lnTo>
                <a:close/>
              </a:path>
            </a:pathLst>
          </a:custGeom>
          <a:solidFill>
            <a:srgbClr val="3992DB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609600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0" y="0"/>
                </a:moveTo>
                <a:lnTo>
                  <a:pt x="133350" y="76200"/>
                </a:lnTo>
                <a:lnTo>
                  <a:pt x="28575" y="171450"/>
                </a:lnTo>
                <a:lnTo>
                  <a:pt x="0" y="142875"/>
                </a:lnTo>
                <a:lnTo>
                  <a:pt x="66675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796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51941" y="120650"/>
            <a:ext cx="4353712" cy="572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920" b="1" dirty="0">
                <a:solidFill>
                  <a:srgbClr val="005DA2"/>
                </a:solidFill>
                <a:latin typeface="Microsoft YaHei"/>
                <a:ea typeface="Microsoft YaHei"/>
                <a:cs typeface="Microsoft YaHei"/>
              </a:rPr>
              <a:t>安德森：扩展结构与反馈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59561" y="793750"/>
            <a:ext cx="441116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从三类利用因素扩展到环境、行为与结果的多层结构</a:t>
            </a:r>
          </a:p>
        </p:txBody>
      </p:sp>
      <p:grpSp>
        <p:nvGrpSpPr>
          <p:cNvPr id="11" name="environment25"/>
          <p:cNvGrpSpPr/>
          <p:nvPr/>
        </p:nvGrpSpPr>
        <p:grpSpPr>
          <a:xfrm>
            <a:off x="2286000" y="1381125"/>
            <a:ext cx="7620000" cy="904875"/>
            <a:chOff x="2286000" y="1381125"/>
            <a:chExt cx="7620000" cy="904875"/>
          </a:xfrm>
        </p:grpSpPr>
        <p:sp>
          <p:nvSpPr>
            <p:cNvPr id="8" name="Rectangle 8"/>
            <p:cNvSpPr/>
            <p:nvPr/>
          </p:nvSpPr>
          <p:spPr>
            <a:xfrm>
              <a:off x="2286000" y="1381125"/>
              <a:ext cx="7620000" cy="904875"/>
            </a:xfrm>
            <a:prstGeom prst="roundRect">
              <a:avLst>
                <a:gd name="adj" fmla="val 16842"/>
              </a:avLst>
            </a:prstGeom>
            <a:solidFill>
              <a:srgbClr val="E7F1F8"/>
            </a:solidFill>
            <a:ln w="19050">
              <a:solidFill>
                <a:srgbClr val="005DA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847594" y="1549400"/>
              <a:ext cx="544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环境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59630" y="1612900"/>
              <a:ext cx="33066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医疗服务体系 · 卫生政策 · 外部环境</a:t>
              </a:r>
            </a:p>
          </p:txBody>
        </p:sp>
      </p:grpSp>
      <p:grpSp>
        <p:nvGrpSpPr>
          <p:cNvPr id="15" name="person25"/>
          <p:cNvGrpSpPr/>
          <p:nvPr/>
        </p:nvGrpSpPr>
        <p:grpSpPr>
          <a:xfrm>
            <a:off x="2286000" y="2571750"/>
            <a:ext cx="7620000" cy="904875"/>
            <a:chOff x="2286000" y="2571750"/>
            <a:chExt cx="7620000" cy="904875"/>
          </a:xfrm>
        </p:grpSpPr>
        <p:sp>
          <p:nvSpPr>
            <p:cNvPr id="12" name="Rectangle 12"/>
            <p:cNvSpPr/>
            <p:nvPr/>
          </p:nvSpPr>
          <p:spPr>
            <a:xfrm>
              <a:off x="2286000" y="2571750"/>
              <a:ext cx="7620000" cy="904875"/>
            </a:xfrm>
            <a:prstGeom prst="roundRect">
              <a:avLst>
                <a:gd name="adj" fmla="val 16842"/>
              </a:avLst>
            </a:prstGeom>
            <a:solidFill>
              <a:srgbClr val="F5FAFD"/>
            </a:solidFill>
            <a:ln w="19050">
              <a:solidFill>
                <a:srgbClr val="3992D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847594" y="2740025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个人特征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59630" y="2803525"/>
              <a:ext cx="31047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倾向 · 使能（资源／组织） · 需要</a:t>
              </a:r>
            </a:p>
          </p:txBody>
        </p:sp>
      </p:grpSp>
      <p:grpSp>
        <p:nvGrpSpPr>
          <p:cNvPr id="19" name="behavior25"/>
          <p:cNvGrpSpPr/>
          <p:nvPr/>
        </p:nvGrpSpPr>
        <p:grpSpPr>
          <a:xfrm>
            <a:off x="2286000" y="3762375"/>
            <a:ext cx="7620000" cy="904875"/>
            <a:chOff x="2286000" y="3762375"/>
            <a:chExt cx="7620000" cy="904875"/>
          </a:xfrm>
        </p:grpSpPr>
        <p:sp>
          <p:nvSpPr>
            <p:cNvPr id="16" name="Rectangle 16"/>
            <p:cNvSpPr/>
            <p:nvPr/>
          </p:nvSpPr>
          <p:spPr>
            <a:xfrm>
              <a:off x="2286000" y="3762375"/>
              <a:ext cx="7620000" cy="904875"/>
            </a:xfrm>
            <a:prstGeom prst="roundRect">
              <a:avLst>
                <a:gd name="adj" fmla="val 16842"/>
              </a:avLst>
            </a:prstGeom>
            <a:solidFill>
              <a:srgbClr val="E7F1F8"/>
            </a:solidFill>
            <a:ln w="19050">
              <a:solidFill>
                <a:srgbClr val="005DA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847594" y="3930650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医疗行为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59630" y="3994150"/>
              <a:ext cx="29028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自我医疗 · 服务过程 · 服务利用</a:t>
              </a:r>
            </a:p>
          </p:txBody>
        </p:sp>
      </p:grpSp>
      <p:grpSp>
        <p:nvGrpSpPr>
          <p:cNvPr id="23" name="outcome25"/>
          <p:cNvGrpSpPr/>
          <p:nvPr/>
        </p:nvGrpSpPr>
        <p:grpSpPr>
          <a:xfrm>
            <a:off x="2286000" y="4953000"/>
            <a:ext cx="7620000" cy="904875"/>
            <a:chOff x="2286000" y="4953000"/>
            <a:chExt cx="7620000" cy="904875"/>
          </a:xfrm>
        </p:grpSpPr>
        <p:sp>
          <p:nvSpPr>
            <p:cNvPr id="20" name="Rectangle 20"/>
            <p:cNvSpPr/>
            <p:nvPr/>
          </p:nvSpPr>
          <p:spPr>
            <a:xfrm>
              <a:off x="2286000" y="4953000"/>
              <a:ext cx="7620000" cy="904875"/>
            </a:xfrm>
            <a:prstGeom prst="roundRect">
              <a:avLst>
                <a:gd name="adj" fmla="val 16842"/>
              </a:avLst>
            </a:prstGeom>
            <a:solidFill>
              <a:srgbClr val="FFF4DF"/>
            </a:solidFill>
            <a:ln w="19050">
              <a:solidFill>
                <a:srgbClr val="F7960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847594" y="5121275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8A5200"/>
                  </a:solidFill>
                  <a:latin typeface="Microsoft YaHei"/>
                  <a:ea typeface="Microsoft YaHei"/>
                  <a:cs typeface="Microsoft YaHei"/>
                </a:rPr>
                <a:t>医疗结果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59630" y="5184775"/>
              <a:ext cx="31047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认知健康 · 评估健康 · 患者满意度</a:t>
              </a:r>
            </a:p>
          </p:txBody>
        </p:sp>
      </p:grpSp>
      <p:grpSp>
        <p:nvGrpSpPr>
          <p:cNvPr id="27" name="flow25"/>
          <p:cNvGrpSpPr/>
          <p:nvPr/>
        </p:nvGrpSpPr>
        <p:grpSpPr>
          <a:xfrm>
            <a:off x="6096000" y="2286000"/>
            <a:ext cx="9525" cy="2667000"/>
            <a:chOff x="6096000" y="2286000"/>
            <a:chExt cx="9525" cy="2667000"/>
          </a:xfrm>
        </p:grpSpPr>
        <p:sp>
          <p:nvSpPr>
            <p:cNvPr id="24" name="Freeform 24"/>
            <p:cNvSpPr/>
            <p:nvPr/>
          </p:nvSpPr>
          <p:spPr>
            <a:xfrm>
              <a:off x="6096000" y="22860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7A8792"/>
              </a:solidFill>
              <a:tailEnd type="triangle" w="lg" len="lg"/>
            </a:ln>
          </p:spPr>
        </p:sp>
        <p:sp>
          <p:nvSpPr>
            <p:cNvPr id="25" name="Freeform 25"/>
            <p:cNvSpPr/>
            <p:nvPr/>
          </p:nvSpPr>
          <p:spPr>
            <a:xfrm>
              <a:off x="6096000" y="3476625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7A8792"/>
              </a:solidFill>
              <a:tailEnd type="triangle" w="lg" len="lg"/>
            </a:ln>
          </p:spPr>
        </p:sp>
        <p:sp>
          <p:nvSpPr>
            <p:cNvPr id="26" name="Freeform 26"/>
            <p:cNvSpPr/>
            <p:nvPr/>
          </p:nvSpPr>
          <p:spPr>
            <a:xfrm>
              <a:off x="6096000" y="46672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7A8792"/>
              </a:solidFill>
              <a:tailEnd type="triangle" w="lg" len="lg"/>
            </a:ln>
          </p:spPr>
        </p:sp>
      </p:grpSp>
      <p:sp>
        <p:nvSpPr>
          <p:cNvPr id="28" name="feedback25"/>
          <p:cNvSpPr/>
          <p:nvPr/>
        </p:nvSpPr>
        <p:spPr>
          <a:xfrm>
            <a:off x="9906000" y="3000375"/>
            <a:ext cx="1143000" cy="2381250"/>
          </a:xfrm>
          <a:custGeom>
            <a:avLst/>
            <a:gdLst/>
            <a:ahLst/>
            <a:cxnLst/>
            <a:rect l="l" t="t" r="r" b="b"/>
            <a:pathLst>
              <a:path w="1143000" h="2381250">
                <a:moveTo>
                  <a:pt x="0" y="2381250"/>
                </a:moveTo>
                <a:cubicBezTo>
                  <a:pt x="952500" y="2381250"/>
                  <a:pt x="1143000" y="47625"/>
                  <a:pt x="0" y="0"/>
                </a:cubicBezTo>
              </a:path>
            </a:pathLst>
          </a:custGeom>
          <a:noFill/>
          <a:ln w="28575">
            <a:solidFill>
              <a:srgbClr val="F79600"/>
            </a:solidFill>
            <a:custDash>
              <a:ds d="266667" sp="200000"/>
            </a:custDash>
          </a:ln>
        </p:spPr>
      </p:sp>
      <p:sp>
        <p:nvSpPr>
          <p:cNvPr id="29" name="TextBox 29"/>
          <p:cNvSpPr txBox="1"/>
          <p:nvPr/>
        </p:nvSpPr>
        <p:spPr>
          <a:xfrm>
            <a:off x="10280142" y="4121150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A5200"/>
                </a:solidFill>
                <a:latin typeface="Microsoft YaHei"/>
                <a:ea typeface="Microsoft YaHei"/>
                <a:cs typeface="Microsoft YaHei"/>
              </a:rPr>
              <a:t>反馈关系</a:t>
            </a:r>
          </a:p>
        </p:txBody>
      </p:sp>
      <p:sp>
        <p:nvSpPr>
          <p:cNvPr id="30" name="note25"/>
          <p:cNvSpPr/>
          <p:nvPr/>
        </p:nvSpPr>
        <p:spPr>
          <a:xfrm>
            <a:off x="2286000" y="6191250"/>
            <a:ext cx="7620000" cy="381000"/>
          </a:xfrm>
          <a:prstGeom prst="roundRect">
            <a:avLst>
              <a:gd name="adj" fmla="val 22500"/>
            </a:avLst>
          </a:prstGeom>
          <a:solidFill>
            <a:srgbClr val="F3F6F8"/>
          </a:solidFill>
          <a:ln w="14288">
            <a:solidFill>
              <a:srgbClr val="808080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2565273" y="6296025"/>
            <a:ext cx="4493108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教材扩展结构，版本待核；层次关系不等同于单向因果链。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904875" y="695325"/>
            <a:ext cx="10382250" cy="9525"/>
          </a:xfrm>
          <a:custGeom>
            <a:avLst/>
            <a:gdLst/>
            <a:ahLst/>
            <a:cxnLst/>
            <a:rect l="l" t="t" r="r" b="b"/>
            <a:pathLst>
              <a:path w="10382250" h="9525">
                <a:moveTo>
                  <a:pt x="0" y="0"/>
                </a:moveTo>
                <a:lnTo>
                  <a:pt x="10382250" y="0"/>
                </a:lnTo>
              </a:path>
            </a:pathLst>
          </a:custGeom>
          <a:solidFill>
            <a:srgbClr val="000000"/>
          </a:solidFill>
          <a:ln w="9525">
            <a:solidFill>
              <a:srgbClr val="808080"/>
            </a:solidFill>
          </a:ln>
        </p:spPr>
      </p:sp>
      <p:sp>
        <p:nvSpPr>
          <p:cNvPr id="3" name="Freeform 3"/>
          <p:cNvSpPr/>
          <p:nvPr/>
        </p:nvSpPr>
        <p:spPr>
          <a:xfrm>
            <a:off x="352425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0" y="0"/>
                </a:moveTo>
                <a:lnTo>
                  <a:pt x="133350" y="76200"/>
                </a:lnTo>
                <a:lnTo>
                  <a:pt x="38100" y="171450"/>
                </a:lnTo>
                <a:lnTo>
                  <a:pt x="0" y="142875"/>
                </a:lnTo>
                <a:lnTo>
                  <a:pt x="7620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5DA2"/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476250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9525" y="0"/>
                </a:moveTo>
                <a:lnTo>
                  <a:pt x="133350" y="76200"/>
                </a:lnTo>
                <a:lnTo>
                  <a:pt x="38100" y="171450"/>
                </a:lnTo>
                <a:lnTo>
                  <a:pt x="0" y="142875"/>
                </a:lnTo>
                <a:lnTo>
                  <a:pt x="76200" y="76200"/>
                </a:lnTo>
                <a:lnTo>
                  <a:pt x="9525" y="0"/>
                </a:lnTo>
                <a:close/>
              </a:path>
            </a:pathLst>
          </a:custGeom>
          <a:solidFill>
            <a:srgbClr val="3992DB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609600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0" y="0"/>
                </a:moveTo>
                <a:lnTo>
                  <a:pt x="133350" y="76200"/>
                </a:lnTo>
                <a:lnTo>
                  <a:pt x="28575" y="171450"/>
                </a:lnTo>
                <a:lnTo>
                  <a:pt x="0" y="142875"/>
                </a:lnTo>
                <a:lnTo>
                  <a:pt x="66675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796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51941" y="120650"/>
            <a:ext cx="5139893" cy="572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920" b="1" dirty="0">
                <a:solidFill>
                  <a:srgbClr val="005DA2"/>
                </a:solidFill>
                <a:latin typeface="Microsoft YaHei"/>
                <a:ea typeface="Microsoft YaHei"/>
                <a:cs typeface="Microsoft YaHei"/>
              </a:rPr>
              <a:t>安德森：利用研究与测量边界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59561" y="793750"/>
            <a:ext cx="4984648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服务利用既是研究结局，也是需要明确测量口径的分析对象</a:t>
            </a:r>
          </a:p>
        </p:txBody>
      </p:sp>
      <p:grpSp>
        <p:nvGrpSpPr>
          <p:cNvPr id="14" name="use26"/>
          <p:cNvGrpSpPr/>
          <p:nvPr/>
        </p:nvGrpSpPr>
        <p:grpSpPr>
          <a:xfrm>
            <a:off x="619125" y="1428750"/>
            <a:ext cx="3333750" cy="3905250"/>
            <a:chOff x="619125" y="1428750"/>
            <a:chExt cx="3333750" cy="3905250"/>
          </a:xfrm>
        </p:grpSpPr>
        <p:sp>
          <p:nvSpPr>
            <p:cNvPr id="8" name="Rectangle 8"/>
            <p:cNvSpPr/>
            <p:nvPr/>
          </p:nvSpPr>
          <p:spPr>
            <a:xfrm>
              <a:off x="619125" y="1428750"/>
              <a:ext cx="3333750" cy="3905250"/>
            </a:xfrm>
            <a:prstGeom prst="roundRect">
              <a:avLst>
                <a:gd name="adj" fmla="val 5143"/>
              </a:avLst>
            </a:prstGeom>
            <a:solidFill>
              <a:srgbClr val="E7F1F8"/>
            </a:solidFill>
            <a:ln w="19050">
              <a:solidFill>
                <a:srgbClr val="005DA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619125" y="1428750"/>
              <a:ext cx="3333750" cy="704850"/>
            </a:xfrm>
            <a:prstGeom prst="roundRect">
              <a:avLst>
                <a:gd name="adj" fmla="val 24324"/>
              </a:avLst>
            </a:prstGeom>
            <a:solidFill>
              <a:srgbClr val="005DA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731848" y="1644650"/>
              <a:ext cx="11083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研究用途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92124" y="2667000"/>
              <a:ext cx="171759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服务利用因素分析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92124" y="3381375"/>
              <a:ext cx="150489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政策与资源配置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92124" y="4095750"/>
              <a:ext cx="171759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卫生服务调查设计</a:t>
              </a:r>
            </a:p>
          </p:txBody>
        </p:sp>
      </p:grpSp>
      <p:grpSp>
        <p:nvGrpSpPr>
          <p:cNvPr id="22" name="dimensions26"/>
          <p:cNvGrpSpPr/>
          <p:nvPr/>
        </p:nvGrpSpPr>
        <p:grpSpPr>
          <a:xfrm>
            <a:off x="4429125" y="1428750"/>
            <a:ext cx="3333750" cy="3905250"/>
            <a:chOff x="4429125" y="1428750"/>
            <a:chExt cx="3333750" cy="3905250"/>
          </a:xfrm>
        </p:grpSpPr>
        <p:sp>
          <p:nvSpPr>
            <p:cNvPr id="15" name="Rectangle 15"/>
            <p:cNvSpPr/>
            <p:nvPr/>
          </p:nvSpPr>
          <p:spPr>
            <a:xfrm>
              <a:off x="4429125" y="1428750"/>
              <a:ext cx="3333750" cy="3905250"/>
            </a:xfrm>
            <a:prstGeom prst="roundRect">
              <a:avLst>
                <a:gd name="adj" fmla="val 5143"/>
              </a:avLst>
            </a:prstGeom>
            <a:solidFill>
              <a:srgbClr val="F5FAFD"/>
            </a:solidFill>
            <a:ln w="19050">
              <a:solidFill>
                <a:srgbClr val="3992DB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429125" y="1428750"/>
              <a:ext cx="3333750" cy="704850"/>
            </a:xfrm>
            <a:prstGeom prst="roundRect">
              <a:avLst>
                <a:gd name="adj" fmla="val 24324"/>
              </a:avLst>
            </a:prstGeom>
            <a:solidFill>
              <a:srgbClr val="3992D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541848" y="1644650"/>
              <a:ext cx="11083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利用维度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02124" y="2524125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利用类型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802124" y="3143250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利用频率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802124" y="3762375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利用强度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802886" y="4394200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正式与非正式照护</a:t>
              </a:r>
            </a:p>
          </p:txBody>
        </p:sp>
      </p:grpSp>
      <p:grpSp>
        <p:nvGrpSpPr>
          <p:cNvPr id="30" name="boundary26"/>
          <p:cNvGrpSpPr/>
          <p:nvPr/>
        </p:nvGrpSpPr>
        <p:grpSpPr>
          <a:xfrm>
            <a:off x="8239125" y="1428750"/>
            <a:ext cx="3333750" cy="3905250"/>
            <a:chOff x="8239125" y="1428750"/>
            <a:chExt cx="3333750" cy="3905250"/>
          </a:xfrm>
        </p:grpSpPr>
        <p:sp>
          <p:nvSpPr>
            <p:cNvPr id="23" name="Rectangle 23"/>
            <p:cNvSpPr/>
            <p:nvPr/>
          </p:nvSpPr>
          <p:spPr>
            <a:xfrm>
              <a:off x="8239125" y="1428750"/>
              <a:ext cx="3333750" cy="3905250"/>
            </a:xfrm>
            <a:prstGeom prst="roundRect">
              <a:avLst>
                <a:gd name="adj" fmla="val 5143"/>
              </a:avLst>
            </a:prstGeom>
            <a:solidFill>
              <a:srgbClr val="FFF4DF"/>
            </a:solidFill>
            <a:ln w="19050">
              <a:solidFill>
                <a:srgbClr val="F7960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239125" y="1428750"/>
              <a:ext cx="3333750" cy="704850"/>
            </a:xfrm>
            <a:prstGeom prst="roundRect">
              <a:avLst>
                <a:gd name="adj" fmla="val 24324"/>
              </a:avLst>
            </a:prstGeom>
            <a:solidFill>
              <a:srgbClr val="F7960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351848" y="1644650"/>
              <a:ext cx="11083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分析边界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12886" y="2536825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8A5200"/>
                  </a:solidFill>
                  <a:latin typeface="Microsoft YaHei"/>
                  <a:ea typeface="Microsoft YaHei"/>
                  <a:cs typeface="Microsoft YaHei"/>
                </a:rPr>
                <a:t>文化、社会互动与心理机制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12124" y="3190875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8A5200"/>
                  </a:solidFill>
                  <a:latin typeface="Microsoft YaHei"/>
                  <a:ea typeface="Microsoft YaHei"/>
                  <a:cs typeface="Microsoft YaHei"/>
                </a:rPr>
                <a:t>时间变化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12124" y="3857625"/>
              <a:ext cx="19302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8A5200"/>
                  </a:solidFill>
                  <a:latin typeface="Microsoft YaHei"/>
                  <a:ea typeface="Microsoft YaHei"/>
                  <a:cs typeface="Microsoft YaHei"/>
                </a:rPr>
                <a:t>非正式照护关注不足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13648" y="4562475"/>
              <a:ext cx="15810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66666"/>
                  </a:solidFill>
                  <a:latin typeface="Microsoft YaHei"/>
                  <a:ea typeface="Microsoft YaHei"/>
                  <a:cs typeface="Microsoft YaHei"/>
                </a:rPr>
                <a:t>不是“完全没有纳入”</a:t>
              </a:r>
            </a:p>
          </p:txBody>
        </p:sp>
      </p:grpSp>
      <p:sp>
        <p:nvSpPr>
          <p:cNvPr id="31" name="note26"/>
          <p:cNvSpPr/>
          <p:nvPr/>
        </p:nvSpPr>
        <p:spPr>
          <a:xfrm>
            <a:off x="619125" y="5762625"/>
            <a:ext cx="10953750" cy="495300"/>
          </a:xfrm>
          <a:prstGeom prst="roundRect">
            <a:avLst>
              <a:gd name="adj" fmla="val 19231"/>
            </a:avLst>
          </a:prstGeom>
          <a:solidFill>
            <a:srgbClr val="F3F6F8"/>
          </a:solidFill>
          <a:ln w="14288">
            <a:solidFill>
              <a:srgbClr val="808080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897636" y="5899150"/>
            <a:ext cx="670509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服务利用不能简化为单一二分类结局；需说明类型、频率、强度与测量时间点。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904875" y="695325"/>
            <a:ext cx="10382250" cy="9525"/>
          </a:xfrm>
          <a:custGeom>
            <a:avLst/>
            <a:gdLst/>
            <a:ahLst/>
            <a:cxnLst/>
            <a:rect l="l" t="t" r="r" b="b"/>
            <a:pathLst>
              <a:path w="10382250" h="9525">
                <a:moveTo>
                  <a:pt x="0" y="0"/>
                </a:moveTo>
                <a:lnTo>
                  <a:pt x="10382250" y="0"/>
                </a:lnTo>
              </a:path>
            </a:pathLst>
          </a:custGeom>
          <a:solidFill>
            <a:srgbClr val="000000"/>
          </a:solidFill>
          <a:ln w="9525">
            <a:solidFill>
              <a:srgbClr val="808080"/>
            </a:solidFill>
          </a:ln>
        </p:spPr>
      </p:sp>
      <p:sp>
        <p:nvSpPr>
          <p:cNvPr id="3" name="Freeform 3"/>
          <p:cNvSpPr/>
          <p:nvPr/>
        </p:nvSpPr>
        <p:spPr>
          <a:xfrm>
            <a:off x="352425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0" y="0"/>
                </a:moveTo>
                <a:lnTo>
                  <a:pt x="133350" y="76200"/>
                </a:lnTo>
                <a:lnTo>
                  <a:pt x="38100" y="171450"/>
                </a:lnTo>
                <a:lnTo>
                  <a:pt x="0" y="142875"/>
                </a:lnTo>
                <a:lnTo>
                  <a:pt x="7620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5DA2"/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476250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9525" y="0"/>
                </a:moveTo>
                <a:lnTo>
                  <a:pt x="133350" y="76200"/>
                </a:lnTo>
                <a:lnTo>
                  <a:pt x="38100" y="171450"/>
                </a:lnTo>
                <a:lnTo>
                  <a:pt x="0" y="142875"/>
                </a:lnTo>
                <a:lnTo>
                  <a:pt x="76200" y="76200"/>
                </a:lnTo>
                <a:lnTo>
                  <a:pt x="9525" y="0"/>
                </a:lnTo>
                <a:close/>
              </a:path>
            </a:pathLst>
          </a:custGeom>
          <a:solidFill>
            <a:srgbClr val="3992DB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609600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0" y="0"/>
                </a:moveTo>
                <a:lnTo>
                  <a:pt x="133350" y="76200"/>
                </a:lnTo>
                <a:lnTo>
                  <a:pt x="28575" y="171450"/>
                </a:lnTo>
                <a:lnTo>
                  <a:pt x="0" y="142875"/>
                </a:lnTo>
                <a:lnTo>
                  <a:pt x="66675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796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51941" y="120650"/>
            <a:ext cx="3740788" cy="572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920" b="1" dirty="0">
                <a:solidFill>
                  <a:srgbClr val="005DA2"/>
                </a:solidFill>
                <a:latin typeface="Microsoft YaHei"/>
                <a:ea typeface="Microsoft YaHei"/>
                <a:cs typeface="Microsoft YaHei"/>
              </a:rPr>
              <a:t>PDCA：持续改进循环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59561" y="793750"/>
            <a:ext cx="402884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标准化与未解决问题再循环，共同构成持续改进</a:t>
            </a:r>
          </a:p>
        </p:txBody>
      </p:sp>
      <p:grpSp>
        <p:nvGrpSpPr>
          <p:cNvPr id="12" name="plan27"/>
          <p:cNvGrpSpPr/>
          <p:nvPr/>
        </p:nvGrpSpPr>
        <p:grpSpPr>
          <a:xfrm>
            <a:off x="4238625" y="1381125"/>
            <a:ext cx="3714750" cy="1000125"/>
            <a:chOff x="4238625" y="1381125"/>
            <a:chExt cx="3714750" cy="1000125"/>
          </a:xfrm>
        </p:grpSpPr>
        <p:sp>
          <p:nvSpPr>
            <p:cNvPr id="8" name="Rectangle 8"/>
            <p:cNvSpPr/>
            <p:nvPr/>
          </p:nvSpPr>
          <p:spPr>
            <a:xfrm>
              <a:off x="4238625" y="1381125"/>
              <a:ext cx="3714750" cy="1000125"/>
            </a:xfrm>
            <a:prstGeom prst="roundRect">
              <a:avLst>
                <a:gd name="adj" fmla="val 17143"/>
              </a:avLst>
            </a:prstGeom>
            <a:solidFill>
              <a:srgbClr val="E7F1F8"/>
            </a:solidFill>
            <a:ln w="19050">
              <a:solidFill>
                <a:srgbClr val="005DA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942332" y="1555750"/>
              <a:ext cx="62679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005DA2"/>
                  </a:solidFill>
                  <a:latin typeface="Arial"/>
                  <a:ea typeface="Arial"/>
                  <a:cs typeface="Arial"/>
                </a:rPr>
                <a:t>Plan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38850" y="1581150"/>
              <a:ext cx="52522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计划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946523" y="1990725"/>
              <a:ext cx="247703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明确目标 · 调研现状 · 设计方案</a:t>
              </a:r>
            </a:p>
          </p:txBody>
        </p:sp>
      </p:grpSp>
      <p:grpSp>
        <p:nvGrpSpPr>
          <p:cNvPr id="17" name="do27"/>
          <p:cNvGrpSpPr/>
          <p:nvPr/>
        </p:nvGrpSpPr>
        <p:grpSpPr>
          <a:xfrm>
            <a:off x="8096250" y="2667000"/>
            <a:ext cx="3143250" cy="1000125"/>
            <a:chOff x="8096250" y="2667000"/>
            <a:chExt cx="3143250" cy="1000125"/>
          </a:xfrm>
        </p:grpSpPr>
        <p:sp>
          <p:nvSpPr>
            <p:cNvPr id="13" name="Rectangle 13"/>
            <p:cNvSpPr/>
            <p:nvPr/>
          </p:nvSpPr>
          <p:spPr>
            <a:xfrm>
              <a:off x="8096250" y="2667000"/>
              <a:ext cx="3143250" cy="1000125"/>
            </a:xfrm>
            <a:prstGeom prst="roundRect">
              <a:avLst>
                <a:gd name="adj" fmla="val 17143"/>
              </a:avLst>
            </a:prstGeom>
            <a:solidFill>
              <a:srgbClr val="F5FAFD"/>
            </a:solidFill>
            <a:ln w="19050">
              <a:solidFill>
                <a:srgbClr val="3992D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61832" y="2841625"/>
              <a:ext cx="4088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005DA2"/>
                  </a:solidFill>
                  <a:latin typeface="Arial"/>
                  <a:ea typeface="Arial"/>
                  <a:cs typeface="Arial"/>
                </a:rPr>
                <a:t>Do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372600" y="2867025"/>
              <a:ext cx="52522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执行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66023" y="3276600"/>
              <a:ext cx="178778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试点 · 培训 · 调配资源</a:t>
              </a:r>
            </a:p>
          </p:txBody>
        </p:sp>
      </p:grpSp>
      <p:grpSp>
        <p:nvGrpSpPr>
          <p:cNvPr id="22" name="check27"/>
          <p:cNvGrpSpPr/>
          <p:nvPr/>
        </p:nvGrpSpPr>
        <p:grpSpPr>
          <a:xfrm>
            <a:off x="4238625" y="4476750"/>
            <a:ext cx="3714750" cy="1000125"/>
            <a:chOff x="4238625" y="4476750"/>
            <a:chExt cx="3714750" cy="1000125"/>
          </a:xfrm>
        </p:grpSpPr>
        <p:sp>
          <p:nvSpPr>
            <p:cNvPr id="18" name="Rectangle 18"/>
            <p:cNvSpPr/>
            <p:nvPr/>
          </p:nvSpPr>
          <p:spPr>
            <a:xfrm>
              <a:off x="4238625" y="4476750"/>
              <a:ext cx="3714750" cy="1000125"/>
            </a:xfrm>
            <a:prstGeom prst="roundRect">
              <a:avLst>
                <a:gd name="adj" fmla="val 17143"/>
              </a:avLst>
            </a:prstGeom>
            <a:solidFill>
              <a:srgbClr val="E7F1F8"/>
            </a:solidFill>
            <a:ln w="19050">
              <a:solidFill>
                <a:srgbClr val="005DA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751832" y="4651375"/>
              <a:ext cx="87950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005DA2"/>
                  </a:solidFill>
                  <a:latin typeface="Arial"/>
                  <a:ea typeface="Arial"/>
                  <a:cs typeface="Arial"/>
                </a:rPr>
                <a:t>Check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181725" y="4676775"/>
              <a:ext cx="52522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检查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56023" y="5086350"/>
              <a:ext cx="245119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收集资料 · 比较目标与实际结果</a:t>
              </a:r>
            </a:p>
          </p:txBody>
        </p:sp>
      </p:grpSp>
      <p:grpSp>
        <p:nvGrpSpPr>
          <p:cNvPr id="27" name="act27"/>
          <p:cNvGrpSpPr/>
          <p:nvPr/>
        </p:nvGrpSpPr>
        <p:grpSpPr>
          <a:xfrm>
            <a:off x="952500" y="2667000"/>
            <a:ext cx="3143250" cy="1000125"/>
            <a:chOff x="952500" y="2667000"/>
            <a:chExt cx="3143250" cy="1000125"/>
          </a:xfrm>
        </p:grpSpPr>
        <p:sp>
          <p:nvSpPr>
            <p:cNvPr id="23" name="Rectangle 23"/>
            <p:cNvSpPr/>
            <p:nvPr/>
          </p:nvSpPr>
          <p:spPr>
            <a:xfrm>
              <a:off x="952500" y="2667000"/>
              <a:ext cx="3143250" cy="1000125"/>
            </a:xfrm>
            <a:prstGeom prst="roundRect">
              <a:avLst>
                <a:gd name="adj" fmla="val 17143"/>
              </a:avLst>
            </a:prstGeom>
            <a:solidFill>
              <a:srgbClr val="FFF4DF"/>
            </a:solidFill>
            <a:ln w="19050">
              <a:solidFill>
                <a:srgbClr val="F7960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465707" y="2841625"/>
              <a:ext cx="4854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8A5200"/>
                  </a:solidFill>
                  <a:latin typeface="Arial"/>
                  <a:ea typeface="Arial"/>
                  <a:cs typeface="Arial"/>
                </a:rPr>
                <a:t>Act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324100" y="2867025"/>
              <a:ext cx="52522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8A5200"/>
                  </a:solidFill>
                  <a:latin typeface="Microsoft YaHei"/>
                  <a:ea typeface="Microsoft YaHei"/>
                  <a:cs typeface="Microsoft YaHei"/>
                </a:rPr>
                <a:t>处理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69898" y="3276600"/>
              <a:ext cx="173609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根据检查结果采取行动</a:t>
              </a:r>
            </a:p>
          </p:txBody>
        </p:sp>
      </p:grpSp>
      <p:grpSp>
        <p:nvGrpSpPr>
          <p:cNvPr id="32" name="cycle27"/>
          <p:cNvGrpSpPr/>
          <p:nvPr/>
        </p:nvGrpSpPr>
        <p:grpSpPr>
          <a:xfrm>
            <a:off x="3429000" y="1857375"/>
            <a:ext cx="5143500" cy="3095625"/>
            <a:chOff x="3429000" y="1857375"/>
            <a:chExt cx="5143500" cy="3095625"/>
          </a:xfrm>
        </p:grpSpPr>
        <p:sp>
          <p:nvSpPr>
            <p:cNvPr id="28" name="Freeform 28"/>
            <p:cNvSpPr/>
            <p:nvPr/>
          </p:nvSpPr>
          <p:spPr>
            <a:xfrm>
              <a:off x="7953375" y="2000250"/>
              <a:ext cx="619125" cy="666750"/>
            </a:xfrm>
            <a:custGeom>
              <a:avLst/>
              <a:gdLst/>
              <a:ahLst/>
              <a:cxnLst/>
              <a:rect l="l" t="t" r="r" b="b"/>
              <a:pathLst>
                <a:path w="619125" h="666750">
                  <a:moveTo>
                    <a:pt x="0" y="0"/>
                  </a:moveTo>
                  <a:cubicBezTo>
                    <a:pt x="523875" y="142875"/>
                    <a:pt x="619125" y="428625"/>
                    <a:pt x="619125" y="666750"/>
                  </a:cubicBezTo>
                </a:path>
              </a:pathLst>
            </a:custGeom>
            <a:noFill/>
            <a:ln w="28575">
              <a:solidFill>
                <a:srgbClr val="7A8792"/>
              </a:solidFill>
              <a:tailEnd type="triangle" w="lg" len="lg"/>
            </a:ln>
          </p:spPr>
        </p:sp>
        <p:sp>
          <p:nvSpPr>
            <p:cNvPr id="29" name="Freeform 29"/>
            <p:cNvSpPr/>
            <p:nvPr/>
          </p:nvSpPr>
          <p:spPr>
            <a:xfrm>
              <a:off x="7429500" y="3667125"/>
              <a:ext cx="666750" cy="809625"/>
            </a:xfrm>
            <a:custGeom>
              <a:avLst/>
              <a:gdLst/>
              <a:ahLst/>
              <a:cxnLst/>
              <a:rect l="l" t="t" r="r" b="b"/>
              <a:pathLst>
                <a:path w="666750" h="809625">
                  <a:moveTo>
                    <a:pt x="666750" y="0"/>
                  </a:moveTo>
                  <a:cubicBezTo>
                    <a:pt x="571500" y="523875"/>
                    <a:pt x="285750" y="714375"/>
                    <a:pt x="0" y="809625"/>
                  </a:cubicBezTo>
                </a:path>
              </a:pathLst>
            </a:custGeom>
            <a:noFill/>
            <a:ln w="28575">
              <a:solidFill>
                <a:srgbClr val="7A8792"/>
              </a:solidFill>
              <a:tailEnd type="triangle" w="lg" len="lg"/>
            </a:ln>
          </p:spPr>
        </p:sp>
        <p:sp>
          <p:nvSpPr>
            <p:cNvPr id="30" name="Freeform 30"/>
            <p:cNvSpPr/>
            <p:nvPr/>
          </p:nvSpPr>
          <p:spPr>
            <a:xfrm>
              <a:off x="3429000" y="3667125"/>
              <a:ext cx="809625" cy="1285875"/>
            </a:xfrm>
            <a:custGeom>
              <a:avLst/>
              <a:gdLst/>
              <a:ahLst/>
              <a:cxnLst/>
              <a:rect l="l" t="t" r="r" b="b"/>
              <a:pathLst>
                <a:path w="809625" h="1285875">
                  <a:moveTo>
                    <a:pt x="809625" y="1285875"/>
                  </a:moveTo>
                  <a:cubicBezTo>
                    <a:pt x="285750" y="1190625"/>
                    <a:pt x="0" y="904875"/>
                    <a:pt x="0" y="0"/>
                  </a:cubicBezTo>
                </a:path>
              </a:pathLst>
            </a:custGeom>
            <a:noFill/>
            <a:ln w="28575">
              <a:solidFill>
                <a:srgbClr val="7A8792"/>
              </a:solidFill>
              <a:tailEnd type="triangle" w="lg" len="lg"/>
            </a:ln>
          </p:spPr>
        </p:sp>
        <p:sp>
          <p:nvSpPr>
            <p:cNvPr id="31" name="Freeform 31"/>
            <p:cNvSpPr/>
            <p:nvPr/>
          </p:nvSpPr>
          <p:spPr>
            <a:xfrm>
              <a:off x="4048125" y="1857375"/>
              <a:ext cx="285750" cy="809625"/>
            </a:xfrm>
            <a:custGeom>
              <a:avLst/>
              <a:gdLst/>
              <a:ahLst/>
              <a:cxnLst/>
              <a:rect l="l" t="t" r="r" b="b"/>
              <a:pathLst>
                <a:path w="285750" h="809625">
                  <a:moveTo>
                    <a:pt x="47625" y="809625"/>
                  </a:moveTo>
                  <a:cubicBezTo>
                    <a:pt x="0" y="238125"/>
                    <a:pt x="285750" y="0"/>
                    <a:pt x="190500" y="0"/>
                  </a:cubicBezTo>
                </a:path>
              </a:pathLst>
            </a:custGeom>
            <a:noFill/>
            <a:ln w="28575">
              <a:solidFill>
                <a:srgbClr val="7A8792"/>
              </a:solidFill>
              <a:tailEnd type="triangle" w="lg" len="lg"/>
            </a:ln>
          </p:spPr>
        </p:sp>
      </p:grpSp>
      <p:sp>
        <p:nvSpPr>
          <p:cNvPr id="33" name="standard27"/>
          <p:cNvSpPr/>
          <p:nvPr/>
        </p:nvSpPr>
        <p:spPr>
          <a:xfrm>
            <a:off x="2095500" y="1571625"/>
            <a:ext cx="1905000" cy="1095375"/>
          </a:xfrm>
          <a:custGeom>
            <a:avLst/>
            <a:gdLst/>
            <a:ahLst/>
            <a:cxnLst/>
            <a:rect l="l" t="t" r="r" b="b"/>
            <a:pathLst>
              <a:path w="1905000" h="1095375">
                <a:moveTo>
                  <a:pt x="476250" y="1095375"/>
                </a:moveTo>
                <a:cubicBezTo>
                  <a:pt x="0" y="619125"/>
                  <a:pt x="476250" y="0"/>
                  <a:pt x="1905000" y="0"/>
                </a:cubicBezTo>
              </a:path>
            </a:pathLst>
          </a:custGeom>
          <a:noFill/>
          <a:ln w="19050">
            <a:solidFill>
              <a:srgbClr val="005DA2"/>
            </a:solidFill>
            <a:custDash>
              <a:ds d="350000" sp="250000"/>
            </a:custDash>
          </a:ln>
        </p:spPr>
      </p:sp>
      <p:sp>
        <p:nvSpPr>
          <p:cNvPr id="34" name="TextBox 34"/>
          <p:cNvSpPr txBox="1"/>
          <p:nvPr/>
        </p:nvSpPr>
        <p:spPr>
          <a:xfrm>
            <a:off x="1136523" y="1800225"/>
            <a:ext cx="1219149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05DA2"/>
                </a:solidFill>
                <a:latin typeface="Microsoft YaHei"/>
                <a:ea typeface="Microsoft YaHei"/>
                <a:cs typeface="Microsoft YaHei"/>
              </a:rPr>
              <a:t>有效措施标准化</a:t>
            </a:r>
          </a:p>
        </p:txBody>
      </p:sp>
      <p:sp>
        <p:nvSpPr>
          <p:cNvPr id="35" name="recycle27"/>
          <p:cNvSpPr/>
          <p:nvPr/>
        </p:nvSpPr>
        <p:spPr>
          <a:xfrm>
            <a:off x="2571750" y="3667125"/>
            <a:ext cx="1666875" cy="1285875"/>
          </a:xfrm>
          <a:custGeom>
            <a:avLst/>
            <a:gdLst/>
            <a:ahLst/>
            <a:cxnLst/>
            <a:rect l="l" t="t" r="r" b="b"/>
            <a:pathLst>
              <a:path w="1666875" h="1285875">
                <a:moveTo>
                  <a:pt x="0" y="0"/>
                </a:moveTo>
                <a:cubicBezTo>
                  <a:pt x="476250" y="381000"/>
                  <a:pt x="1238250" y="428625"/>
                  <a:pt x="1666875" y="1285875"/>
                </a:cubicBezTo>
              </a:path>
            </a:pathLst>
          </a:custGeom>
          <a:noFill/>
          <a:ln w="19050">
            <a:solidFill>
              <a:srgbClr val="F79600"/>
            </a:solidFill>
            <a:custDash>
              <a:ds d="350000" sp="250000"/>
            </a:custDash>
          </a:ln>
        </p:spPr>
      </p:sp>
      <p:sp>
        <p:nvSpPr>
          <p:cNvPr id="36" name="TextBox 36"/>
          <p:cNvSpPr txBox="1"/>
          <p:nvPr/>
        </p:nvSpPr>
        <p:spPr>
          <a:xfrm>
            <a:off x="1422273" y="3990975"/>
            <a:ext cx="1736090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8A5200"/>
                </a:solidFill>
                <a:latin typeface="Microsoft YaHei"/>
                <a:ea typeface="Microsoft YaHei"/>
                <a:cs typeface="Microsoft YaHei"/>
              </a:rPr>
              <a:t>未解决问题进入下一轮</a:t>
            </a:r>
          </a:p>
        </p:txBody>
      </p:sp>
      <p:sp>
        <p:nvSpPr>
          <p:cNvPr id="37" name="note27"/>
          <p:cNvSpPr/>
          <p:nvPr/>
        </p:nvSpPr>
        <p:spPr>
          <a:xfrm>
            <a:off x="952500" y="5953125"/>
            <a:ext cx="10287000" cy="381000"/>
          </a:xfrm>
          <a:prstGeom prst="roundRect">
            <a:avLst>
              <a:gd name="adj" fmla="val 22500"/>
            </a:avLst>
          </a:prstGeom>
          <a:solidFill>
            <a:srgbClr val="F3F6F8"/>
          </a:solidFill>
          <a:ln w="14288">
            <a:solidFill>
              <a:srgbClr val="808080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1231773" y="6057900"/>
            <a:ext cx="4558067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Check 与 Act 不是终点：检查结果决定标准化或继续改进。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904875" y="695325"/>
            <a:ext cx="10382250" cy="9525"/>
          </a:xfrm>
          <a:custGeom>
            <a:avLst/>
            <a:gdLst/>
            <a:ahLst/>
            <a:cxnLst/>
            <a:rect l="l" t="t" r="r" b="b"/>
            <a:pathLst>
              <a:path w="10382250" h="9525">
                <a:moveTo>
                  <a:pt x="0" y="0"/>
                </a:moveTo>
                <a:lnTo>
                  <a:pt x="10382250" y="0"/>
                </a:lnTo>
              </a:path>
            </a:pathLst>
          </a:custGeom>
          <a:solidFill>
            <a:srgbClr val="000000"/>
          </a:solidFill>
          <a:ln w="9525">
            <a:solidFill>
              <a:srgbClr val="808080"/>
            </a:solidFill>
          </a:ln>
        </p:spPr>
      </p:sp>
      <p:sp>
        <p:nvSpPr>
          <p:cNvPr id="3" name="Freeform 3"/>
          <p:cNvSpPr/>
          <p:nvPr/>
        </p:nvSpPr>
        <p:spPr>
          <a:xfrm>
            <a:off x="352425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0" y="0"/>
                </a:moveTo>
                <a:lnTo>
                  <a:pt x="133350" y="76200"/>
                </a:lnTo>
                <a:lnTo>
                  <a:pt x="38100" y="171450"/>
                </a:lnTo>
                <a:lnTo>
                  <a:pt x="0" y="142875"/>
                </a:lnTo>
                <a:lnTo>
                  <a:pt x="7620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5DA2"/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476250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9525" y="0"/>
                </a:moveTo>
                <a:lnTo>
                  <a:pt x="133350" y="76200"/>
                </a:lnTo>
                <a:lnTo>
                  <a:pt x="38100" y="171450"/>
                </a:lnTo>
                <a:lnTo>
                  <a:pt x="0" y="142875"/>
                </a:lnTo>
                <a:lnTo>
                  <a:pt x="76200" y="76200"/>
                </a:lnTo>
                <a:lnTo>
                  <a:pt x="9525" y="0"/>
                </a:lnTo>
                <a:close/>
              </a:path>
            </a:pathLst>
          </a:custGeom>
          <a:solidFill>
            <a:srgbClr val="3992DB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609600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0" y="0"/>
                </a:moveTo>
                <a:lnTo>
                  <a:pt x="133350" y="76200"/>
                </a:lnTo>
                <a:lnTo>
                  <a:pt x="28575" y="171450"/>
                </a:lnTo>
                <a:lnTo>
                  <a:pt x="0" y="142875"/>
                </a:lnTo>
                <a:lnTo>
                  <a:pt x="66675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796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51941" y="120650"/>
            <a:ext cx="4920059" cy="572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920" b="1" dirty="0">
                <a:solidFill>
                  <a:srgbClr val="005DA2"/>
                </a:solidFill>
                <a:latin typeface="Microsoft YaHei"/>
                <a:ea typeface="Microsoft YaHei"/>
                <a:cs typeface="Microsoft YaHei"/>
              </a:rPr>
              <a:t>PDCA：应用范围与效果证据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59561" y="793750"/>
            <a:ext cx="42200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持续改进流程需要与问题复杂性和评价设计相匹配</a:t>
            </a:r>
          </a:p>
        </p:txBody>
      </p:sp>
      <p:grpSp>
        <p:nvGrpSpPr>
          <p:cNvPr id="15" name="application28"/>
          <p:cNvGrpSpPr/>
          <p:nvPr/>
        </p:nvGrpSpPr>
        <p:grpSpPr>
          <a:xfrm>
            <a:off x="619125" y="1428750"/>
            <a:ext cx="3333750" cy="3905250"/>
            <a:chOff x="619125" y="1428750"/>
            <a:chExt cx="3333750" cy="3905250"/>
          </a:xfrm>
        </p:grpSpPr>
        <p:sp>
          <p:nvSpPr>
            <p:cNvPr id="8" name="Rectangle 8"/>
            <p:cNvSpPr/>
            <p:nvPr/>
          </p:nvSpPr>
          <p:spPr>
            <a:xfrm>
              <a:off x="619125" y="1428750"/>
              <a:ext cx="3333750" cy="3905250"/>
            </a:xfrm>
            <a:prstGeom prst="roundRect">
              <a:avLst>
                <a:gd name="adj" fmla="val 5143"/>
              </a:avLst>
            </a:prstGeom>
            <a:solidFill>
              <a:srgbClr val="E7F1F8"/>
            </a:solidFill>
            <a:ln w="19050">
              <a:solidFill>
                <a:srgbClr val="005DA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619125" y="1428750"/>
              <a:ext cx="3333750" cy="704850"/>
            </a:xfrm>
            <a:prstGeom prst="roundRect">
              <a:avLst>
                <a:gd name="adj" fmla="val 24324"/>
              </a:avLst>
            </a:prstGeom>
            <a:solidFill>
              <a:srgbClr val="005DA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731848" y="1644650"/>
              <a:ext cx="11083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应用范围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92124" y="2524125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医院质量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92124" y="3095625"/>
              <a:ext cx="150489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感控与患者安全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92124" y="3667125"/>
              <a:ext cx="44140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护理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92124" y="4238625"/>
              <a:ext cx="171759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卫生服务质量治理</a:t>
              </a:r>
            </a:p>
          </p:txBody>
        </p:sp>
      </p:grpSp>
      <p:grpSp>
        <p:nvGrpSpPr>
          <p:cNvPr id="22" name="complexity28"/>
          <p:cNvGrpSpPr/>
          <p:nvPr/>
        </p:nvGrpSpPr>
        <p:grpSpPr>
          <a:xfrm>
            <a:off x="4429125" y="1428750"/>
            <a:ext cx="3333750" cy="3905250"/>
            <a:chOff x="4429125" y="1428750"/>
            <a:chExt cx="3333750" cy="3905250"/>
          </a:xfrm>
        </p:grpSpPr>
        <p:sp>
          <p:nvSpPr>
            <p:cNvPr id="16" name="Rectangle 16"/>
            <p:cNvSpPr/>
            <p:nvPr/>
          </p:nvSpPr>
          <p:spPr>
            <a:xfrm>
              <a:off x="4429125" y="1428750"/>
              <a:ext cx="3333750" cy="3905250"/>
            </a:xfrm>
            <a:prstGeom prst="roundRect">
              <a:avLst>
                <a:gd name="adj" fmla="val 5143"/>
              </a:avLst>
            </a:prstGeom>
            <a:solidFill>
              <a:srgbClr val="F5FAFD"/>
            </a:solidFill>
            <a:ln w="19050">
              <a:solidFill>
                <a:srgbClr val="3992DB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429125" y="1428750"/>
              <a:ext cx="3333750" cy="704850"/>
            </a:xfrm>
            <a:prstGeom prst="roundRect">
              <a:avLst>
                <a:gd name="adj" fmla="val 24324"/>
              </a:avLst>
            </a:prstGeom>
            <a:solidFill>
              <a:srgbClr val="3992D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405882" y="1644650"/>
              <a:ext cx="138023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复杂性约束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801743" y="270192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跨部门协作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801743" y="341630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多层级组织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801743" y="4130675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动态互动关系</a:t>
              </a:r>
            </a:p>
          </p:txBody>
        </p:sp>
      </p:grpSp>
      <p:grpSp>
        <p:nvGrpSpPr>
          <p:cNvPr id="29" name="evaluation28"/>
          <p:cNvGrpSpPr/>
          <p:nvPr/>
        </p:nvGrpSpPr>
        <p:grpSpPr>
          <a:xfrm>
            <a:off x="8239125" y="1428750"/>
            <a:ext cx="3333750" cy="3905250"/>
            <a:chOff x="8239125" y="1428750"/>
            <a:chExt cx="3333750" cy="3905250"/>
          </a:xfrm>
        </p:grpSpPr>
        <p:sp>
          <p:nvSpPr>
            <p:cNvPr id="23" name="Rectangle 23"/>
            <p:cNvSpPr/>
            <p:nvPr/>
          </p:nvSpPr>
          <p:spPr>
            <a:xfrm>
              <a:off x="8239125" y="1428750"/>
              <a:ext cx="3333750" cy="3905250"/>
            </a:xfrm>
            <a:prstGeom prst="roundRect">
              <a:avLst>
                <a:gd name="adj" fmla="val 5143"/>
              </a:avLst>
            </a:prstGeom>
            <a:solidFill>
              <a:srgbClr val="FFF4DF"/>
            </a:solidFill>
            <a:ln w="19050">
              <a:solidFill>
                <a:srgbClr val="F7960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239125" y="1428750"/>
              <a:ext cx="3333750" cy="704850"/>
            </a:xfrm>
            <a:prstGeom prst="roundRect">
              <a:avLst>
                <a:gd name="adj" fmla="val 24324"/>
              </a:avLst>
            </a:prstGeom>
            <a:solidFill>
              <a:srgbClr val="F79600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351848" y="1644650"/>
              <a:ext cx="11083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评价边界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12886" y="2536825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8A5200"/>
                  </a:solidFill>
                  <a:latin typeface="Microsoft YaHei"/>
                  <a:ea typeface="Microsoft YaHei"/>
                  <a:cs typeface="Microsoft YaHei"/>
                </a:rPr>
                <a:t>前后变化可能混有时间趋势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12886" y="3394075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8A5200"/>
                  </a:solidFill>
                  <a:latin typeface="Microsoft YaHei"/>
                  <a:ea typeface="Microsoft YaHei"/>
                  <a:cs typeface="Microsoft YaHei"/>
                </a:rPr>
                <a:t>局部改进不能直接推广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12886" y="4251325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8A5200"/>
                  </a:solidFill>
                  <a:latin typeface="Microsoft YaHei"/>
                  <a:ea typeface="Microsoft YaHei"/>
                  <a:cs typeface="Microsoft YaHei"/>
                </a:rPr>
                <a:t>效果需由评价设计判断</a:t>
              </a:r>
            </a:p>
          </p:txBody>
        </p:sp>
      </p:grpSp>
      <p:sp>
        <p:nvSpPr>
          <p:cNvPr id="30" name="note28"/>
          <p:cNvSpPr/>
          <p:nvPr/>
        </p:nvSpPr>
        <p:spPr>
          <a:xfrm>
            <a:off x="619125" y="5762625"/>
            <a:ext cx="10953750" cy="495300"/>
          </a:xfrm>
          <a:prstGeom prst="roundRect">
            <a:avLst>
              <a:gd name="adj" fmla="val 19231"/>
            </a:avLst>
          </a:prstGeom>
          <a:solidFill>
            <a:srgbClr val="F3F6F8"/>
          </a:solidFill>
          <a:ln w="14288">
            <a:solidFill>
              <a:srgbClr val="808080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897636" y="5899150"/>
            <a:ext cx="562016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PDCA适合组织持续改进流程；流程改进与效果评价属于不同问题。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904875" y="695325"/>
            <a:ext cx="10382250" cy="9525"/>
          </a:xfrm>
          <a:custGeom>
            <a:avLst/>
            <a:gdLst/>
            <a:ahLst/>
            <a:cxnLst/>
            <a:rect l="l" t="t" r="r" b="b"/>
            <a:pathLst>
              <a:path w="10382250" h="9525">
                <a:moveTo>
                  <a:pt x="0" y="0"/>
                </a:moveTo>
                <a:lnTo>
                  <a:pt x="10382250" y="0"/>
                </a:lnTo>
              </a:path>
            </a:pathLst>
          </a:custGeom>
          <a:solidFill>
            <a:srgbClr val="000000"/>
          </a:solidFill>
          <a:ln w="9525">
            <a:solidFill>
              <a:srgbClr val="808080"/>
            </a:solidFill>
          </a:ln>
        </p:spPr>
      </p:sp>
      <p:sp>
        <p:nvSpPr>
          <p:cNvPr id="3" name="Freeform 3"/>
          <p:cNvSpPr/>
          <p:nvPr/>
        </p:nvSpPr>
        <p:spPr>
          <a:xfrm>
            <a:off x="352425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0" y="0"/>
                </a:moveTo>
                <a:lnTo>
                  <a:pt x="133350" y="76200"/>
                </a:lnTo>
                <a:lnTo>
                  <a:pt x="38100" y="171450"/>
                </a:lnTo>
                <a:lnTo>
                  <a:pt x="0" y="142875"/>
                </a:lnTo>
                <a:lnTo>
                  <a:pt x="7620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5DA2"/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476250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9525" y="0"/>
                </a:moveTo>
                <a:lnTo>
                  <a:pt x="133350" y="76200"/>
                </a:lnTo>
                <a:lnTo>
                  <a:pt x="38100" y="171450"/>
                </a:lnTo>
                <a:lnTo>
                  <a:pt x="0" y="142875"/>
                </a:lnTo>
                <a:lnTo>
                  <a:pt x="76200" y="76200"/>
                </a:lnTo>
                <a:lnTo>
                  <a:pt x="9525" y="0"/>
                </a:lnTo>
                <a:close/>
              </a:path>
            </a:pathLst>
          </a:custGeom>
          <a:solidFill>
            <a:srgbClr val="3992DB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609600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0" y="0"/>
                </a:moveTo>
                <a:lnTo>
                  <a:pt x="133350" y="76200"/>
                </a:lnTo>
                <a:lnTo>
                  <a:pt x="28575" y="171450"/>
                </a:lnTo>
                <a:lnTo>
                  <a:pt x="0" y="142875"/>
                </a:lnTo>
                <a:lnTo>
                  <a:pt x="66675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796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51941" y="120650"/>
            <a:ext cx="5532984" cy="572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920" b="1" dirty="0">
                <a:solidFill>
                  <a:srgbClr val="005DA2"/>
                </a:solidFill>
                <a:latin typeface="Microsoft YaHei"/>
                <a:ea typeface="Microsoft YaHei"/>
                <a:cs typeface="Microsoft YaHei"/>
              </a:rPr>
              <a:t>卫生系统绩效：目标与五个维度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59561" y="793750"/>
            <a:ext cx="307304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系统绩效不能由单一可及性指标代表</a:t>
            </a:r>
          </a:p>
        </p:txBody>
      </p:sp>
      <p:grpSp>
        <p:nvGrpSpPr>
          <p:cNvPr id="13" name="health29"/>
          <p:cNvGrpSpPr/>
          <p:nvPr/>
        </p:nvGrpSpPr>
        <p:grpSpPr>
          <a:xfrm>
            <a:off x="571500" y="1428750"/>
            <a:ext cx="2095500" cy="3667125"/>
            <a:chOff x="571500" y="1428750"/>
            <a:chExt cx="2095500" cy="3667125"/>
          </a:xfrm>
        </p:grpSpPr>
        <p:sp>
          <p:nvSpPr>
            <p:cNvPr id="8" name="Rectangle 8"/>
            <p:cNvSpPr/>
            <p:nvPr/>
          </p:nvSpPr>
          <p:spPr>
            <a:xfrm>
              <a:off x="571500" y="1428750"/>
              <a:ext cx="2095500" cy="3667125"/>
            </a:xfrm>
            <a:prstGeom prst="roundRect">
              <a:avLst>
                <a:gd name="adj" fmla="val 7273"/>
              </a:avLst>
            </a:prstGeom>
            <a:solidFill>
              <a:srgbClr val="E7F1F8"/>
            </a:solidFill>
            <a:ln w="19050">
              <a:solidFill>
                <a:srgbClr val="005DA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428750"/>
              <a:ext cx="2095500" cy="685800"/>
            </a:xfrm>
            <a:prstGeom prst="roundRect">
              <a:avLst>
                <a:gd name="adj" fmla="val 22222"/>
              </a:avLst>
            </a:prstGeom>
            <a:solidFill>
              <a:srgbClr val="005DA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03554" y="1638300"/>
              <a:ext cx="103139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健康改善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97255" y="27749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人群健康状况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98017" y="33591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6666"/>
                  </a:solidFill>
                  <a:latin typeface="Microsoft YaHei"/>
                  <a:ea typeface="Microsoft YaHei"/>
                  <a:cs typeface="Microsoft YaHei"/>
                </a:rPr>
                <a:t>结果目标</a:t>
              </a:r>
            </a:p>
          </p:txBody>
        </p:sp>
      </p:grpSp>
      <p:grpSp>
        <p:nvGrpSpPr>
          <p:cNvPr id="19" name="equity29"/>
          <p:cNvGrpSpPr/>
          <p:nvPr/>
        </p:nvGrpSpPr>
        <p:grpSpPr>
          <a:xfrm>
            <a:off x="2857500" y="1428750"/>
            <a:ext cx="2095500" cy="3667125"/>
            <a:chOff x="2857500" y="1428750"/>
            <a:chExt cx="2095500" cy="3667125"/>
          </a:xfrm>
        </p:grpSpPr>
        <p:sp>
          <p:nvSpPr>
            <p:cNvPr id="14" name="Rectangle 14"/>
            <p:cNvSpPr/>
            <p:nvPr/>
          </p:nvSpPr>
          <p:spPr>
            <a:xfrm>
              <a:off x="2857500" y="1428750"/>
              <a:ext cx="2095500" cy="3667125"/>
            </a:xfrm>
            <a:prstGeom prst="roundRect">
              <a:avLst>
                <a:gd name="adj" fmla="val 7273"/>
              </a:avLst>
            </a:prstGeom>
            <a:solidFill>
              <a:srgbClr val="F5FAFD"/>
            </a:solidFill>
            <a:ln w="19050">
              <a:solidFill>
                <a:srgbClr val="3992DB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2857500" y="1428750"/>
              <a:ext cx="2095500" cy="685800"/>
            </a:xfrm>
            <a:prstGeom prst="roundRect">
              <a:avLst>
                <a:gd name="adj" fmla="val 22222"/>
              </a:avLst>
            </a:prstGeom>
            <a:solidFill>
              <a:srgbClr val="3992D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516097" y="1638300"/>
              <a:ext cx="778307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公平性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183255" y="27749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健康公平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183255" y="33464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服务公平</a:t>
              </a:r>
            </a:p>
          </p:txBody>
        </p:sp>
      </p:grpSp>
      <p:grpSp>
        <p:nvGrpSpPr>
          <p:cNvPr id="25" name="responsive29"/>
          <p:cNvGrpSpPr/>
          <p:nvPr/>
        </p:nvGrpSpPr>
        <p:grpSpPr>
          <a:xfrm>
            <a:off x="5143500" y="1428750"/>
            <a:ext cx="2095500" cy="3667125"/>
            <a:chOff x="5143500" y="1428750"/>
            <a:chExt cx="2095500" cy="3667125"/>
          </a:xfrm>
        </p:grpSpPr>
        <p:sp>
          <p:nvSpPr>
            <p:cNvPr id="20" name="Rectangle 20"/>
            <p:cNvSpPr/>
            <p:nvPr/>
          </p:nvSpPr>
          <p:spPr>
            <a:xfrm>
              <a:off x="5143500" y="1428750"/>
              <a:ext cx="2095500" cy="3667125"/>
            </a:xfrm>
            <a:prstGeom prst="roundRect">
              <a:avLst>
                <a:gd name="adj" fmla="val 7273"/>
              </a:avLst>
            </a:prstGeom>
            <a:solidFill>
              <a:srgbClr val="E7F1F8"/>
            </a:solidFill>
            <a:ln w="19050">
              <a:solidFill>
                <a:srgbClr val="005DA2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143500" y="1428750"/>
              <a:ext cx="2095500" cy="685800"/>
            </a:xfrm>
            <a:prstGeom prst="roundRect">
              <a:avLst>
                <a:gd name="adj" fmla="val 22222"/>
              </a:avLst>
            </a:prstGeom>
            <a:solidFill>
              <a:srgbClr val="005DA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802097" y="1638300"/>
              <a:ext cx="778307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反应性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469636" y="2774950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非医疗需求响应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470017" y="335915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6666"/>
                  </a:solidFill>
                  <a:latin typeface="Microsoft YaHei"/>
                  <a:ea typeface="Microsoft YaHei"/>
                  <a:cs typeface="Microsoft YaHei"/>
                </a:rPr>
                <a:t>服务体验与尊重</a:t>
              </a:r>
            </a:p>
          </p:txBody>
        </p:sp>
      </p:grpSp>
      <p:grpSp>
        <p:nvGrpSpPr>
          <p:cNvPr id="31" name="finance29"/>
          <p:cNvGrpSpPr/>
          <p:nvPr/>
        </p:nvGrpSpPr>
        <p:grpSpPr>
          <a:xfrm>
            <a:off x="7429500" y="1428750"/>
            <a:ext cx="2095500" cy="3667125"/>
            <a:chOff x="7429500" y="1428750"/>
            <a:chExt cx="2095500" cy="3667125"/>
          </a:xfrm>
        </p:grpSpPr>
        <p:sp>
          <p:nvSpPr>
            <p:cNvPr id="26" name="Rectangle 26"/>
            <p:cNvSpPr/>
            <p:nvPr/>
          </p:nvSpPr>
          <p:spPr>
            <a:xfrm>
              <a:off x="7429500" y="1428750"/>
              <a:ext cx="2095500" cy="3667125"/>
            </a:xfrm>
            <a:prstGeom prst="roundRect">
              <a:avLst>
                <a:gd name="adj" fmla="val 7273"/>
              </a:avLst>
            </a:prstGeom>
            <a:solidFill>
              <a:srgbClr val="F5FAFD"/>
            </a:solidFill>
            <a:ln w="19050">
              <a:solidFill>
                <a:srgbClr val="3992DB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7429500" y="1428750"/>
              <a:ext cx="2095500" cy="685800"/>
            </a:xfrm>
            <a:prstGeom prst="roundRect">
              <a:avLst>
                <a:gd name="adj" fmla="val 22222"/>
              </a:avLst>
            </a:prstGeom>
            <a:solidFill>
              <a:srgbClr val="3992D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913561" y="166370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筹资公平性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56017" y="278765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费用负担分配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56017" y="335915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财务风险保护</a:t>
              </a:r>
            </a:p>
          </p:txBody>
        </p:sp>
      </p:grpSp>
      <p:grpSp>
        <p:nvGrpSpPr>
          <p:cNvPr id="37" name="efficiency29"/>
          <p:cNvGrpSpPr/>
          <p:nvPr/>
        </p:nvGrpSpPr>
        <p:grpSpPr>
          <a:xfrm>
            <a:off x="9715500" y="1428750"/>
            <a:ext cx="1905000" cy="3667125"/>
            <a:chOff x="9715500" y="1428750"/>
            <a:chExt cx="1905000" cy="3667125"/>
          </a:xfrm>
        </p:grpSpPr>
        <p:sp>
          <p:nvSpPr>
            <p:cNvPr id="32" name="Rectangle 32"/>
            <p:cNvSpPr/>
            <p:nvPr/>
          </p:nvSpPr>
          <p:spPr>
            <a:xfrm>
              <a:off x="9715500" y="1428750"/>
              <a:ext cx="1905000" cy="3667125"/>
            </a:xfrm>
            <a:prstGeom prst="roundRect">
              <a:avLst>
                <a:gd name="adj" fmla="val 8000"/>
              </a:avLst>
            </a:prstGeom>
            <a:solidFill>
              <a:srgbClr val="FFF4DF"/>
            </a:solidFill>
            <a:ln w="19050">
              <a:solidFill>
                <a:srgbClr val="F79600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9715500" y="1428750"/>
              <a:ext cx="1905000" cy="685800"/>
            </a:xfrm>
            <a:prstGeom prst="roundRect">
              <a:avLst>
                <a:gd name="adj" fmla="val 22222"/>
              </a:avLst>
            </a:prstGeom>
            <a:solidFill>
              <a:srgbClr val="F79600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405389" y="1638300"/>
              <a:ext cx="52522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效率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041636" y="2774950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8A5200"/>
                  </a:solidFill>
                  <a:latin typeface="Microsoft YaHei"/>
                  <a:ea typeface="Microsoft YaHei"/>
                  <a:cs typeface="Microsoft YaHei"/>
                </a:rPr>
                <a:t>技术效率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041636" y="3346450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8A5200"/>
                  </a:solidFill>
                  <a:latin typeface="Microsoft YaHei"/>
                  <a:ea typeface="Microsoft YaHei"/>
                  <a:cs typeface="Microsoft YaHei"/>
                </a:rPr>
                <a:t>配置效率</a:t>
              </a:r>
            </a:p>
          </p:txBody>
        </p:sp>
      </p:grpSp>
      <p:sp>
        <p:nvSpPr>
          <p:cNvPr id="38" name="note29"/>
          <p:cNvSpPr/>
          <p:nvPr/>
        </p:nvSpPr>
        <p:spPr>
          <a:xfrm>
            <a:off x="571500" y="5619750"/>
            <a:ext cx="11049000" cy="552450"/>
          </a:xfrm>
          <a:prstGeom prst="roundRect">
            <a:avLst>
              <a:gd name="adj" fmla="val 17241"/>
            </a:avLst>
          </a:prstGeom>
          <a:solidFill>
            <a:srgbClr val="F3F6F8"/>
          </a:solidFill>
          <a:ln w="14288">
            <a:solidFill>
              <a:srgbClr val="808080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850392" y="5788025"/>
            <a:ext cx="601103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教材归纳口径：五个维度并列呈现，不表示固定评价顺序或单一经典版本。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904875" y="695325"/>
            <a:ext cx="10382250" cy="9525"/>
          </a:xfrm>
          <a:custGeom>
            <a:avLst/>
            <a:gdLst/>
            <a:ahLst/>
            <a:cxnLst/>
            <a:rect l="l" t="t" r="r" b="b"/>
            <a:pathLst>
              <a:path w="10382250" h="9525">
                <a:moveTo>
                  <a:pt x="0" y="0"/>
                </a:moveTo>
                <a:lnTo>
                  <a:pt x="10382250" y="0"/>
                </a:lnTo>
              </a:path>
            </a:pathLst>
          </a:custGeom>
          <a:solidFill>
            <a:srgbClr val="000000"/>
          </a:solidFill>
          <a:ln w="9525">
            <a:solidFill>
              <a:srgbClr val="808080"/>
            </a:solidFill>
          </a:ln>
        </p:spPr>
      </p:sp>
      <p:sp>
        <p:nvSpPr>
          <p:cNvPr id="3" name="Freeform 3"/>
          <p:cNvSpPr/>
          <p:nvPr/>
        </p:nvSpPr>
        <p:spPr>
          <a:xfrm>
            <a:off x="352425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0" y="0"/>
                </a:moveTo>
                <a:lnTo>
                  <a:pt x="133350" y="76200"/>
                </a:lnTo>
                <a:lnTo>
                  <a:pt x="38100" y="171450"/>
                </a:lnTo>
                <a:lnTo>
                  <a:pt x="0" y="142875"/>
                </a:lnTo>
                <a:lnTo>
                  <a:pt x="7620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5DA2"/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476250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9525" y="0"/>
                </a:moveTo>
                <a:lnTo>
                  <a:pt x="133350" y="76200"/>
                </a:lnTo>
                <a:lnTo>
                  <a:pt x="38100" y="171450"/>
                </a:lnTo>
                <a:lnTo>
                  <a:pt x="0" y="142875"/>
                </a:lnTo>
                <a:lnTo>
                  <a:pt x="76200" y="76200"/>
                </a:lnTo>
                <a:lnTo>
                  <a:pt x="9525" y="0"/>
                </a:lnTo>
                <a:close/>
              </a:path>
            </a:pathLst>
          </a:custGeom>
          <a:solidFill>
            <a:srgbClr val="3992DB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609600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0" y="0"/>
                </a:moveTo>
                <a:lnTo>
                  <a:pt x="133350" y="76200"/>
                </a:lnTo>
                <a:lnTo>
                  <a:pt x="28575" y="171450"/>
                </a:lnTo>
                <a:lnTo>
                  <a:pt x="0" y="142875"/>
                </a:lnTo>
                <a:lnTo>
                  <a:pt x="66675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796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51941" y="120650"/>
            <a:ext cx="5926074" cy="572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920" b="1" dirty="0">
                <a:solidFill>
                  <a:srgbClr val="005DA2"/>
                </a:solidFill>
                <a:latin typeface="Microsoft YaHei"/>
                <a:ea typeface="Microsoft YaHei"/>
                <a:cs typeface="Microsoft YaHei"/>
              </a:rPr>
              <a:t>卫生系统绩效：指标、用途与约束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59561" y="793750"/>
            <a:ext cx="42200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指标既要反映目标，也要适配资料条件与发展阶段</a:t>
            </a:r>
          </a:p>
        </p:txBody>
      </p:sp>
      <p:grpSp>
        <p:nvGrpSpPr>
          <p:cNvPr id="32" name="table30"/>
          <p:cNvGrpSpPr/>
          <p:nvPr/>
        </p:nvGrpSpPr>
        <p:grpSpPr>
          <a:xfrm>
            <a:off x="666750" y="1381125"/>
            <a:ext cx="10572750" cy="3209925"/>
            <a:chOff x="666750" y="1381125"/>
            <a:chExt cx="10572750" cy="3209925"/>
          </a:xfrm>
        </p:grpSpPr>
        <p:sp>
          <p:nvSpPr>
            <p:cNvPr id="8" name="Rectangle 8"/>
            <p:cNvSpPr/>
            <p:nvPr/>
          </p:nvSpPr>
          <p:spPr>
            <a:xfrm>
              <a:off x="666750" y="1381125"/>
              <a:ext cx="3429000" cy="590550"/>
            </a:xfrm>
            <a:prstGeom prst="rect">
              <a:avLst/>
            </a:prstGeom>
            <a:solidFill>
              <a:srgbClr val="005DA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4095750" y="1381125"/>
              <a:ext cx="7143750" cy="590550"/>
            </a:xfrm>
            <a:prstGeom prst="rect">
              <a:avLst/>
            </a:prstGeom>
            <a:solidFill>
              <a:srgbClr val="3992D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887474" y="154622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绩效维度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46901" y="1546225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指标示例（教材口径）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66750" y="1971675"/>
              <a:ext cx="3429000" cy="523875"/>
            </a:xfrm>
            <a:prstGeom prst="rect">
              <a:avLst/>
            </a:prstGeom>
            <a:solidFill>
              <a:srgbClr val="E7F1F8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095750" y="1971675"/>
              <a:ext cx="7143750" cy="523875"/>
            </a:xfrm>
            <a:prstGeom prst="rect">
              <a:avLst/>
            </a:prstGeom>
            <a:solidFill>
              <a:srgbClr val="F5FAFD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12725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健康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74261" y="2127250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期望寿命、疾病结局等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66750" y="2495550"/>
              <a:ext cx="3429000" cy="523875"/>
            </a:xfrm>
            <a:prstGeom prst="rect">
              <a:avLst/>
            </a:prstGeom>
            <a:solidFill>
              <a:srgbClr val="F5FAFD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095750" y="2495550"/>
              <a:ext cx="7143750" cy="5238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26511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公平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74261" y="2651125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不同群体健康和服务利用差异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66750" y="3019425"/>
              <a:ext cx="3429000" cy="523875"/>
            </a:xfrm>
            <a:prstGeom prst="rect">
              <a:avLst/>
            </a:prstGeom>
            <a:solidFill>
              <a:srgbClr val="E7F1F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095750" y="3019425"/>
              <a:ext cx="7143750" cy="523875"/>
            </a:xfrm>
            <a:prstGeom prst="rect">
              <a:avLst/>
            </a:prstGeom>
            <a:solidFill>
              <a:srgbClr val="F5FAFD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4880" y="317500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反应性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374261" y="3175000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尊严、自主、保密、及时、设施质量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66750" y="3543300"/>
              <a:ext cx="3429000" cy="523875"/>
            </a:xfrm>
            <a:prstGeom prst="rect">
              <a:avLst/>
            </a:prstGeom>
            <a:solidFill>
              <a:srgbClr val="F5FAFD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095750" y="3543300"/>
              <a:ext cx="7143750" cy="5238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44880" y="36988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筹资公平性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74261" y="3698875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支出负担与医疗致贫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66750" y="4067175"/>
              <a:ext cx="3429000" cy="523875"/>
            </a:xfrm>
            <a:prstGeom prst="rect">
              <a:avLst/>
            </a:prstGeom>
            <a:solidFill>
              <a:srgbClr val="E7F1F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095750" y="4067175"/>
              <a:ext cx="7143750" cy="523875"/>
            </a:xfrm>
            <a:prstGeom prst="rect">
              <a:avLst/>
            </a:prstGeom>
            <a:solidFill>
              <a:srgbClr val="F5FAFD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44880" y="422275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效率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374261" y="4222750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投入产出、资源配置</a:t>
              </a:r>
            </a:p>
          </p:txBody>
        </p:sp>
      </p:grpSp>
      <p:grpSp>
        <p:nvGrpSpPr>
          <p:cNvPr id="37" name="use30"/>
          <p:cNvGrpSpPr/>
          <p:nvPr/>
        </p:nvGrpSpPr>
        <p:grpSpPr>
          <a:xfrm>
            <a:off x="666750" y="4953000"/>
            <a:ext cx="4953000" cy="952500"/>
            <a:chOff x="666750" y="4953000"/>
            <a:chExt cx="4953000" cy="952500"/>
          </a:xfrm>
        </p:grpSpPr>
        <p:sp>
          <p:nvSpPr>
            <p:cNvPr id="33" name="Rectangle 33"/>
            <p:cNvSpPr/>
            <p:nvPr/>
          </p:nvSpPr>
          <p:spPr>
            <a:xfrm>
              <a:off x="666750" y="4953000"/>
              <a:ext cx="4953000" cy="952500"/>
            </a:xfrm>
            <a:prstGeom prst="roundRect">
              <a:avLst>
                <a:gd name="adj" fmla="val 14000"/>
              </a:avLst>
            </a:prstGeom>
            <a:solidFill>
              <a:srgbClr val="E7F1F8"/>
            </a:solidFill>
            <a:ln w="19050">
              <a:solidFill>
                <a:srgbClr val="005DA2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44499" y="5124450"/>
              <a:ext cx="44140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用途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802892" y="514985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国家区域诊断与改革监测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46404" y="550545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Microsoft YaHei"/>
                  <a:ea typeface="Microsoft YaHei"/>
                  <a:cs typeface="Microsoft YaHei"/>
                </a:rPr>
                <a:t>指标用于组织判断，不自动提供因果归因。</a:t>
              </a:r>
            </a:p>
          </p:txBody>
        </p:sp>
      </p:grpSp>
      <p:grpSp>
        <p:nvGrpSpPr>
          <p:cNvPr id="42" name="limits30"/>
          <p:cNvGrpSpPr/>
          <p:nvPr/>
        </p:nvGrpSpPr>
        <p:grpSpPr>
          <a:xfrm>
            <a:off x="6000750" y="4953000"/>
            <a:ext cx="5238750" cy="952500"/>
            <a:chOff x="6000750" y="4953000"/>
            <a:chExt cx="5238750" cy="952500"/>
          </a:xfrm>
        </p:grpSpPr>
        <p:sp>
          <p:nvSpPr>
            <p:cNvPr id="38" name="Rectangle 38"/>
            <p:cNvSpPr/>
            <p:nvPr/>
          </p:nvSpPr>
          <p:spPr>
            <a:xfrm>
              <a:off x="6000750" y="4953000"/>
              <a:ext cx="5238750" cy="952500"/>
            </a:xfrm>
            <a:prstGeom prst="roundRect">
              <a:avLst>
                <a:gd name="adj" fmla="val 14000"/>
              </a:avLst>
            </a:prstGeom>
            <a:solidFill>
              <a:srgbClr val="FFF4DF"/>
            </a:solidFill>
            <a:ln w="19050">
              <a:solidFill>
                <a:srgbClr val="F79600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278499" y="5124450"/>
              <a:ext cx="44140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8A5200"/>
                  </a:solidFill>
                  <a:latin typeface="Microsoft YaHei"/>
                  <a:ea typeface="Microsoft YaHei"/>
                  <a:cs typeface="Microsoft YaHei"/>
                </a:rPr>
                <a:t>限制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136892" y="514985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连续资料要求与阶段适配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80404" y="550545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66666"/>
                  </a:solidFill>
                  <a:latin typeface="Microsoft YaHei"/>
                  <a:ea typeface="Microsoft YaHei"/>
                  <a:cs typeface="Microsoft YaHei"/>
                </a:rPr>
                <a:t>不生成国家排名、综合权重或政策成效。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904875" y="695325"/>
            <a:ext cx="10382250" cy="9525"/>
          </a:xfrm>
          <a:custGeom>
            <a:avLst/>
            <a:gdLst/>
            <a:ahLst/>
            <a:cxnLst/>
            <a:rect l="l" t="t" r="r" b="b"/>
            <a:pathLst>
              <a:path w="10382250" h="9525">
                <a:moveTo>
                  <a:pt x="0" y="0"/>
                </a:moveTo>
                <a:lnTo>
                  <a:pt x="10382250" y="0"/>
                </a:lnTo>
              </a:path>
            </a:pathLst>
          </a:custGeom>
          <a:solidFill>
            <a:srgbClr val="000000"/>
          </a:solidFill>
          <a:ln w="9525">
            <a:solidFill>
              <a:srgbClr val="808080"/>
            </a:solidFill>
          </a:ln>
        </p:spPr>
      </p:sp>
      <p:sp>
        <p:nvSpPr>
          <p:cNvPr id="3" name="Freeform 3"/>
          <p:cNvSpPr/>
          <p:nvPr/>
        </p:nvSpPr>
        <p:spPr>
          <a:xfrm>
            <a:off x="352425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0" y="0"/>
                </a:moveTo>
                <a:lnTo>
                  <a:pt x="133350" y="76200"/>
                </a:lnTo>
                <a:lnTo>
                  <a:pt x="38100" y="171450"/>
                </a:lnTo>
                <a:lnTo>
                  <a:pt x="0" y="142875"/>
                </a:lnTo>
                <a:lnTo>
                  <a:pt x="7620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005DA2"/>
          </a:soli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476250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9525" y="0"/>
                </a:moveTo>
                <a:lnTo>
                  <a:pt x="133350" y="76200"/>
                </a:lnTo>
                <a:lnTo>
                  <a:pt x="38100" y="171450"/>
                </a:lnTo>
                <a:lnTo>
                  <a:pt x="0" y="142875"/>
                </a:lnTo>
                <a:lnTo>
                  <a:pt x="76200" y="76200"/>
                </a:lnTo>
                <a:lnTo>
                  <a:pt x="9525" y="0"/>
                </a:lnTo>
                <a:close/>
              </a:path>
            </a:pathLst>
          </a:custGeom>
          <a:solidFill>
            <a:srgbClr val="3992DB"/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609600" y="361950"/>
            <a:ext cx="133350" cy="171450"/>
          </a:xfrm>
          <a:custGeom>
            <a:avLst/>
            <a:gdLst/>
            <a:ahLst/>
            <a:cxnLst/>
            <a:rect l="l" t="t" r="r" b="b"/>
            <a:pathLst>
              <a:path w="133350" h="171450">
                <a:moveTo>
                  <a:pt x="0" y="0"/>
                </a:moveTo>
                <a:lnTo>
                  <a:pt x="133350" y="76200"/>
                </a:lnTo>
                <a:lnTo>
                  <a:pt x="28575" y="171450"/>
                </a:lnTo>
                <a:lnTo>
                  <a:pt x="0" y="142875"/>
                </a:lnTo>
                <a:lnTo>
                  <a:pt x="66675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F7960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51941" y="120650"/>
            <a:ext cx="3960622" cy="5720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920" b="1" dirty="0">
                <a:solidFill>
                  <a:srgbClr val="005DA2"/>
                </a:solidFill>
                <a:latin typeface="Microsoft YaHei"/>
                <a:ea typeface="Microsoft YaHei"/>
                <a:cs typeface="Microsoft YaHei"/>
              </a:rPr>
              <a:t>结果链：从投入到影响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59561" y="793750"/>
            <a:ext cx="364652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产出、结果与影响在对象和时间范围上不同</a:t>
            </a:r>
          </a:p>
        </p:txBody>
      </p:sp>
      <p:grpSp>
        <p:nvGrpSpPr>
          <p:cNvPr id="14" name="inputs31"/>
          <p:cNvGrpSpPr/>
          <p:nvPr/>
        </p:nvGrpSpPr>
        <p:grpSpPr>
          <a:xfrm>
            <a:off x="428625" y="2095500"/>
            <a:ext cx="2000250" cy="2190750"/>
            <a:chOff x="428625" y="2095500"/>
            <a:chExt cx="2000250" cy="2190750"/>
          </a:xfrm>
        </p:grpSpPr>
        <p:sp>
          <p:nvSpPr>
            <p:cNvPr id="8" name="Rectangle 8"/>
            <p:cNvSpPr/>
            <p:nvPr/>
          </p:nvSpPr>
          <p:spPr>
            <a:xfrm>
              <a:off x="428625" y="2095500"/>
              <a:ext cx="2000250" cy="2190750"/>
            </a:xfrm>
            <a:prstGeom prst="roundRect">
              <a:avLst>
                <a:gd name="adj" fmla="val 7619"/>
              </a:avLst>
            </a:prstGeom>
            <a:solidFill>
              <a:srgbClr val="E7F1F8"/>
            </a:solidFill>
            <a:ln w="19050">
              <a:solidFill>
                <a:srgbClr val="005DA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428625" y="2095500"/>
              <a:ext cx="2000250" cy="666750"/>
            </a:xfrm>
            <a:prstGeom prst="roundRect">
              <a:avLst>
                <a:gd name="adj" fmla="val 22857"/>
              </a:avLst>
            </a:prstGeom>
            <a:solidFill>
              <a:srgbClr val="005DA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66139" y="2276475"/>
              <a:ext cx="52522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投入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15728" y="2574925"/>
              <a:ext cx="4260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DDEEFF"/>
                  </a:solidFill>
                  <a:latin typeface="Arial"/>
                  <a:ea typeface="Arial"/>
                  <a:cs typeface="Arial"/>
                </a:rPr>
                <a:t>Inputs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7517" y="316865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人力与资金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7517" y="359727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设备和技术</a:t>
              </a:r>
            </a:p>
          </p:txBody>
        </p:sp>
      </p:grpSp>
      <p:grpSp>
        <p:nvGrpSpPr>
          <p:cNvPr id="21" name="activities31"/>
          <p:cNvGrpSpPr/>
          <p:nvPr/>
        </p:nvGrpSpPr>
        <p:grpSpPr>
          <a:xfrm>
            <a:off x="2714625" y="2095500"/>
            <a:ext cx="2000250" cy="2190750"/>
            <a:chOff x="2714625" y="2095500"/>
            <a:chExt cx="2000250" cy="2190750"/>
          </a:xfrm>
        </p:grpSpPr>
        <p:sp>
          <p:nvSpPr>
            <p:cNvPr id="15" name="Rectangle 15"/>
            <p:cNvSpPr/>
            <p:nvPr/>
          </p:nvSpPr>
          <p:spPr>
            <a:xfrm>
              <a:off x="2714625" y="2095500"/>
              <a:ext cx="2000250" cy="2190750"/>
            </a:xfrm>
            <a:prstGeom prst="roundRect">
              <a:avLst>
                <a:gd name="adj" fmla="val 7619"/>
              </a:avLst>
            </a:prstGeom>
            <a:solidFill>
              <a:srgbClr val="F5FAFD"/>
            </a:solidFill>
            <a:ln w="19050">
              <a:solidFill>
                <a:srgbClr val="3992DB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714625" y="2095500"/>
              <a:ext cx="2000250" cy="666750"/>
            </a:xfrm>
            <a:prstGeom prst="roundRect">
              <a:avLst>
                <a:gd name="adj" fmla="val 22857"/>
              </a:avLst>
            </a:prstGeom>
            <a:solidFill>
              <a:srgbClr val="3992D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452139" y="2276475"/>
              <a:ext cx="52522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活动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09919" y="2574925"/>
              <a:ext cx="609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EAF6FF"/>
                  </a:solidFill>
                  <a:latin typeface="Arial"/>
                  <a:ea typeface="Arial"/>
                  <a:cs typeface="Arial"/>
                </a:rPr>
                <a:t>Activities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93517" y="316865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将投入转化为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993517" y="359727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产出的行动</a:t>
              </a:r>
            </a:p>
          </p:txBody>
        </p:sp>
      </p:grpSp>
      <p:grpSp>
        <p:nvGrpSpPr>
          <p:cNvPr id="28" name="outputs31"/>
          <p:cNvGrpSpPr/>
          <p:nvPr/>
        </p:nvGrpSpPr>
        <p:grpSpPr>
          <a:xfrm>
            <a:off x="5000625" y="2095500"/>
            <a:ext cx="2000250" cy="2190750"/>
            <a:chOff x="5000625" y="2095500"/>
            <a:chExt cx="2000250" cy="2190750"/>
          </a:xfrm>
        </p:grpSpPr>
        <p:sp>
          <p:nvSpPr>
            <p:cNvPr id="22" name="Rectangle 22"/>
            <p:cNvSpPr/>
            <p:nvPr/>
          </p:nvSpPr>
          <p:spPr>
            <a:xfrm>
              <a:off x="5000625" y="2095500"/>
              <a:ext cx="2000250" cy="2190750"/>
            </a:xfrm>
            <a:prstGeom prst="roundRect">
              <a:avLst>
                <a:gd name="adj" fmla="val 7619"/>
              </a:avLst>
            </a:prstGeom>
            <a:solidFill>
              <a:srgbClr val="E7F1F8"/>
            </a:solidFill>
            <a:ln w="19050">
              <a:solidFill>
                <a:srgbClr val="005DA2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000625" y="2095500"/>
              <a:ext cx="2000250" cy="666750"/>
            </a:xfrm>
            <a:prstGeom prst="roundRect">
              <a:avLst>
                <a:gd name="adj" fmla="val 22857"/>
              </a:avLst>
            </a:prstGeom>
            <a:solidFill>
              <a:srgbClr val="005DA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738139" y="2276475"/>
              <a:ext cx="52522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产出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728894" y="2574925"/>
              <a:ext cx="543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DDEEFF"/>
                  </a:solidFill>
                  <a:latin typeface="Arial"/>
                  <a:ea typeface="Arial"/>
                  <a:cs typeface="Arial"/>
                </a:rPr>
                <a:t>Outputs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79517" y="316865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活动的直接成果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79898" y="3609975"/>
              <a:ext cx="104683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66666"/>
                  </a:solidFill>
                  <a:latin typeface="Microsoft YaHei"/>
                  <a:ea typeface="Microsoft YaHei"/>
                  <a:cs typeface="Microsoft YaHei"/>
                </a:rPr>
                <a:t>偏服务提供方</a:t>
              </a:r>
            </a:p>
          </p:txBody>
        </p:sp>
      </p:grpSp>
      <p:grpSp>
        <p:nvGrpSpPr>
          <p:cNvPr id="35" name="outcomes31"/>
          <p:cNvGrpSpPr/>
          <p:nvPr/>
        </p:nvGrpSpPr>
        <p:grpSpPr>
          <a:xfrm>
            <a:off x="7286625" y="2095500"/>
            <a:ext cx="2000250" cy="2190750"/>
            <a:chOff x="7286625" y="2095500"/>
            <a:chExt cx="2000250" cy="2190750"/>
          </a:xfrm>
        </p:grpSpPr>
        <p:sp>
          <p:nvSpPr>
            <p:cNvPr id="29" name="Rectangle 29"/>
            <p:cNvSpPr/>
            <p:nvPr/>
          </p:nvSpPr>
          <p:spPr>
            <a:xfrm>
              <a:off x="7286625" y="2095500"/>
              <a:ext cx="2000250" cy="2190750"/>
            </a:xfrm>
            <a:prstGeom prst="roundRect">
              <a:avLst>
                <a:gd name="adj" fmla="val 7619"/>
              </a:avLst>
            </a:prstGeom>
            <a:solidFill>
              <a:srgbClr val="F5FAFD"/>
            </a:solidFill>
            <a:ln w="19050">
              <a:solidFill>
                <a:srgbClr val="3992DB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7286625" y="2095500"/>
              <a:ext cx="2000250" cy="666750"/>
            </a:xfrm>
            <a:prstGeom prst="roundRect">
              <a:avLst>
                <a:gd name="adj" fmla="val 22857"/>
              </a:avLst>
            </a:prstGeom>
            <a:solidFill>
              <a:srgbClr val="3992D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24139" y="2276475"/>
              <a:ext cx="52522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结果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35050" y="2574925"/>
              <a:ext cx="7034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EAF6FF"/>
                  </a:solidFill>
                  <a:latin typeface="Arial"/>
                  <a:ea typeface="Arial"/>
                  <a:cs typeface="Arial"/>
                </a:rPr>
                <a:t>Outcomes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65517" y="316865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05DA2"/>
                  </a:solidFill>
                  <a:latin typeface="Microsoft YaHei"/>
                  <a:ea typeface="Microsoft YaHei"/>
                  <a:cs typeface="Microsoft YaHei"/>
                </a:rPr>
                <a:t>受益方变化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65898" y="3609975"/>
              <a:ext cx="144315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666666"/>
                  </a:solidFill>
                  <a:latin typeface="Microsoft YaHei"/>
                  <a:ea typeface="Microsoft YaHei"/>
                  <a:cs typeface="Microsoft YaHei"/>
                </a:rPr>
                <a:t>短期 · 中期 · 长期</a:t>
              </a:r>
            </a:p>
          </p:txBody>
        </p:sp>
      </p:grpSp>
      <p:grpSp>
        <p:nvGrpSpPr>
          <p:cNvPr id="42" name="impact31"/>
          <p:cNvGrpSpPr/>
          <p:nvPr/>
        </p:nvGrpSpPr>
        <p:grpSpPr>
          <a:xfrm>
            <a:off x="9572625" y="2095500"/>
            <a:ext cx="2190750" cy="2190750"/>
            <a:chOff x="9572625" y="2095500"/>
            <a:chExt cx="2190750" cy="2190750"/>
          </a:xfrm>
        </p:grpSpPr>
        <p:sp>
          <p:nvSpPr>
            <p:cNvPr id="36" name="Rectangle 36"/>
            <p:cNvSpPr/>
            <p:nvPr/>
          </p:nvSpPr>
          <p:spPr>
            <a:xfrm>
              <a:off x="9572625" y="2095500"/>
              <a:ext cx="2190750" cy="2190750"/>
            </a:xfrm>
            <a:prstGeom prst="roundRect">
              <a:avLst>
                <a:gd name="adj" fmla="val 6957"/>
              </a:avLst>
            </a:prstGeom>
            <a:solidFill>
              <a:srgbClr val="FFF4DF"/>
            </a:solidFill>
            <a:ln w="19050">
              <a:solidFill>
                <a:srgbClr val="F79600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9572625" y="2095500"/>
              <a:ext cx="2190750" cy="666750"/>
            </a:xfrm>
            <a:prstGeom prst="roundRect">
              <a:avLst>
                <a:gd name="adj" fmla="val 22857"/>
              </a:avLst>
            </a:prstGeom>
            <a:solidFill>
              <a:srgbClr val="F796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405389" y="2276475"/>
              <a:ext cx="52522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影响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433914" y="2574925"/>
              <a:ext cx="4681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FFF5DD"/>
                  </a:solidFill>
                  <a:latin typeface="Arial"/>
                  <a:ea typeface="Arial"/>
                  <a:cs typeface="Arial"/>
                </a:rPr>
                <a:t>Impact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851517" y="31686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A5200"/>
                  </a:solidFill>
                  <a:latin typeface="Microsoft YaHei"/>
                  <a:ea typeface="Microsoft YaHei"/>
                  <a:cs typeface="Microsoft YaHei"/>
                </a:rPr>
                <a:t>长期健康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851517" y="359727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A5200"/>
                  </a:solidFill>
                  <a:latin typeface="Microsoft YaHei"/>
                  <a:ea typeface="Microsoft YaHei"/>
                  <a:cs typeface="Microsoft YaHei"/>
                </a:rPr>
                <a:t>疾病负担或财务保护</a:t>
              </a:r>
            </a:p>
          </p:txBody>
        </p:sp>
      </p:grpSp>
      <p:grpSp>
        <p:nvGrpSpPr>
          <p:cNvPr id="47" name="arrows31"/>
          <p:cNvGrpSpPr/>
          <p:nvPr/>
        </p:nvGrpSpPr>
        <p:grpSpPr>
          <a:xfrm>
            <a:off x="2428875" y="3190875"/>
            <a:ext cx="7143750" cy="9525"/>
            <a:chOff x="2428875" y="3190875"/>
            <a:chExt cx="7143750" cy="9525"/>
          </a:xfrm>
        </p:grpSpPr>
        <p:sp>
          <p:nvSpPr>
            <p:cNvPr id="43" name="Freeform 43"/>
            <p:cNvSpPr/>
            <p:nvPr/>
          </p:nvSpPr>
          <p:spPr>
            <a:xfrm>
              <a:off x="2428875" y="319087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7A8792"/>
              </a:solidFill>
              <a:tailEnd type="triangle" w="lg" len="lg"/>
            </a:ln>
          </p:spPr>
        </p:sp>
        <p:sp>
          <p:nvSpPr>
            <p:cNvPr id="44" name="Freeform 44"/>
            <p:cNvSpPr/>
            <p:nvPr/>
          </p:nvSpPr>
          <p:spPr>
            <a:xfrm>
              <a:off x="4714875" y="319087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7A8792"/>
              </a:solidFill>
              <a:tailEnd type="triangle" w="lg" len="lg"/>
            </a:ln>
          </p:spPr>
        </p:sp>
        <p:sp>
          <p:nvSpPr>
            <p:cNvPr id="45" name="Freeform 45"/>
            <p:cNvSpPr/>
            <p:nvPr/>
          </p:nvSpPr>
          <p:spPr>
            <a:xfrm>
              <a:off x="7000875" y="319087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7A8792"/>
              </a:solidFill>
              <a:tailEnd type="triangle" w="lg" len="lg"/>
            </a:ln>
          </p:spPr>
        </p:sp>
        <p:sp>
          <p:nvSpPr>
            <p:cNvPr id="46" name="Freeform 46"/>
            <p:cNvSpPr/>
            <p:nvPr/>
          </p:nvSpPr>
          <p:spPr>
            <a:xfrm>
              <a:off x="9286875" y="319087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7A8792"/>
              </a:solidFill>
              <a:tailEnd type="triangle" w="lg" len="lg"/>
            </a:ln>
          </p:spPr>
        </p:sp>
      </p:grpSp>
      <p:sp>
        <p:nvSpPr>
          <p:cNvPr id="48" name="TextBox 48"/>
          <p:cNvSpPr txBox="1"/>
          <p:nvPr/>
        </p:nvSpPr>
        <p:spPr>
          <a:xfrm>
            <a:off x="5375148" y="4610100"/>
            <a:ext cx="1563776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箭头：项目逻辑假定</a:t>
            </a:r>
          </a:p>
        </p:txBody>
      </p:sp>
      <p:sp>
        <p:nvSpPr>
          <p:cNvPr id="49" name="note31"/>
          <p:cNvSpPr/>
          <p:nvPr/>
        </p:nvSpPr>
        <p:spPr>
          <a:xfrm>
            <a:off x="952500" y="5572125"/>
            <a:ext cx="10287000" cy="619125"/>
          </a:xfrm>
          <a:prstGeom prst="roundRect">
            <a:avLst>
              <a:gd name="adj" fmla="val 15385"/>
            </a:avLst>
          </a:prstGeom>
          <a:solidFill>
            <a:srgbClr val="F3F6F8"/>
          </a:solidFill>
          <a:ln w="14288">
            <a:solidFill>
              <a:srgbClr val="808080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1231392" y="5702300"/>
            <a:ext cx="78284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结果链用于组织项目逻辑，不等同于实证因果识别；结果与影响边界需结合项目定义和时间范围。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DIAGRAM_VIRTUALLY_FRAME" val="{&quot;height&quot;:245.01228346456696,&quot;left&quot;:287.72984251968506,&quot;top&quot;:187.91346456692912,&quot;width&quot;:376.5191338582677}"/>
</p:tagLst>
</file>

<file path=ppt/tags/tag4.xml><?xml version="1.0" encoding="utf-8"?>
<p:tagLst xmlns:p="http://schemas.openxmlformats.org/presentationml/2006/main">
  <p:tag name="KSO_WM_DIAGRAM_VIRTUALLY_FRAME" val="{&quot;height&quot;:245.01228346456696,&quot;left&quot;:287.72984251968506,&quot;top&quot;:187.91346456692912,&quot;width&quot;:376.5191338582677}"/>
</p:tagLst>
</file>

<file path=ppt/tags/tag5.xml><?xml version="1.0" encoding="utf-8"?>
<p:tagLst xmlns:p="http://schemas.openxmlformats.org/presentationml/2006/main">
  <p:tag name="KSO_WM_DIAGRAM_VIRTUALLY_FRAME" val="{&quot;height&quot;:245.01228346456696,&quot;left&quot;:287.72984251968506,&quot;top&quot;:187.91346456692912,&quot;width&quot;:376.5191338582677}"/>
</p:tagLst>
</file>

<file path=ppt/tags/tag6.xml><?xml version="1.0" encoding="utf-8"?>
<p:tagLst xmlns:p="http://schemas.openxmlformats.org/presentationml/2006/main">
  <p:tag name="KSO_WM_DIAGRAM_VIRTUALLY_FRAME" val="{&quot;height&quot;:245.01228346456696,&quot;left&quot;:287.72984251968506,&quot;top&quot;:187.91346456692912,&quot;width&quot;:376.5191338582677}"/>
</p:tagLst>
</file>

<file path=ppt/tags/tag7.xml><?xml version="1.0" encoding="utf-8"?>
<p:tagLst xmlns:p="http://schemas.openxmlformats.org/presentationml/2006/main">
  <p:tag name="KSO_WM_DIAGRAM_VIRTUALLY_FRAME" val="{&quot;height&quot;:245.01228346456696,&quot;left&quot;:287.72984251968506,&quot;top&quot;:187.91346456692912,&quot;width&quot;:376.5191338582677}"/>
</p:tagLst>
</file>

<file path=ppt/tags/tag8.xml><?xml version="1.0" encoding="utf-8"?>
<p:tagLst xmlns:p="http://schemas.openxmlformats.org/presentationml/2006/main">
  <p:tag name="KSO_WM_DIAGRAM_VIRTUALLY_FRAME" val="{&quot;height&quot;:245.01228346456696,&quot;left&quot;:287.72984251968506,&quot;top&quot;:187.91346456692912,&quot;width&quot;:376.5191338582677}"/>
</p:tagLst>
</file>

<file path=ppt/tags/tag9.xml><?xml version="1.0" encoding="utf-8"?>
<p:tagLst xmlns:p="http://schemas.openxmlformats.org/presentationml/2006/main">
  <p:tag name="KSO_WM_DIAGRAM_VIRTUALLY_FRAME" val="{&quot;height&quot;:245.01228346456696,&quot;left&quot;:287.72984251968506,&quot;top&quot;:187.91346456692912,&quot;width&quot;:376.5191338582677}"/>
</p:tagLst>
</file>

<file path=ppt/tags/tag10.xml><?xml version="1.0" encoding="utf-8"?>
<p:tagLst xmlns:p="http://schemas.openxmlformats.org/presentationml/2006/main">
  <p:tag name="KSO_WM_DIAGRAM_VIRTUALLY_FRAME" val="{&quot;height&quot;:245.01228346456696,&quot;left&quot;:287.72984251968506,&quot;top&quot;:187.91346456692912,&quot;width&quot;:376.5191338582677}"/>
</p:tagLst>
</file>

<file path=ppt/tags/tag11.xml><?xml version="1.0" encoding="utf-8"?>
<p:tagLst xmlns:p="http://schemas.openxmlformats.org/presentationml/2006/main">
  <p:tag name="KSO_WM_DIAGRAM_VIRTUALLY_FRAME" val="{&quot;height&quot;:245.01228346456696,&quot;left&quot;:287.72984251968506,&quot;top&quot;:187.91346456692912,&quot;width&quot;:376.5191338582677}"/>
</p:tagLst>
</file>

<file path=ppt/tags/tag12.xml><?xml version="1.0" encoding="utf-8"?>
<p:tagLst xmlns:p="http://schemas.openxmlformats.org/presentationml/2006/main">
  <p:tag name="KSO_WM_DIAGRAM_VIRTUALLY_FRAME" val="{&quot;height&quot;:245.01228346456696,&quot;left&quot;:287.72984251968506,&quot;top&quot;:187.91346456692912,&quot;width&quot;:376.5191338582677}"/>
</p:tagLst>
</file>

<file path=ppt/tags/tag13.xml><?xml version="1.0" encoding="utf-8"?>
<p:tagLst xmlns:p="http://schemas.openxmlformats.org/presentationml/2006/main">
  <p:tag name="KSO_WM_DIAGRAM_VIRTUALLY_FRAME" val="{&quot;height&quot;:245.01228346456696,&quot;left&quot;:287.72984251968506,&quot;top&quot;:187.91346456692912,&quot;width&quot;:376.5191338582677}"/>
</p:tagLst>
</file>

<file path=ppt/tags/tag14.xml><?xml version="1.0" encoding="utf-8"?>
<p:tagLst xmlns:p="http://schemas.openxmlformats.org/presentationml/2006/main">
  <p:tag name="KSO_WM_DIAGRAM_VIRTUALLY_FRAME" val="{&quot;height&quot;:245.01228346456696,&quot;left&quot;:287.72984251968506,&quot;top&quot;:187.91346456692912,&quot;width&quot;:376.5191338582677}"/>
</p:tagLst>
</file>

<file path=ppt/tags/tag15.xml><?xml version="1.0" encoding="utf-8"?>
<p:tagLst xmlns:p="http://schemas.openxmlformats.org/presentationml/2006/main">
  <p:tag name="KSO_WM_DIAGRAM_VIRTUALLY_FRAME" val="{&quot;height&quot;:245.01228346456696,&quot;left&quot;:287.72984251968506,&quot;top&quot;:187.91346456692912,&quot;width&quot;:376.5191338582677}"/>
</p:tagLst>
</file>

<file path=ppt/tags/tag16.xml><?xml version="1.0" encoding="utf-8"?>
<p:tagLst xmlns:p="http://schemas.openxmlformats.org/presentationml/2006/main">
  <p:tag name="KSO_WM_DIAGRAM_VIRTUALLY_FRAME" val="{&quot;height&quot;:245.01228346456696,&quot;left&quot;:287.72984251968506,&quot;top&quot;:187.91346456692912,&quot;width&quot;:376.5191338582677}"/>
</p:tagLst>
</file>

<file path=ppt/tags/tag17.xml><?xml version="1.0" encoding="utf-8"?>
<p:tagLst xmlns:p="http://schemas.openxmlformats.org/presentationml/2006/main">
  <p:tag name="KSO_WM_DIAGRAM_VIRTUALLY_FRAME" val="{&quot;height&quot;:245.01228346456696,&quot;left&quot;:287.72984251968506,&quot;top&quot;:187.91346456692912,&quot;width&quot;:376.5191338582677}"/>
</p:tagLst>
</file>

<file path=ppt/tags/tag18.xml><?xml version="1.0" encoding="utf-8"?>
<p:tagLst xmlns:p="http://schemas.openxmlformats.org/presentationml/2006/main">
  <p:tag name="KSO_WM_DIAGRAM_VIRTUALLY_FRAME" val="{&quot;height&quot;:245.01228346456696,&quot;left&quot;:287.72984251968506,&quot;top&quot;:187.91346456692912,&quot;width&quot;:376.5191338582677}"/>
</p:tagLst>
</file>

<file path=ppt/tags/tag19.xml><?xml version="1.0" encoding="utf-8"?>
<p:tagLst xmlns:p="http://schemas.openxmlformats.org/presentationml/2006/main">
  <p:tag name="KSO_WM_DIAGRAM_VIRTUALLY_FRAME" val="{&quot;height&quot;:245.01228346456696,&quot;left&quot;:287.72984251968506,&quot;top&quot;:187.91346456692912,&quot;width&quot;:376.5191338582677}"/>
</p:tagLst>
</file>

<file path=ppt/tags/tag20.xml><?xml version="1.0" encoding="utf-8"?>
<p:tagLst xmlns:p="http://schemas.openxmlformats.org/presentationml/2006/main">
  <p:tag name="KSO_WM_DIAGRAM_VIRTUALLY_FRAME" val="{&quot;height&quot;:245.01228346456696,&quot;left&quot;:287.72984251968506,&quot;top&quot;:187.91346456692912,&quot;width&quot;:376.5191338582677}"/>
</p:tagLst>
</file>

<file path=ppt/tags/tag21.xml><?xml version="1.0" encoding="utf-8"?>
<p:tagLst xmlns:p="http://schemas.openxmlformats.org/presentationml/2006/main">
  <p:tag name="KSO_WM_DIAGRAM_VIRTUALLY_FRAME" val="{&quot;height&quot;:245.01228346456696,&quot;left&quot;:287.72984251968506,&quot;top&quot;:187.91346456692912,&quot;width&quot;:376.5191338582677}"/>
</p:tagLst>
</file>

<file path=ppt/tags/tag22.xml><?xml version="1.0" encoding="utf-8"?>
<p:tagLst xmlns:p="http://schemas.openxmlformats.org/presentationml/2006/main">
  <p:tag name="KSO_WM_DIAGRAM_VIRTUALLY_FRAME" val="{&quot;height&quot;:245.01228346456696,&quot;left&quot;:287.72984251968506,&quot;top&quot;:187.91346456692912,&quot;width&quot;:376.5191338582677}"/>
</p:tagLst>
</file>

<file path=ppt/tags/tag23.xml><?xml version="1.0" encoding="utf-8"?>
<p:tagLst xmlns:p="http://schemas.openxmlformats.org/presentationml/2006/main">
  <p:tag name="KSO_WM_DIAGRAM_VIRTUALLY_FRAME" val="{&quot;height&quot;:245.01228346456696,&quot;left&quot;:287.72984251968506,&quot;top&quot;:187.91346456692912,&quot;width&quot;:376.5191338582677}"/>
</p:tagLst>
</file>

<file path=ppt/tags/tag24.xml><?xml version="1.0" encoding="utf-8"?>
<p:tagLst xmlns:p="http://schemas.openxmlformats.org/presentationml/2006/main">
  <p:tag name="KSO_WM_DIAGRAM_VIRTUALLY_FRAME" val="{&quot;height&quot;:245.01228346456696,&quot;left&quot;:287.72984251968506,&quot;top&quot;:187.91346456692912,&quot;width&quot;:376.5191338582677}"/>
</p:tagLst>
</file>

<file path=ppt/tags/tag25.xml><?xml version="1.0" encoding="utf-8"?>
<p:tagLst xmlns:p="http://schemas.openxmlformats.org/presentationml/2006/main">
  <p:tag name="KSO_WM_DIAGRAM_VIRTUALLY_FRAME" val="{&quot;height&quot;:245.01228346456696,&quot;left&quot;:287.72984251968506,&quot;top&quot;:187.91346456692912,&quot;width&quot;:376.5191338582677}"/>
</p:tagLst>
</file>

<file path=ppt/tags/tag26.xml><?xml version="1.0" encoding="utf-8"?>
<p:tagLst xmlns:p="http://schemas.openxmlformats.org/presentationml/2006/main">
  <p:tag name="KSO_WM_DIAGRAM_VIRTUALLY_FRAME" val="{&quot;height&quot;:245.01228346456696,&quot;left&quot;:287.72984251968506,&quot;top&quot;:187.91346456692912,&quot;width&quot;:376.5191338582677}"/>
</p:tagLst>
</file>

<file path=ppt/tags/tag27.xml><?xml version="1.0" encoding="utf-8"?>
<p:tagLst xmlns:p="http://schemas.openxmlformats.org/presentationml/2006/main">
  <p:tag name="KSO_WM_DIAGRAM_VIRTUALLY_FRAME" val="{&quot;height&quot;:245.01228346456696,&quot;left&quot;:287.72984251968506,&quot;top&quot;:187.91346456692912,&quot;width&quot;:376.5191338582677}"/>
</p:tagLst>
</file>

<file path=ppt/tags/tag28.xml><?xml version="1.0" encoding="utf-8"?>
<p:tagLst xmlns:p="http://schemas.openxmlformats.org/presentationml/2006/main">
  <p:tag name="KSO_WM_DIAGRAM_VIRTUALLY_FRAME" val="{&quot;height&quot;:245.01228346456696,&quot;left&quot;:287.72984251968506,&quot;top&quot;:187.91346456692912,&quot;width&quot;:376.5191338582677}"/>
</p:tagLst>
</file>

<file path=ppt/tags/tag29.xml><?xml version="1.0" encoding="utf-8"?>
<p:tagLst xmlns:p="http://schemas.openxmlformats.org/presentationml/2006/main">
  <p:tag name="KSO_WM_DIAGRAM_VIRTUALLY_FRAME" val="{&quot;height&quot;:245.01228346456696,&quot;left&quot;:287.72984251968506,&quot;top&quot;:187.91346456692912,&quot;width&quot;:376.5191338582677}"/>
</p:tagLst>
</file>

<file path=ppt/tags/tag30.xml><?xml version="1.0" encoding="utf-8"?>
<p:tagLst xmlns:p="http://schemas.openxmlformats.org/presentationml/2006/main">
  <p:tag name="KSO_WM_DIAGRAM_VIRTUALLY_FRAME" val="{&quot;height&quot;:245.01228346456696,&quot;left&quot;:287.72984251968506,&quot;top&quot;:187.91346456692912,&quot;width&quot;:376.5191338582677}"/>
</p:tagLst>
</file>

<file path=ppt/tags/tag33.xml><?xml version="1.0" encoding="utf-8"?>
<p:tagLst xmlns:p="http://schemas.openxmlformats.org/presentationml/2006/main">
  <p:tag name="COMMONDATA" val="eyJoZGlkIjoiNDk2Y2NjMTA2OGY2YzgxNDNlNTNhZjEzMjRhOTZiNTEi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</Words>
  <Application>WPS 演示</Application>
  <PresentationFormat>宽屏</PresentationFormat>
  <Paragraphs>70</Paragraphs>
  <Slides>15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宋体</vt:lpstr>
      <vt:lpstr>Wingdings</vt:lpstr>
      <vt:lpstr>Times New Roman</vt:lpstr>
      <vt:lpstr>微软雅黑 Light</vt:lpstr>
      <vt:lpstr>微软雅黑</vt:lpstr>
      <vt:lpstr>Wingdings</vt:lpstr>
      <vt:lpstr>Calibri Light</vt:lpstr>
      <vt:lpstr>黑体</vt:lpstr>
      <vt:lpstr>Impact</vt:lpstr>
      <vt:lpstr>等线</vt:lpstr>
      <vt:lpstr>Arial Unicode MS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孙 禾奇</dc:creator>
  <cp:lastModifiedBy>WPS_1733315530</cp:lastModifiedBy>
  <cp:revision>19</cp:revision>
  <dcterms:created xsi:type="dcterms:W3CDTF">2023-03-14T02:49:00Z</dcterms:created>
  <dcterms:modified xsi:type="dcterms:W3CDTF">2026-10-13T07:00:42Z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D4F4F8501CE84D68A785D3404D3C6F4D_13</vt:lpwstr>
  </property>
  <property fmtid="{D5CDD505-2E9C-101B-9397-08002B2CF9AE}" pid="3" name="KSOProductBuildVer">
    <vt:lpwstr>2052-12.1.0.28505</vt:lpwstr>
  </property>
</Properties>
</file>